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embedTrueTypeFonts="1" autoCompressPictures="0">
  <p:sldMasterIdLst>
    <p:sldMasterId id="2147483663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594" y="114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presProps" Target="presProps.xml"  /><Relationship Id="rId15" Type="http://schemas.openxmlformats.org/officeDocument/2006/relationships/viewProps" Target="viewProps.xml"  /><Relationship Id="rId16" Type="http://schemas.openxmlformats.org/officeDocument/2006/relationships/theme" Target="theme/theme1.xml"  /><Relationship Id="rId17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0" y="411480"/>
            <a:ext cx="3108960" cy="429768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3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새 키우기</a:t>
            </a:r>
            <a:endParaRPr lang="en-US" sz="56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FBFA6"/>
                </a:solidFill>
                <a:latin typeface="CookieRunOTF Bold" panose="020B0600000101010101" pitchFamily="34" charset="-127"/>
                <a:ea typeface="CookieRunOTF Bold" panose="020B0600000101010101" pitchFamily="34" charset="-127"/>
                <a:cs typeface="Calibri" pitchFamily="34" charset="-120"/>
              </a:rPr>
              <a:t>BirdRaise  —  C++ 콘솔 육성 시뮬레이션</a:t>
            </a:r>
            <a:endParaRPr lang="en-US" sz="1500" dirty="0">
              <a:latin typeface="CookieRunOTF Bold" panose="020B0600000101010101" pitchFamily="34" charset="-127"/>
              <a:ea typeface="CookieRunOTF Bold" panose="020B0600000101010101" pitchFamily="34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팀명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RLCC
</a:t>
            </a: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팀원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유이레  ·  이준규  ·  최승민  ·  최연채</a:t>
            </a:r>
            <a:endParaRPr lang="en-US" sz="14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C++17  |  Visual Studio 2022  |  Windows Console  |  UTF-8  |  GitHub  |  YouTube Demo</a:t>
            </a:r>
            <a:endParaRPr lang="en-US" sz="10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AAA5C9-5464-2FFA-DF32-2A9248DD5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031" y="779107"/>
            <a:ext cx="3002338" cy="335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발표 목차</a:t>
            </a:r>
            <a:endParaRPr lang="en-US" sz="3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01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프로젝트 개요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6984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주제 배경 · 개발환경 · 벤치마킹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6984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클래스 아키텍처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5개 클래스 구조 · 만족도 공식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148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A6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solidFill>
            <a:srgbClr val="287A6A"/>
          </a:solidFill>
          <a:ln w="12700">
            <a:solidFill>
              <a:srgbClr val="287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03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6984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게임 흐름 &amp; 핵심 기능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6984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성장 단계 · 아이템 · 반항 시스템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0060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04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5896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시스템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5896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11가지 분기 조건 전체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0060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05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5896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문제 해결 &amp; 변경사항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5896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중간→최종 달라진 점 중심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80060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solidFill>
            <a:srgbClr val="18483F"/>
          </a:solidFill>
          <a:ln w="12700">
            <a:solidFill>
              <a:srgbClr val="1848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5896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성과 &amp; 향후 계획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5896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구현 완료 · 개선 방향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DAB795F0-ED40-960C-BB01-F08A64B72195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4153CF6E-C7C9-BFD3-1542-2B4BC009D7B7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개요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720378"/>
            <a:ext cx="2651760" cy="56692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🎮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장르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&amp; 주제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0624" y="2343476"/>
            <a:ext cx="2542032" cy="175947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텍스트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기반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콘솔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육성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시뮬레이션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길에서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알을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줍는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스토리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시작하여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8주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동안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새를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알 →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성체로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성장</a:t>
            </a:r>
            <a:r>
              <a:rPr lang="ko-KR" alt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시키는게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목표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플레이어의 선택에 따른 멀티 엔딩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18688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18688" y="1720378"/>
            <a:ext cx="2651760" cy="56692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🛠️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개발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환경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8416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Visual Studio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C++17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표준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Windows Console                ( CMD/PowerShell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인코딩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                        ( /utf-8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옵션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적용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71616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720378"/>
            <a:ext cx="265176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📌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벤치마킹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81344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다마고치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		          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휴대용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디지털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반려동물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육성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인생게임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          	         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일생을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달리기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형식으로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DA05CAEA-12F5-3D50-8F78-EAD45B12B4DD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12CAC18-7950-3175-BA25-8B15E8B51F60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300">
                <a:latin typeface="SB 어그로 Bold"/>
                <a:ea typeface="SB 어그로 Bold"/>
              </a:rPr>
              <a:t>클래스 </a:t>
            </a:r>
            <a:r>
              <a:rPr lang="ko-KR" altLang="en-US" sz="3300">
                <a:latin typeface="SB 어그로 Bold"/>
                <a:ea typeface="SB 어그로 Bold"/>
              </a:rPr>
              <a:t>다이어그램</a:t>
            </a:r>
            <a:endParaRPr lang="en-US" sz="3300">
              <a:latin typeface="SB 어그로 Bold"/>
              <a:ea typeface="SB 어그로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3fbfa6"/>
                </a:solidFill>
                <a:latin typeface="CookieRunOTF Regular"/>
                <a:ea typeface="CookieRunOTF Regular"/>
                <a:cs typeface="Consolas"/>
              </a:rPr>
              <a:t>GameManager</a:t>
            </a:r>
            <a:endParaRPr lang="en-US" sz="1500">
              <a:latin typeface="CookieRunOTF Regular"/>
              <a:ea typeface="CookieRunOTF Regular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0382" y="2135776"/>
            <a:ext cx="0" cy="287383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3399971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83679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838988" y="2135775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okieRunOTF Regular"/>
                <a:ea typeface="CookieRunOTF Regular"/>
                <a:cs typeface="Consolas"/>
              </a:rPr>
              <a:t>GameEntity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4747" y="2798064"/>
            <a:ext cx="1776001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새 객체</a:t>
            </a:r>
            <a:endParaRPr lang="en-US" sz="1100">
              <a:solidFill>
                <a:srgbClr val="1a2b3c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수치·성장·생존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43646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543646" y="2423160"/>
            <a:ext cx="1779268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43646" y="2423160"/>
            <a:ext cx="1772883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okieRunOTF Regular"/>
                <a:ea typeface="CookieRunOTF Regular"/>
                <a:cs typeface="Consolas"/>
              </a:rPr>
              <a:t>GameEngine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0031" y="2798064"/>
            <a:ext cx="1772883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시간 흐름</a:t>
            </a:r>
            <a:endParaRPr lang="en-US" sz="1100">
              <a:solidFill>
                <a:srgbClr val="1a2b3c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주차·행동·성장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21087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okieRunOTF Regular"/>
                <a:ea typeface="CookieRunOTF Regular"/>
                <a:cs typeface="Consolas"/>
              </a:rPr>
              <a:t>ActionManager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26421" y="2798064"/>
            <a:ext cx="1773934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행동 정의</a:t>
            </a:r>
            <a:endParaRPr lang="en-US" sz="1100">
              <a:solidFill>
                <a:srgbClr val="1a2b3c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인벤토리·아이템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949985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949985" y="2423160"/>
            <a:ext cx="1779268" cy="34747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949985" y="2423160"/>
            <a:ext cx="1782535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okieRunOTF Regular"/>
                <a:ea typeface="CookieRunOTF Regular"/>
                <a:cs typeface="Consolas"/>
              </a:rPr>
              <a:t>UIRenderer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49985" y="2798064"/>
            <a:ext cx="1779268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화면 출력</a:t>
            </a:r>
            <a:endParaRPr lang="en-US" sz="1100">
              <a:solidFill>
                <a:srgbClr val="1a2b3c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1a2b3c"/>
                </a:solidFill>
                <a:latin typeface="CookieRunOTF Regular"/>
                <a:ea typeface="CookieRunOTF Regular"/>
                <a:cs typeface="Calibri"/>
              </a:rPr>
              <a:t>아트·게이지·엔딩</a:t>
            </a:r>
            <a:endParaRPr lang="en-US" sz="1100">
              <a:latin typeface="CookieRunOTF Regular"/>
              <a:ea typeface="CookieRunOTF Regular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0040" y="3657600"/>
            <a:ext cx="8503920" cy="11887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11480" y="3832861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3fbfa6"/>
                </a:solidFill>
                <a:latin typeface="여기어때 잘난체 고딕 TTF"/>
                <a:ea typeface="여기어때 잘난체 고딕 TTF"/>
                <a:cs typeface="Consolas"/>
              </a:rPr>
              <a:t>만족도  =  ( 포만감 + 청결도 + 훈련도 + (100 </a:t>
            </a:r>
            <a:r>
              <a:rPr lang="en-US" altLang="ko-KR" sz="1600" b="1">
                <a:solidFill>
                  <a:srgbClr val="3fbfa6"/>
                </a:solidFill>
                <a:latin typeface="여기어때 잘난체 고딕 TTF"/>
                <a:ea typeface="여기어때 잘난체 고딕 TTF"/>
                <a:cs typeface="Consolas"/>
              </a:rPr>
              <a:t>-</a:t>
            </a:r>
            <a:r>
              <a:rPr lang="en-US" sz="1600" b="1">
                <a:solidFill>
                  <a:srgbClr val="3fbfa6"/>
                </a:solidFill>
                <a:latin typeface="여기어때 잘난체 고딕 TTF"/>
                <a:ea typeface="여기어때 잘난체 고딕 TTF"/>
                <a:cs typeface="Consolas"/>
              </a:rPr>
              <a:t> 스트레스) )  ÷  4</a:t>
            </a:r>
            <a:endParaRPr lang="en-US" sz="1600" b="1">
              <a:solidFill>
                <a:srgbClr val="3fbfa6"/>
              </a:solidFill>
              <a:latin typeface="여기어때 잘난체 고딕 TTF"/>
              <a:ea typeface="여기어때 잘난체 고딕 TTF"/>
              <a:cs typeface="Consola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11480" y="422452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엔딩 분기의 핵심 지표  |  매 턴 실시간 갱신  |  0 ~ 100 범위 클램프</a:t>
            </a:r>
            <a:endParaRPr lang="en-US" sz="1200">
              <a:latin typeface="여기어때 잘난체 고딕 TTF"/>
              <a:ea typeface="여기어때 잘난체 고딕 TTF"/>
            </a:endParaRPr>
          </a:p>
        </p:txBody>
      </p:sp>
      <p:sp>
        <p:nvSpPr>
          <p:cNvPr id="29" name="Shape 4"/>
          <p:cNvSpPr/>
          <p:nvPr/>
        </p:nvSpPr>
        <p:spPr>
          <a:xfrm flipV="1">
            <a:off x="1425810" y="2135774"/>
            <a:ext cx="6413178" cy="2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6" name="다이아몬드 35"/>
          <p:cNvSpPr/>
          <p:nvPr/>
        </p:nvSpPr>
        <p:spPr>
          <a:xfrm>
            <a:off x="4348188" y="1828800"/>
            <a:ext cx="92745" cy="91435"/>
          </a:xfrm>
          <a:prstGeom prst="diamond">
            <a:avLst/>
          </a:prstGeom>
          <a:solidFill>
            <a:srgbClr val="3fbf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7" name="Shape 6"/>
          <p:cNvSpPr/>
          <p:nvPr/>
        </p:nvSpPr>
        <p:spPr>
          <a:xfrm>
            <a:off x="4392276" y="1839248"/>
            <a:ext cx="0" cy="296528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cxnSp>
        <p:nvCxnSpPr>
          <p:cNvPr id="39" name="직선 화살표 연결선 38"/>
          <p:cNvCxnSpPr>
            <a:stCxn id="14" idx="1"/>
            <a:endCxn id="10" idx="3"/>
          </p:cNvCxnSpPr>
          <p:nvPr/>
        </p:nvCxnSpPr>
        <p:spPr>
          <a:xfrm flipH="1">
            <a:off x="2190748" y="2948940"/>
            <a:ext cx="352898" cy="0"/>
          </a:xfrm>
          <a:prstGeom prst="straightConnector1">
            <a:avLst/>
          </a:prstGeom>
          <a:ln>
            <a:solidFill>
              <a:srgbClr val="3fbfa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14" idx="3"/>
            <a:endCxn id="18" idx="1"/>
          </p:cNvCxnSpPr>
          <p:nvPr/>
        </p:nvCxnSpPr>
        <p:spPr>
          <a:xfrm>
            <a:off x="4322914" y="2948940"/>
            <a:ext cx="498173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4" name="직선 화살표 연결선 43"/>
          <p:cNvCxnSpPr>
            <a:stCxn id="18" idx="3"/>
            <a:endCxn id="22" idx="1"/>
          </p:cNvCxnSpPr>
          <p:nvPr/>
        </p:nvCxnSpPr>
        <p:spPr>
          <a:xfrm>
            <a:off x="6600355" y="2948940"/>
            <a:ext cx="349630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1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2" name="Shape 0"/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300">
                <a:solidFill>
                  <a:srgbClr val="1a2b3c"/>
                </a:solidFill>
                <a:latin typeface="SB 어그로 Bold"/>
                <a:ea typeface="SB 어그로 Bold"/>
                <a:cs typeface="Arial Black"/>
              </a:rPr>
              <a:t>게임 흐름  -  성장 단계</a:t>
            </a:r>
            <a:endParaRPr lang="en-US" sz="3300">
              <a:latin typeface="SB 어그로 Bold"/>
              <a:ea typeface="SB 어그로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1 주</a:t>
            </a:r>
            <a:endParaRPr lang="en-US" sz="1100">
              <a:latin typeface="여기어때 잘난체 고딕 TTF"/>
              <a:ea typeface="여기어때 잘난체 고딕 TTF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3484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43484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🥚알</a:t>
            </a:r>
            <a:endParaRPr lang="en-US" sz="1300">
              <a:latin typeface="여기어때 잘난체 고딕 TTF"/>
              <a:ea typeface="여기어때 잘난체 고딕 TTF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6636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anchor="t"/>
          <a:lstStyle/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품어주기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쓰다듬기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방치하기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0" indent="0">
              <a:buNone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( 사망 판정 없음 )</a:t>
            </a:r>
            <a:endParaRPr lang="en-US" sz="1150">
              <a:latin typeface="여기어때 잘난체 고딕 TTF"/>
              <a:ea typeface="여기어때 잘난체 고딕 TTF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2 ~ 3 주</a:t>
            </a:r>
            <a:endParaRPr lang="en-US" sz="1100">
              <a:latin typeface="여기어때 잘난체 고딕 TTF"/>
              <a:ea typeface="여기어때 잘난체 고딕 TTF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107692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107692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2471a3"/>
                </a:solidFill>
                <a:latin typeface="여기어때 잘난체 고딕 TTF"/>
                <a:ea typeface="여기어때 잘난체 고딕 TTF"/>
                <a:cs typeface="Calibri"/>
              </a:rPr>
              <a:t>🐣유아기</a:t>
            </a:r>
            <a:endParaRPr lang="en-US" sz="1300">
              <a:latin typeface="여기어때 잘난체 고딕 TTF"/>
              <a:ea typeface="여기어때 잘난체 고딕 TTF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80844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anchor="t"/>
          <a:lstStyle/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이유식 먹이기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청소하기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재우기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놀아주기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lvl="0"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    ( 산책 제외 )</a:t>
            </a:r>
            <a:endParaRPr lang="en-US" sz="1150">
              <a:latin typeface="여기어때 잘난체 고딕 TTF"/>
              <a:ea typeface="여기어때 잘난체 고딕 TTF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4 ~ 5 주</a:t>
            </a:r>
            <a:endParaRPr lang="en-US" sz="1100">
              <a:latin typeface="여기어때 잘난체 고딕 TTF"/>
              <a:ea typeface="여기어때 잘난체 고딕 TTF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771900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771900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fa6"/>
                </a:solidFill>
                <a:latin typeface="여기어때 잘난체 고딕 TTF"/>
                <a:ea typeface="여기어때 잘난체 고딕 TTF"/>
                <a:cs typeface="Calibri"/>
              </a:rPr>
              <a:t>🐦유년기</a:t>
            </a:r>
            <a:endParaRPr lang="en-US" sz="1300">
              <a:latin typeface="여기어때 잘난체 고딕 TTF"/>
              <a:ea typeface="여기어때 잘난체 고딕 TTF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845052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anchor="t"/>
          <a:lstStyle/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먹이 주기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청소하기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훈련 시키기</a:t>
            </a:r>
            <a:endParaRPr 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놀아주기</a:t>
            </a:r>
            <a:endParaRPr lang="en-US" sz="1150">
              <a:latin typeface="여기어때 잘난체 고딕 TTF"/>
              <a:ea typeface="여기어때 잘난체 고딕 TTF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6 ~ 7 주</a:t>
            </a:r>
            <a:endParaRPr lang="en-US" sz="1100">
              <a:latin typeface="여기어때 잘난체 고딕 TTF"/>
              <a:ea typeface="여기어때 잘난체 고딕 TTF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36108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36108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4a261"/>
                </a:solidFill>
                <a:latin typeface="여기어때 잘난체 고딕 TTF"/>
                <a:ea typeface="여기어때 잘난체 고딕 TTF"/>
                <a:cs typeface="Calibri"/>
              </a:rPr>
              <a:t>🦜청소년기</a:t>
            </a:r>
            <a:endParaRPr lang="en-US" sz="1300">
              <a:latin typeface="여기어때 잘난체 고딕 TTF"/>
              <a:ea typeface="여기어때 잘난체 고딕 TTF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509260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anchor="t"/>
          <a:lstStyle/>
          <a:p>
            <a:pPr marL="171450" indent="-171450">
              <a:buFont typeface="Arial"/>
              <a:buChar char="•"/>
              <a:defRPr/>
            </a:pPr>
            <a:r>
              <a:rPr lang="ko-KR" alt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모든 행동 가능</a:t>
            </a:r>
            <a:endParaRPr lang="ko-KR" alt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ko-KR" alt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훈련 선택지 추가</a:t>
            </a:r>
            <a:endParaRPr lang="ko-KR" alt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아이템 활용</a:t>
            </a:r>
            <a:r>
              <a:rPr lang="en-US" sz="1150">
                <a:latin typeface="여기어때 잘난체 고딕 TTF"/>
                <a:ea typeface="여기어때 잘난체 고딕 TTF"/>
              </a:rPr>
              <a:t> </a:t>
            </a: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가능</a:t>
            </a:r>
            <a:endParaRPr lang="en-US" sz="1150">
              <a:latin typeface="여기어때 잘난체 고딕 TTF"/>
              <a:ea typeface="여기어때 잘난체 고딕 TTF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noFill/>
          <a:ln w="12700">
            <a:solidFill>
              <a:srgbClr val="c0392b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solidFill>
            <a:srgbClr val="18483f"/>
          </a:solidFill>
          <a:ln>
            <a:solidFill>
              <a:srgbClr val="18483f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8 주</a:t>
            </a:r>
            <a:endParaRPr lang="en-US" sz="1100">
              <a:latin typeface="여기어때 잘난체 고딕 TTF"/>
              <a:ea typeface="여기어때 잘난체 고딕 TTF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100316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100316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c0392b"/>
                </a:solidFill>
                <a:latin typeface="여기어때 잘난체 고딕 TTF"/>
                <a:ea typeface="여기어때 잘난체 고딕 TTF"/>
                <a:cs typeface="Calibri"/>
              </a:rPr>
              <a:t>🦅성체</a:t>
            </a:r>
            <a:endParaRPr lang="en-US" sz="1300">
              <a:latin typeface="여기어때 잘난체 고딕 TTF"/>
              <a:ea typeface="여기어때 잘난체 고딕 TTF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73468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anchor="t"/>
          <a:lstStyle/>
          <a:p>
            <a:pPr marL="171450" indent="-171450">
              <a:buFont typeface="Arial"/>
              <a:buChar char="•"/>
              <a:defRPr/>
            </a:pPr>
            <a:r>
              <a:rPr 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모든 행동 </a:t>
            </a:r>
            <a:r>
              <a:rPr lang="ko-KR" altLang="en-US" sz="1150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가능</a:t>
            </a:r>
            <a:endParaRPr lang="ko-KR" altLang="en-US" sz="1150">
              <a:solidFill>
                <a:srgbClr val="1a2b3c"/>
              </a:solidFill>
              <a:latin typeface="여기어때 잘난체 고딕 TTF"/>
              <a:ea typeface="여기어때 잘난체 고딕 TTF"/>
              <a:cs typeface="Calibri"/>
            </a:endParaRPr>
          </a:p>
          <a:p>
            <a:pPr marL="171450" indent="-171450">
              <a:buFont typeface="Arial"/>
              <a:buChar char="•"/>
              <a:defRPr/>
            </a:pPr>
            <a:r>
              <a:rPr lang="ko-KR" altLang="en-US" sz="1150">
                <a:latin typeface="여기어때 잘난체 고딕 TTF"/>
                <a:ea typeface="여기어때 잘난체 고딕 TTF"/>
              </a:rPr>
              <a:t>엔딩 결정</a:t>
            </a:r>
            <a:endParaRPr lang="en-US" sz="1150">
              <a:latin typeface="여기어때 잘난체 고딕 TTF"/>
              <a:ea typeface="여기어때 잘난체 고딕 TTF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43484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62356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⏱  주차별 패시브 ( 매주 자동 적용 )</a:t>
            </a:r>
            <a:endParaRPr lang="en-US" sz="1200">
              <a:latin typeface="여기어때 잘난체 고딕 TTF"/>
              <a:ea typeface="여기어때 잘난체 고딕 TTF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2356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포만감 </a:t>
            </a:r>
            <a:r>
              <a:rPr lang="en-US" altLang="ko-KR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-</a:t>
            </a:r>
            <a:r>
              <a:rPr lang="en-US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10  /  청결도 </a:t>
            </a:r>
            <a:r>
              <a:rPr lang="en-US" altLang="ko-KR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-</a:t>
            </a:r>
            <a:r>
              <a:rPr lang="en-US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5  /  스트레스 +5</a:t>
            </a:r>
            <a:endParaRPr lang="en-US" sz="1200">
              <a:solidFill>
                <a:srgbClr val="607d8b"/>
              </a:solidFill>
              <a:latin typeface="여기어때 잘난체 고딕 TTF"/>
              <a:ea typeface="여기어때 잘난체 고딕 TTF"/>
              <a:cs typeface="Calibri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919472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a2b3c"/>
                </a:solidFill>
                <a:latin typeface="여기어때 잘난체 고딕 TTF"/>
                <a:ea typeface="여기어때 잘난체 고딕 TTF"/>
                <a:cs typeface="Calibri"/>
              </a:rPr>
              <a:t>🎯  행동 시스템</a:t>
            </a:r>
            <a:endParaRPr lang="en-US" sz="1200">
              <a:latin typeface="여기어때 잘난체 고딕 TTF"/>
              <a:ea typeface="여기어때 잘난체 고딕 TTF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19472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07d8b"/>
                </a:solidFill>
                <a:latin typeface="여기어때 잘난체 고딕 TTF"/>
                <a:ea typeface="여기어때 잘난체 고딕 TTF"/>
                <a:cs typeface="Calibri"/>
              </a:rPr>
              <a:t>주당 5회  →  메인 행동  →  서브 행동 (2단계 선택)</a:t>
            </a:r>
            <a:endParaRPr lang="en-US" sz="1200">
              <a:latin typeface="여기어때 잘난체 고딕 TTF"/>
              <a:ea typeface="여기어때 잘난체 고딕 TTF"/>
            </a:endParaRPr>
          </a:p>
        </p:txBody>
      </p:sp>
      <p:sp>
        <p:nvSpPr>
          <p:cNvPr id="37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" name="Shape 0"/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300">
                <a:solidFill>
                  <a:srgbClr val="1a2b3c"/>
                </a:solidFill>
                <a:latin typeface="SB 어그로 Bold"/>
                <a:ea typeface="SB 어그로 Bold"/>
                <a:cs typeface="Arial Black"/>
              </a:rPr>
              <a:t>핵심 기능 구현</a:t>
            </a:r>
            <a:endParaRPr lang="en-US" sz="3300">
              <a:latin typeface="SB 어그로 Bold"/>
              <a:ea typeface="SB 어그로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114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11480" y="1473708"/>
            <a:ext cx="3959352" cy="42976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114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🎒  아이템 &amp; 인벤토리</a:t>
            </a:r>
            <a:endParaRPr lang="en-US" sz="1400">
              <a:latin typeface="여기어때 잘난체 고딕 TTF"/>
              <a:ea typeface="여기어때 잘난체 고딕 TTF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97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anchor="t"/>
          <a:lstStyle/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훈련 행동 시 40% 확률 아이템 획득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견과류 / 해바라기씨 / 고급 모이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보유 아이템만 먹이 선택지에 표시</a:t>
            </a:r>
            <a:endParaRPr lang="en-US" sz="1400">
              <a:latin typeface="배달의민족 주아"/>
              <a:ea typeface="배달의민족 주아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548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473708"/>
            <a:ext cx="3959352" cy="429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7548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😤  반항 이벤트</a:t>
            </a:r>
            <a:endParaRPr lang="en-US" sz="1400">
              <a:latin typeface="여기어때 잘난체 고딕 TTF"/>
              <a:ea typeface="여기어때 잘난체 고딕 TTF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7731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anchor="t"/>
          <a:lstStyle/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스트레스 50 이상 시 20% 확률 발동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반항 시 스트레스 +10 페널티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유아기(2주차) 이상부터 적용</a:t>
            </a:r>
            <a:endParaRPr lang="en-US" sz="1400">
              <a:latin typeface="배달의민족 주아"/>
              <a:ea typeface="배달의민족 주아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11480" y="3393948"/>
            <a:ext cx="3959352" cy="42976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14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🩺  상태 체크 시스템</a:t>
            </a:r>
            <a:endParaRPr lang="en-US" sz="1400">
              <a:latin typeface="여기어때 잘난체 고딕 TTF"/>
              <a:ea typeface="여기어때 잘난체 고딕 TTF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297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anchor="t"/>
          <a:lstStyle/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포만감 0 → 아사 (즉시 사망)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청결도 0 → 병사 (즉시 사망)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스트레스 90+도주 엔딩 발동</a:t>
            </a:r>
            <a:endParaRPr lang="en-US" sz="1400">
              <a:latin typeface="배달의민족 주아"/>
              <a:ea typeface="배달의민족 주아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548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3393948"/>
            <a:ext cx="3959352" cy="42976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7548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🎨  ASCII 아트 UI</a:t>
            </a:r>
            <a:endParaRPr lang="en-US" sz="1400">
              <a:latin typeface="여기어때 잘난체 고딕 TTF"/>
              <a:ea typeface="여기어때 잘난체 고딕 TTF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731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anchor="t"/>
          <a:lstStyle/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성장 단계별 아트 자동 전환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행동별 전용 아트 출력</a:t>
            </a:r>
            <a:endParaRPr lang="en-US" sz="140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285750" indent="-285750" algn="l">
              <a:buSzPct val="100000"/>
              <a:buFont typeface="Arial"/>
              <a:buChar char="•"/>
              <a:defRPr/>
            </a:pPr>
            <a:r>
              <a:rPr lang="en-US" sz="140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SlowPrint로 스토리 연출 효과</a:t>
            </a:r>
            <a:endParaRPr lang="en-US" sz="1400">
              <a:latin typeface="배달의민족 주아"/>
              <a:ea typeface="배달의민족 주아"/>
            </a:endParaRPr>
          </a:p>
        </p:txBody>
      </p:sp>
      <p:sp>
        <p:nvSpPr>
          <p:cNvPr id="2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Shape 0"/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300">
                <a:solidFill>
                  <a:srgbClr val="1a2b3c"/>
                </a:solidFill>
                <a:latin typeface="SB 어그로 Bold"/>
                <a:ea typeface="SB 어그로 Bold"/>
                <a:cs typeface="Arial Black"/>
              </a:rPr>
              <a:t>엔딩 시스템  -  11가지 분기</a:t>
            </a:r>
            <a:endParaRPr lang="en-US" sz="3300">
              <a:latin typeface="SB 어그로 Bold"/>
              <a:ea typeface="SB 어그로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320040" y="1078992"/>
          <a:ext cx="8503920" cy="3895344"/>
        </p:xfrm>
        <a:graphic>
          <a:graphicData uri="http://schemas.openxmlformats.org/drawingml/2006/table">
            <a:tbl>
              <a:tblGrid>
                <a:gridCol w="914400"/>
                <a:gridCol w="3474720"/>
                <a:gridCol w="4114800"/>
              </a:tblGrid>
              <a:tr h="324612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400" b="0">
                          <a:solidFill>
                            <a:srgbClr val="ffffff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구분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ffffff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엔딩 이름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ffffff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발동 조건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  <a:solidFill>
                      <a:srgbClr val="1a2b3c"/>
                    </a:solidFill>
                  </a:tcPr>
                </a:tc>
              </a:tr>
              <a:tr h="324612">
                <a:tc rowSpan="4"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400" b="0">
                          <a:solidFill>
                            <a:srgbClr val="c0392b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배드</a:t>
                      </a:r>
                      <a:endParaRPr lang="en-US" sz="1400" b="0">
                        <a:solidFill>
                          <a:srgbClr val="c0392b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아사 엔딩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포만감 </a:t>
                      </a:r>
                      <a:r>
                        <a:rPr lang="en-US" altLang="ko-KR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=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0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병사 엔딩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청결도 </a:t>
                      </a:r>
                      <a:r>
                        <a:rPr lang="en-US" altLang="ko-KR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=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0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도주 엔딩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스트레스 ≥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90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아쉬운 이별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8주 클리어, 만족도 ≤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35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400" b="0">
                          <a:solidFill>
                            <a:srgbClr val="607d8b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노말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아쉬운 이별 (방생)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만족도 36~50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rowSpan="2"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400" b="0">
                          <a:solidFill>
                            <a:srgbClr val="27ae60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굿</a:t>
                      </a:r>
                      <a:endParaRPr lang="en-US" sz="1400" b="0">
                        <a:solidFill>
                          <a:srgbClr val="27ae60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예상치 못한 동거 / 방생 성공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만족도 51~75, 50%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확률로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랜덤 분기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앞으로도 잘 부탁해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만족도 ≥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76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rowSpan="4"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400" b="0">
                          <a:solidFill>
                            <a:srgbClr val="7d3c98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히든</a:t>
                      </a:r>
                      <a:endParaRPr lang="en-US" sz="1400" b="0">
                        <a:solidFill>
                          <a:srgbClr val="7d3c98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화석이 되어버린 알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1주차 행동 5번 모두 </a:t>
                      </a:r>
                      <a:r>
                        <a:rPr lang="en-US" altLang="ko-KR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‘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방치하기</a:t>
                      </a:r>
                      <a:r>
                        <a:rPr lang="en-US" altLang="ko-KR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’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선택</a:t>
                      </a:r>
                      <a:endParaRPr lang="ko-KR" alt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새이기를 포기한거야?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포만감 100 + 만족도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≥ 85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너 덕분에 내가 인생 폈다!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훈련도 100 + 만족도 ≥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85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  <a:tr h="324612">
                <a:tc vMerge="1">
                  <a:txBody>
                    <a:bodyPr/>
                    <a:p>
                      <a:pPr lvl="0">
                        <a:defRPr/>
                      </a:pPr>
                      <a:endParaRPr/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조류 잡지 모델이 되었다</a:t>
                      </a:r>
                      <a:endParaRPr lang="en-US" sz="1400" b="0"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청결도 100 + 만족도 ≥</a:t>
                      </a:r>
                      <a:r>
                        <a:rPr lang="ko-KR" alt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 </a:t>
                      </a:r>
                      <a:r>
                        <a:rPr lang="en-US" sz="1400" b="0">
                          <a:solidFill>
                            <a:srgbClr val="1a2b3c"/>
                          </a:solidFill>
                          <a:latin typeface="배달의민족 주아"/>
                          <a:ea typeface="배달의민족 주아"/>
                          <a:cs typeface="Calibri"/>
                        </a:rPr>
                        <a:t>85</a:t>
                      </a:r>
                      <a:endParaRPr lang="en-US" sz="1400" b="0">
                        <a:solidFill>
                          <a:srgbClr val="1a2b3c"/>
                        </a:solidFill>
                        <a:latin typeface="배달의민족 주아"/>
                        <a:ea typeface="배달의민족 주아"/>
                        <a:cs typeface="Calibri"/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0"/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300">
                <a:solidFill>
                  <a:srgbClr val="1a2b3c"/>
                </a:solidFill>
                <a:latin typeface="SB 어그로 Bold"/>
                <a:ea typeface="SB 어그로 Bold"/>
                <a:cs typeface="Arial Black"/>
              </a:rPr>
              <a:t>문제 해결 &amp; 중간 → 최종 변경사항</a:t>
            </a:r>
            <a:endParaRPr lang="en-US" sz="3300">
              <a:latin typeface="SB 어그로 Bold"/>
              <a:ea typeface="SB 어그로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451710" y="1091184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451710" y="1091184"/>
            <a:ext cx="2017776" cy="3291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51710" y="1091184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01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43150" y="1438656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한글 컴파일 오류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팀원별 Windows 코드페이지 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차이로</a:t>
            </a:r>
            <a:r>
              <a:rPr lang="ko-KR" alt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 </a:t>
            </a: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한글 문자열 컴파일 불가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74514" y="1088931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해결 방법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86707" y="1436403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/utf-8 옵션 적용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onsolas"/>
            </a:endParaRPr>
          </a:p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#include &lt;windows.h&gt; 추가</a:t>
            </a:r>
            <a:endParaRPr lang="en-US" sz="1050">
              <a:latin typeface="배달의민족 주아"/>
              <a:ea typeface="배달의민족 주아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451710" y="2078736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451710" y="2078736"/>
            <a:ext cx="2017776" cy="329184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51710" y="2078736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02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43150" y="2426208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런타임 한글 깨짐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터미널 출력 인코딩과</a:t>
            </a:r>
            <a:r>
              <a:rPr lang="en-US" sz="1050">
                <a:latin typeface="배달의민족 주아"/>
                <a:ea typeface="배달의민족 주아"/>
              </a:rPr>
              <a:t> 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소스 인코딩</a:t>
            </a:r>
            <a:r>
              <a:rPr lang="ko-KR" alt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 </a:t>
            </a: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불일치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674514" y="2076483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해결 방법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86707" y="2423955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system("chcp 65001") 호출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onsolas"/>
            </a:endParaRPr>
          </a:p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SetConsoleOutputCP(65001) 설정</a:t>
            </a:r>
            <a:endParaRPr lang="en-US" sz="1050">
              <a:latin typeface="배달의민족 주아"/>
              <a:ea typeface="배달의민족 주아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451710" y="3066288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451710" y="3066288"/>
            <a:ext cx="2017776" cy="329184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451710" y="3066288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03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43150" y="3413760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행동 횟수 7회 버그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daily_count / week_count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두 변수 </a:t>
            </a:r>
            <a:r>
              <a:rPr lang="ko-KR" alt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충돌</a:t>
            </a: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로 오류 발생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74514" y="3064035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해결 방법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686707" y="3411507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171450" indent="-171450" algn="l">
              <a:buFont typeface="Arial"/>
              <a:buChar char="•"/>
              <a:defRPr/>
            </a:pPr>
            <a:r>
              <a:rPr lang="en-US" altLang="ko-KR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daily</a:t>
            </a: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_count </a:t>
            </a:r>
            <a:r>
              <a:rPr lang="ko-KR" alt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삭제</a:t>
            </a:r>
            <a:endParaRPr lang="ko-KR" altLang="en-US" sz="1050">
              <a:solidFill>
                <a:srgbClr val="1a2b3c"/>
              </a:solidFill>
              <a:latin typeface="배달의민족 주아"/>
              <a:ea typeface="배달의민족 주아"/>
              <a:cs typeface="Consolas"/>
            </a:endParaRPr>
          </a:p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행동 횟수 5회 정상화</a:t>
            </a:r>
            <a:endParaRPr lang="en-US" sz="1050">
              <a:latin typeface="배달의민족 주아"/>
              <a:ea typeface="배달의민족 주아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1451710" y="4053840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451710" y="4053840"/>
            <a:ext cx="2017776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451710" y="4053840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04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543150" y="4401312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엔딩 밸런스 조정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히든엔딩 조건 만족도 100+수치 100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alibri"/>
            </a:endParaRPr>
          </a:p>
          <a:p>
            <a:pPr marL="0" indent="0" algn="l">
              <a:buNone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alibri"/>
              </a:rPr>
              <a:t>실제 플레이에서 달성 불가능</a:t>
            </a:r>
            <a:endParaRPr lang="en-US" sz="1050">
              <a:latin typeface="배달의민족 주아"/>
              <a:ea typeface="배달의민족 주아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74514" y="4051587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anchor="ctr"/>
          <a:lstStyle/>
          <a:p>
            <a:pPr mar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해결 방법</a:t>
            </a:r>
            <a:endParaRPr lang="en-US" sz="1200">
              <a:latin typeface="배달의민족 주아"/>
              <a:ea typeface="배달의민족 주아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686707" y="4399059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만족도 100 만족도 85로 완화</a:t>
            </a:r>
            <a:endParaRPr lang="en-US" sz="1050">
              <a:solidFill>
                <a:srgbClr val="1a2b3c"/>
              </a:solidFill>
              <a:latin typeface="배달의민족 주아"/>
              <a:ea typeface="배달의민족 주아"/>
              <a:cs typeface="Consolas"/>
            </a:endParaRPr>
          </a:p>
          <a:p>
            <a:pPr marL="171450" indent="-171450" algn="l">
              <a:buFont typeface="Arial"/>
              <a:buChar char="•"/>
              <a:defRPr/>
            </a:pPr>
            <a:r>
              <a:rPr lang="en-US" sz="1050">
                <a:solidFill>
                  <a:srgbClr val="1a2b3c"/>
                </a:solidFill>
                <a:latin typeface="배달의민족 주아"/>
                <a:ea typeface="배달의민족 주아"/>
                <a:cs typeface="Consolas"/>
              </a:rPr>
              <a:t>배드엔딩 만족도 25 -&gt; 35로 상향</a:t>
            </a:r>
            <a:endParaRPr lang="en-US" sz="1050">
              <a:latin typeface="배달의민족 주아"/>
              <a:ea typeface="배달의민족 주아"/>
            </a:endParaRPr>
          </a:p>
        </p:txBody>
      </p:sp>
      <p:sp>
        <p:nvSpPr>
          <p:cNvPr id="51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2" name="Shape 0"/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3" name="화살표: 갈매기형 수장 52"/>
          <p:cNvSpPr/>
          <p:nvPr/>
        </p:nvSpPr>
        <p:spPr>
          <a:xfrm>
            <a:off x="4354665" y="1328199"/>
            <a:ext cx="425659" cy="425659"/>
          </a:xfrm>
          <a:prstGeom prst="chevron">
            <a:avLst>
              <a:gd name="adj" fmla="val 50000"/>
            </a:avLst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4" name="화살표: 갈매기형 수장 53"/>
          <p:cNvSpPr/>
          <p:nvPr/>
        </p:nvSpPr>
        <p:spPr>
          <a:xfrm>
            <a:off x="4354666" y="2313962"/>
            <a:ext cx="425659" cy="425659"/>
          </a:xfrm>
          <a:prstGeom prst="chevron">
            <a:avLst>
              <a:gd name="adj" fmla="val 50000"/>
            </a:avLst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5" name="화살표: 갈매기형 수장 54"/>
          <p:cNvSpPr/>
          <p:nvPr/>
        </p:nvSpPr>
        <p:spPr>
          <a:xfrm>
            <a:off x="4354666" y="3226308"/>
            <a:ext cx="425659" cy="425659"/>
          </a:xfrm>
          <a:prstGeom prst="chevron">
            <a:avLst>
              <a:gd name="adj" fmla="val 50000"/>
            </a:avLst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6" name="화살표: 갈매기형 수장 55"/>
          <p:cNvSpPr/>
          <p:nvPr/>
        </p:nvSpPr>
        <p:spPr>
          <a:xfrm>
            <a:off x="4354665" y="4188482"/>
            <a:ext cx="425659" cy="425659"/>
          </a:xfrm>
          <a:prstGeom prst="chevron">
            <a:avLst>
              <a:gd name="adj" fmla="val 50000"/>
            </a:avLst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137916" y="2151127"/>
            <a:ext cx="2868168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5400">
                <a:solidFill>
                  <a:srgbClr val="ffffff"/>
                </a:solidFill>
                <a:latin typeface="SB 어그로 Bold"/>
                <a:ea typeface="SB 어그로 Bold"/>
                <a:cs typeface="Arial Black"/>
              </a:rPr>
              <a:t>게임</a:t>
            </a:r>
            <a:r>
              <a:rPr lang="en-US" sz="5400" b="1">
                <a:solidFill>
                  <a:srgbClr val="ffffff"/>
                </a:solidFill>
                <a:latin typeface="SB 어그로 Bold"/>
                <a:ea typeface="SB 어그로 Bold"/>
                <a:cs typeface="Arial Black"/>
              </a:rPr>
              <a:t> 시연</a:t>
            </a:r>
            <a:endParaRPr lang="en-US" sz="5400">
              <a:latin typeface="SB 어그로 Bold"/>
              <a:ea typeface="SB 어그로 Bol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748409" y="3175254"/>
            <a:ext cx="6046852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lvl="0" algn="ctr">
              <a:defRPr/>
            </a:pPr>
            <a:r>
              <a:rPr lang="en-US" sz="1600" b="1">
                <a:solidFill>
                  <a:srgbClr val="607d8b"/>
                </a:solidFill>
                <a:latin typeface="CookieRunOTF Regular"/>
                <a:ea typeface="CookieRunOTF Regular"/>
                <a:cs typeface="Calibri"/>
              </a:rPr>
              <a:t>YouTube:  </a:t>
            </a:r>
            <a:r>
              <a:rPr lang="en-US" sz="1600">
                <a:solidFill>
                  <a:srgbClr val="607d8b"/>
                </a:solidFill>
                <a:latin typeface="CookieRunOTF Regular"/>
                <a:ea typeface="CookieRunOTF Regular"/>
                <a:cs typeface="Calibri"/>
              </a:rPr>
              <a:t>https://www.youtube.com/watch?v=R_kRyPf1t8g</a:t>
            </a:r>
            <a:endParaRPr lang="en-US" sz="1600">
              <a:latin typeface="CookieRunOTF Regular"/>
              <a:ea typeface="CookieRunOTF Regular"/>
            </a:endParaRPr>
          </a:p>
        </p:txBody>
      </p:sp>
      <p:sp>
        <p:nvSpPr>
          <p:cNvPr id="22" name="Shape 1"/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3000">
                <a:solidFill>
                  <a:srgbClr val="ffffff"/>
                </a:solidFill>
                <a:latin typeface="SB 어그로 Bold"/>
                <a:ea typeface="SB 어그로 Bold"/>
                <a:cs typeface="Arial Black"/>
              </a:rPr>
              <a:t>프로젝트 성과  &amp;  향후 계획</a:t>
            </a:r>
            <a:endParaRPr lang="en-US" sz="3000">
              <a:latin typeface="SB 어그로 Bold"/>
              <a:ea typeface="SB 어그로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600">
                <a:solidFill>
                  <a:schemeClr val="lt1"/>
                </a:solidFill>
              </a:rPr>
              <a:t>🏗</a:t>
            </a:r>
            <a:endParaRPr lang="en-US" sz="2600">
              <a:solidFill>
                <a:schemeClr val="l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3fbfa6"/>
                </a:solidFill>
                <a:latin typeface="SB 어그로 Bold"/>
                <a:ea typeface="SB 어그로 Bold"/>
                <a:cs typeface="Calibri"/>
              </a:rPr>
              <a:t>객체지향 설계</a:t>
            </a:r>
            <a:endParaRPr lang="en-US" sz="1500">
              <a:latin typeface="SB 어그로 Bold"/>
              <a:ea typeface="SB 어그로 Bold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548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5개 클래스 역할 명확 분리</a:t>
            </a:r>
            <a:endParaRPr lang="en-US" sz="1300">
              <a:solidFill>
                <a:srgbClr val="ffffff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캡슐화·포인터 관리 실습</a:t>
            </a:r>
            <a:endParaRPr lang="en-US" sz="1300">
              <a:latin typeface="CookieRunOTF Regular"/>
              <a:ea typeface="CookieRunOTF Regular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60604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600">
                <a:solidFill>
                  <a:schemeClr val="lt1"/>
                </a:solidFill>
              </a:rPr>
              <a:t>🎮</a:t>
            </a:r>
            <a:endParaRPr lang="en-US" sz="2600">
              <a:solidFill>
                <a:schemeClr val="lt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260604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3fbfa6"/>
                </a:solidFill>
                <a:latin typeface="SB 어그로 Bold"/>
                <a:ea typeface="SB 어그로 Bold"/>
                <a:cs typeface="Calibri"/>
              </a:rPr>
              <a:t>게임 로직 완성</a:t>
            </a:r>
            <a:endParaRPr lang="en-US" sz="1500">
              <a:latin typeface="SB 어그로 Bold"/>
              <a:ea typeface="SB 어그로 Bol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2432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8주 흐름·성장·엔딩 분기</a:t>
            </a:r>
            <a:endParaRPr lang="en-US" sz="1300">
              <a:solidFill>
                <a:srgbClr val="ffffff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핵심 기획 100% 구현</a:t>
            </a:r>
            <a:endParaRPr lang="en-US" sz="1300">
              <a:latin typeface="CookieRunOTF Regular"/>
              <a:ea typeface="CookieRunOTF Regular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75488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600">
                <a:solidFill>
                  <a:schemeClr val="lt1"/>
                </a:solidFill>
              </a:rPr>
              <a:t>🌐</a:t>
            </a:r>
            <a:endParaRPr lang="en-US" sz="2600">
              <a:solidFill>
                <a:schemeClr val="lt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5488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3fbfa6"/>
                </a:solidFill>
                <a:latin typeface="SB 어그로 Bold"/>
                <a:ea typeface="SB 어그로 Bold"/>
                <a:cs typeface="Calibri"/>
              </a:rPr>
              <a:t>한글 I/O 해결</a:t>
            </a:r>
            <a:endParaRPr lang="en-US" sz="1500">
              <a:latin typeface="SB 어그로 Bold"/>
              <a:ea typeface="SB 어그로 Bol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7316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UTF-8 인코딩 설정</a:t>
            </a:r>
            <a:endParaRPr lang="en-US" sz="1300">
              <a:solidFill>
                <a:srgbClr val="ffffff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Windows 콘솔 안정 동작</a:t>
            </a:r>
            <a:endParaRPr lang="en-US" sz="1300">
              <a:latin typeface="CookieRunOTF Regular"/>
              <a:ea typeface="CookieRunOTF Regular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90372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600">
                <a:solidFill>
                  <a:schemeClr val="lt1"/>
                </a:solidFill>
              </a:rPr>
              <a:t>🏆</a:t>
            </a:r>
            <a:endParaRPr lang="en-US" sz="2600">
              <a:solidFill>
                <a:schemeClr val="lt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90372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3fbfa6"/>
                </a:solidFill>
                <a:latin typeface="SB 어그로 Bold"/>
                <a:ea typeface="SB 어그로 Bold"/>
                <a:cs typeface="Calibri"/>
              </a:rPr>
              <a:t>11가지 엔딩</a:t>
            </a:r>
            <a:endParaRPr lang="en-US" sz="1500">
              <a:latin typeface="SB 어그로 Bold"/>
              <a:ea typeface="SB 어그로 Bol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2200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아이템·반항 시스템</a:t>
            </a:r>
            <a:endParaRPr lang="en-US" sz="1300">
              <a:solidFill>
                <a:srgbClr val="ffffff"/>
              </a:solidFill>
              <a:latin typeface="CookieRunOTF Regular"/>
              <a:ea typeface="CookieRunOTF Regular"/>
              <a:cs typeface="Calibri"/>
            </a:endParaRPr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okieRunOTF Regular"/>
                <a:ea typeface="CookieRunOTF Regular"/>
                <a:cs typeface="Calibri"/>
              </a:rPr>
              <a:t>전용 아스키 아트 완성</a:t>
            </a:r>
            <a:endParaRPr lang="en-US" sz="1300">
              <a:latin typeface="CookieRunOTF Regular"/>
              <a:ea typeface="CookieRunOTF Regular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035808"/>
            <a:ext cx="838504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3035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향후</a:t>
            </a:r>
            <a:r>
              <a:rPr lang="en-US" sz="1400" b="1">
                <a:solidFill>
                  <a:srgbClr val="ffffff"/>
                </a:solidFill>
                <a:latin typeface="여기어때 잘난체 고딕 TTF"/>
                <a:ea typeface="여기어때 잘난체 고딕 TTF"/>
                <a:cs typeface="Calibri"/>
              </a:rPr>
              <a:t> 개선 방향</a:t>
            </a:r>
            <a:endParaRPr lang="en-US" sz="1400">
              <a:latin typeface="여기어때 잘난체 고딕 TTF"/>
              <a:ea typeface="여기어때 잘난체 고딕 TTF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449324" y="36484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450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💾  저장 / 불러오기 (파일 I/O)</a:t>
            </a:r>
            <a:endParaRPr lang="en-US" sz="1450">
              <a:latin typeface="배달의민족 주아"/>
              <a:ea typeface="배달의민족 주아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49324" y="40325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450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🖥  GUI 라이브러리 도입</a:t>
            </a:r>
            <a:endParaRPr lang="en-US" sz="1450">
              <a:latin typeface="배달의민족 주아"/>
              <a:ea typeface="배달의민족 주아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49324" y="44165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450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🎯  난이도 선택 기능</a:t>
            </a:r>
            <a:endParaRPr lang="en-US" sz="1450">
              <a:latin typeface="배달의민족 주아"/>
              <a:ea typeface="배달의민족 주아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773168" y="3685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450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🔓  엔딩 조건 및 종류 확장</a:t>
            </a:r>
            <a:endParaRPr lang="en-US" sz="1450">
              <a:latin typeface="배달의민족 주아"/>
              <a:ea typeface="배달의민족 주아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54880" y="4069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450">
                <a:solidFill>
                  <a:srgbClr val="ffffff"/>
                </a:solidFill>
                <a:latin typeface="배달의민족 주아"/>
                <a:ea typeface="배달의민족 주아"/>
                <a:cs typeface="Calibri"/>
              </a:rPr>
              <a:t>🎨  행동별 아스키 아트 다양화</a:t>
            </a:r>
            <a:endParaRPr lang="en-US" sz="1450">
              <a:latin typeface="배달의민족 주아"/>
              <a:ea typeface="배달의민족 주아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9377-28FB-AE28-F63F-A65EAD045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FB2AD8-26A2-C502-5717-7FB825EB828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1650FB3-1868-9479-79C7-E9BBCC742C5E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50916A-32B4-D175-BB61-74965C81ACFC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CD266DA-64BF-43FA-36E2-DDDE8D84FB7D}"/>
              </a:ext>
            </a:extLst>
          </p:cNvPr>
          <p:cNvSpPr/>
          <p:nvPr/>
        </p:nvSpPr>
        <p:spPr>
          <a:xfrm>
            <a:off x="2185606" y="2114550"/>
            <a:ext cx="50653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kern="0" spc="300" dirty="0" err="1">
                <a:solidFill>
                  <a:schemeClr val="bg1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감사합니다</a:t>
            </a:r>
            <a:r>
              <a:rPr lang="en-US" altLang="ko-KR" sz="5400" b="1" kern="0" spc="300" dirty="0">
                <a:solidFill>
                  <a:schemeClr val="bg1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Arial Black" pitchFamily="34" charset="-120"/>
              </a:rPr>
              <a:t> 🐦</a:t>
            </a:r>
            <a:endParaRPr lang="en-US" altLang="ko-KR" sz="5400" dirty="0">
              <a:solidFill>
                <a:schemeClr val="bg1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FAE79F37-D892-0C58-173E-DF50441E6B34}"/>
              </a:ext>
            </a:extLst>
          </p:cNvPr>
          <p:cNvSpPr/>
          <p:nvPr/>
        </p:nvSpPr>
        <p:spPr>
          <a:xfrm>
            <a:off x="4056554" y="3321558"/>
            <a:ext cx="13234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607D8B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Q &amp; A</a:t>
            </a:r>
            <a:endParaRPr lang="en-US" sz="32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2659480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2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2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787</ep:Words>
  <ep:PresentationFormat>화면 슬라이드 쇼(16:9)</ep:PresentationFormat>
  <ep:Paragraphs>205</ep:Paragraphs>
  <ep:Slides>11</ep:Slides>
  <ep:Notes>11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Office Theme</vt:lpstr>
      <vt:lpstr>PowerPoint 프레젠테이션</vt:lpstr>
      <vt:lpstr>PowerPoint 프레젠테이션</vt:lpstr>
      <vt:lpstr>PowerPoint 프레젠테이션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2026-06-07T15:54:55.000</dcterms:created>
  <dc:creator>PptxGenJS</dc:creator>
  <cp:lastModifiedBy>cyc</cp:lastModifiedBy>
  <dcterms:modified xsi:type="dcterms:W3CDTF">2026-06-10T07:08:46.349</dcterms:modified>
  <cp:revision>20</cp:revision>
  <dc:subject>PptxGenJS Presentation</dc:subject>
  <dc:title>새 키우기 최종 발표</dc:title>
  <cp:version>1000.0000.01</cp:version>
</cp:coreProperties>
</file>