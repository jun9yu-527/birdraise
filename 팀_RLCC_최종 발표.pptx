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afe24 Ssurround Bold" panose="020F0800000000000000" pitchFamily="50" charset="-127"/>
      <p:bold r:id="rId14"/>
    </p:embeddedFont>
    <p:embeddedFont>
      <p:font typeface="CookieRunOTF Bold" panose="020B0600000101010101" pitchFamily="34" charset="-127"/>
      <p:bold r:id="rId15"/>
    </p:embeddedFont>
    <p:embeddedFont>
      <p:font typeface="CookieRunOTF Regular" panose="020B0600000101010101" pitchFamily="34" charset="-127"/>
      <p:regular r:id="rId16"/>
    </p:embeddedFont>
    <p:embeddedFont>
      <p:font typeface="SB 어그로 Bold" panose="02020603020101020101" pitchFamily="18" charset="-127"/>
      <p:regular r:id="rId17"/>
    </p:embeddedFont>
    <p:embeddedFont>
      <p:font typeface="배달의민족 주아" panose="02020603020101020101" pitchFamily="18" charset="-127"/>
      <p:regular r:id="rId18"/>
    </p:embeddedFont>
    <p:embeddedFont>
      <p:font typeface="여기어때 잘난체 고딕 TTF" pitchFamily="2" charset="-127"/>
      <p:regular r:id="rId19"/>
    </p:embeddedFont>
    <p:embeddedFont>
      <p:font typeface="Arial Black" panose="020B0A04020102020204" pitchFamily="34" charset="0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411480"/>
            <a:ext cx="3108960" cy="4297680"/>
          </a:xfrm>
          <a:prstGeom prst="rect">
            <a:avLst/>
          </a:prstGeom>
          <a:solidFill>
            <a:srgbClr val="0D1F2D"/>
          </a:solidFill>
          <a:ln w="12700">
            <a:solidFill>
              <a:srgbClr val="3FBFA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kern="0" spc="300" dirty="0">
                <a:solidFill>
                  <a:srgbClr val="FFFFFF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rial Black" pitchFamily="34" charset="-120"/>
              </a:rPr>
              <a:t>새 키우기</a:t>
            </a:r>
            <a:endParaRPr lang="en-US" sz="5600" dirty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FBFA6"/>
                </a:solidFill>
                <a:latin typeface="CookieRunOTF Bold" panose="020B0600000101010101" pitchFamily="34" charset="-127"/>
                <a:ea typeface="CookieRunOTF Bold" panose="020B0600000101010101" pitchFamily="34" charset="-127"/>
                <a:cs typeface="Calibri" pitchFamily="34" charset="-120"/>
              </a:rPr>
              <a:t>BirdRaise  —  C++ 콘솔 육성 시뮬레이션</a:t>
            </a:r>
            <a:endParaRPr lang="en-US" sz="1500" dirty="0">
              <a:latin typeface="CookieRunOTF Bold" panose="020B0600000101010101" pitchFamily="34" charset="-127"/>
              <a:ea typeface="CookieRunOTF Bold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FA6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Calibri" pitchFamily="34" charset="-120"/>
              </a:rPr>
              <a:t>팀명  </a:t>
            </a:r>
            <a:r>
              <a:rPr lang="en-US" sz="1400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Calibri" pitchFamily="34" charset="-120"/>
              </a:rPr>
              <a:t>RLCC
</a:t>
            </a:r>
            <a:r>
              <a:rPr lang="en-US" sz="1400" b="1" dirty="0">
                <a:solidFill>
                  <a:srgbClr val="3FBFA6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Calibri" pitchFamily="34" charset="-120"/>
              </a:rPr>
              <a:t>팀원  </a:t>
            </a:r>
            <a:r>
              <a:rPr lang="en-US" sz="1400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Calibri" pitchFamily="34" charset="-120"/>
              </a:rPr>
              <a:t>유이레  ·  이준규  ·  최승민  ·  최연채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Calibri" pitchFamily="34" charset="-120"/>
              </a:rPr>
              <a:t>C++17  |  Visual Studio 2022  |  Windows Console  |  UTF-8  |  GitHub  |  YouTube Demo</a:t>
            </a:r>
            <a:endParaRPr lang="en-US" sz="10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BAAA5C9-5464-2FFA-DF32-2A9248DD5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031" y="779107"/>
            <a:ext cx="3002338" cy="33585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2B3C"/>
                </a:solidFill>
                <a:latin typeface="여기어때 잘난체 고딕 TTF" pitchFamily="2" charset="-127"/>
                <a:ea typeface="여기어때 잘난체 고딕 TTF" pitchFamily="2" charset="-127"/>
                <a:cs typeface="Arial Black" pitchFamily="34" charset="-120"/>
              </a:rPr>
              <a:t>발표 목차</a:t>
            </a:r>
            <a:endParaRPr lang="en-US" sz="3300" dirty="0">
              <a:latin typeface="여기어때 잘난체 고딕 TTF" pitchFamily="2" charset="-127"/>
              <a:ea typeface="여기어때 잘난체 고딕 TTF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88720"/>
            <a:ext cx="3931921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594360" cy="1097280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rial Black" pitchFamily="34" charset="-120"/>
              </a:rPr>
              <a:t>01</a:t>
            </a:r>
            <a:endParaRPr lang="en-US" sz="1700" dirty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9848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3C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프로젝트 개요</a:t>
            </a:r>
            <a:endParaRPr lang="en-US" sz="1500" dirty="0">
              <a:latin typeface="여기어때 잘난체 고딕 TTF" pitchFamily="2" charset="-127"/>
              <a:ea typeface="여기어때 잘난체 고딕 TTF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9848" y="17373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주제 배경 · 개발환경 · 벤치마킹</a:t>
            </a:r>
            <a:endParaRPr lang="en-US" sz="11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423160"/>
            <a:ext cx="3931921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1978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423160"/>
            <a:ext cx="594360" cy="1097280"/>
          </a:xfrm>
          <a:prstGeom prst="rect">
            <a:avLst/>
          </a:prstGeom>
          <a:solidFill>
            <a:srgbClr val="319784"/>
          </a:solidFill>
          <a:ln w="12700">
            <a:solidFill>
              <a:srgbClr val="3197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231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69848" y="2560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3C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클래스 아키텍처</a:t>
            </a:r>
            <a:endParaRPr lang="en-US" sz="1500" dirty="0">
              <a:latin typeface="여기어때 잘난체 고딕 TTF" pitchFamily="2" charset="-127"/>
              <a:ea typeface="여기어때 잘난체 고딕 TTF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69848" y="2971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5개 클래스 구조 · 만족도 공식</a:t>
            </a:r>
            <a:endParaRPr lang="en-US" sz="11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3657600"/>
            <a:ext cx="3931921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657600"/>
            <a:ext cx="594360" cy="1097280"/>
          </a:xfrm>
          <a:prstGeom prst="rect">
            <a:avLst/>
          </a:prstGeom>
          <a:solidFill>
            <a:srgbClr val="287A6A"/>
          </a:solidFill>
          <a:ln w="12700">
            <a:solidFill>
              <a:srgbClr val="287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576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rial Black" pitchFamily="34" charset="-120"/>
              </a:rPr>
              <a:t>03</a:t>
            </a:r>
            <a:endParaRPr lang="en-US" sz="1700" dirty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69848" y="3794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3C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게임 흐름 &amp; 핵심 기능</a:t>
            </a:r>
            <a:endParaRPr lang="en-US" sz="1500" dirty="0">
              <a:latin typeface="여기어때 잘난체 고딕 TTF" pitchFamily="2" charset="-127"/>
              <a:ea typeface="여기어때 잘난체 고딕 TTF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69848" y="4206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성장 단계 · 아이템 · 반항 시스템</a:t>
            </a:r>
            <a:endParaRPr lang="en-US" sz="11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00600" y="1188720"/>
            <a:ext cx="3931921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C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188720"/>
            <a:ext cx="594360" cy="1097280"/>
          </a:xfrm>
          <a:prstGeom prst="rect">
            <a:avLst/>
          </a:prstGeom>
          <a:solidFill>
            <a:srgbClr val="287C6C"/>
          </a:solidFill>
          <a:ln w="12700">
            <a:solidFill>
              <a:srgbClr val="287C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18872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rial Black" pitchFamily="34" charset="-120"/>
              </a:rPr>
              <a:t>04</a:t>
            </a:r>
            <a:endParaRPr lang="en-US" sz="1700" dirty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58968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3C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엔딩 시스템</a:t>
            </a:r>
            <a:endParaRPr lang="en-US" sz="1500" dirty="0">
              <a:latin typeface="여기어때 잘난체 고딕 TTF" pitchFamily="2" charset="-127"/>
              <a:ea typeface="여기어때 잘난체 고딕 TTF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58968" y="17373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11가지 분기 조건 전체</a:t>
            </a:r>
            <a:endParaRPr lang="en-US" sz="11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0600" y="2423160"/>
            <a:ext cx="3931921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6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423160"/>
            <a:ext cx="594360" cy="1097280"/>
          </a:xfrm>
          <a:prstGeom prst="rect">
            <a:avLst/>
          </a:prstGeom>
          <a:solidFill>
            <a:srgbClr val="22685B"/>
          </a:solidFill>
          <a:ln w="12700">
            <a:solidFill>
              <a:srgbClr val="2268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4231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rial Black" pitchFamily="34" charset="-120"/>
              </a:rPr>
              <a:t>05</a:t>
            </a:r>
            <a:endParaRPr lang="en-US" sz="1700" dirty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58968" y="2560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3C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문제 해결 &amp; 변경사항</a:t>
            </a:r>
            <a:endParaRPr lang="en-US" sz="1500" dirty="0">
              <a:latin typeface="여기어때 잘난체 고딕 TTF" pitchFamily="2" charset="-127"/>
              <a:ea typeface="여기어때 잘난체 고딕 TTF" pitchFamily="2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58968" y="2971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중간→최종 달라진 점 중심</a:t>
            </a:r>
            <a:endParaRPr lang="en-US" sz="11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00600" y="3657600"/>
            <a:ext cx="3931921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848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657600"/>
            <a:ext cx="594360" cy="1097280"/>
          </a:xfrm>
          <a:prstGeom prst="rect">
            <a:avLst/>
          </a:prstGeom>
          <a:solidFill>
            <a:srgbClr val="18483F"/>
          </a:solidFill>
          <a:ln w="12700">
            <a:solidFill>
              <a:srgbClr val="1848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6576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458968" y="3794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3C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성과 &amp; 향후 계획</a:t>
            </a:r>
            <a:endParaRPr lang="en-US" sz="1500" dirty="0">
              <a:latin typeface="여기어때 잘난체 고딕 TTF" pitchFamily="2" charset="-127"/>
              <a:ea typeface="여기어때 잘난체 고딕 TTF" pitchFamily="2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58968" y="4206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구현 완료 · 개선 방향</a:t>
            </a:r>
            <a:endParaRPr lang="en-US" sz="11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DAB795F0-ED40-960C-BB01-F08A64B72195}"/>
              </a:ext>
            </a:extLst>
          </p:cNvPr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4153CF6E-C7C9-BFD3-1542-2B4BC009D7B7}"/>
              </a:ext>
            </a:extLst>
          </p:cNvPr>
          <p:cNvSpPr/>
          <p:nvPr/>
        </p:nvSpPr>
        <p:spPr>
          <a:xfrm>
            <a:off x="8851392" y="-3048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dirty="0">
                <a:solidFill>
                  <a:srgbClr val="1A2B3C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rial Black" pitchFamily="34" charset="-120"/>
              </a:rPr>
              <a:t>프로젝트 개요</a:t>
            </a:r>
            <a:endParaRPr lang="en-US" sz="3300" dirty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720378"/>
            <a:ext cx="2651760" cy="24296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720378"/>
            <a:ext cx="2651760" cy="566928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738666"/>
            <a:ext cx="2505456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🎮</a:t>
            </a:r>
            <a:r>
              <a:rPr lang="en-US" sz="1600" b="1" dirty="0" err="1">
                <a:solidFill>
                  <a:srgbClr val="FFFFFF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장르</a:t>
            </a:r>
            <a:r>
              <a:rPr lang="en-US" sz="1600" b="1" dirty="0">
                <a:solidFill>
                  <a:srgbClr val="FFFFFF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 &amp; 주제</a:t>
            </a:r>
            <a:endParaRPr lang="en-US" sz="1600" dirty="0">
              <a:latin typeface="여기어때 잘난체 고딕 TTF" pitchFamily="2" charset="-127"/>
              <a:ea typeface="여기어때 잘난체 고딕 TTF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0624" y="2343476"/>
            <a:ext cx="2542032" cy="175947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텍스트</a:t>
            </a:r>
            <a:r>
              <a:rPr lang="en-US" altLang="ko-KR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</a:t>
            </a:r>
            <a:r>
              <a:rPr lang="en-US" altLang="ko-KR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기반</a:t>
            </a:r>
            <a:r>
              <a:rPr lang="en-US" altLang="ko-KR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</a:t>
            </a:r>
            <a:r>
              <a:rPr lang="en-US" altLang="ko-KR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콘솔</a:t>
            </a:r>
            <a:r>
              <a:rPr lang="en-US" altLang="ko-KR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</a:t>
            </a:r>
            <a:r>
              <a:rPr lang="en-US" altLang="ko-KR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육성</a:t>
            </a:r>
            <a:r>
              <a:rPr lang="en-US" altLang="ko-KR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</a:t>
            </a:r>
            <a:r>
              <a:rPr lang="en-US" altLang="ko-KR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시뮬레이션</a:t>
            </a:r>
            <a:endParaRPr lang="en-US" altLang="ko-KR" sz="12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  <a:p>
            <a:endParaRPr lang="en-US" altLang="ko-KR" sz="12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길에서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알을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줍는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스토리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</a:t>
            </a:r>
            <a:r>
              <a:rPr lang="ko-KR" alt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시작하여</a:t>
            </a:r>
            <a:r>
              <a:rPr lang="en-US" altLang="ko-KR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8주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동안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새를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알 →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성체로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성장</a:t>
            </a:r>
            <a:r>
              <a:rPr lang="ko-KR" alt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시키는게</a:t>
            </a:r>
            <a:r>
              <a:rPr lang="ko-KR" alt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목표</a:t>
            </a:r>
            <a:endParaRPr lang="en-US" altLang="ko-KR" sz="12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  <a:p>
            <a:pPr algn="l"/>
            <a:endParaRPr lang="en-US" sz="12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플레이어의 선택에 따른 멀티 엔딩</a:t>
            </a:r>
            <a:endParaRPr lang="en-US" sz="12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18688" y="1720378"/>
            <a:ext cx="2651760" cy="24296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18688" y="1720378"/>
            <a:ext cx="2651760" cy="56692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738666"/>
            <a:ext cx="2505456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🛠️</a:t>
            </a:r>
            <a:r>
              <a:rPr lang="en-US" sz="1600" b="1" dirty="0" err="1">
                <a:solidFill>
                  <a:srgbClr val="FFFFFF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개발</a:t>
            </a:r>
            <a:r>
              <a:rPr lang="en-US" sz="1600" b="1" dirty="0">
                <a:solidFill>
                  <a:srgbClr val="FFFFFF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 환경</a:t>
            </a:r>
            <a:endParaRPr lang="en-US" sz="1600" dirty="0">
              <a:latin typeface="여기어때 잘난체 고딕 TTF" pitchFamily="2" charset="-127"/>
              <a:ea typeface="여기어때 잘난체 고딕 TTF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28416" y="2342170"/>
            <a:ext cx="2432304" cy="176022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Visual Studio 2022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C++17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표준</a:t>
            </a:r>
            <a:endParaRPr lang="en-US" sz="1200" dirty="0">
              <a:latin typeface="Cafe24 Ssurround Bold" panose="020F0800000000000000" pitchFamily="50" charset="-127"/>
              <a:ea typeface="Cafe24 Ssurround Bold" panose="020F0800000000000000" pitchFamily="50" charset="-127"/>
              <a:cs typeface="Calibri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Windows Console                ( CMD/PowerShell 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UTF-8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인코딩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                         ( /utf-8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옵션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적용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 )</a:t>
            </a:r>
            <a:endParaRPr lang="en-US" sz="12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71616" y="1720378"/>
            <a:ext cx="2651760" cy="24296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720378"/>
            <a:ext cx="265176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738666"/>
            <a:ext cx="2505456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📌</a:t>
            </a:r>
            <a:r>
              <a:rPr lang="en-US" sz="1600" b="1" dirty="0" err="1">
                <a:solidFill>
                  <a:srgbClr val="FFFFFF"/>
                </a:solidFill>
                <a:latin typeface="여기어때 잘난체 고딕 TTF" pitchFamily="2" charset="-127"/>
                <a:ea typeface="여기어때 잘난체 고딕 TTF" pitchFamily="2" charset="-127"/>
                <a:cs typeface="Calibri" pitchFamily="34" charset="-120"/>
              </a:rPr>
              <a:t>벤치마킹</a:t>
            </a:r>
            <a:endParaRPr lang="en-US" sz="1600" dirty="0">
              <a:latin typeface="여기어때 잘난체 고딕 TTF" pitchFamily="2" charset="-127"/>
              <a:ea typeface="여기어때 잘난체 고딕 TTF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81344" y="2342170"/>
            <a:ext cx="2432304" cy="176022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다마고치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		          (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휴대용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 디지털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반려동물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육성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 )</a:t>
            </a:r>
            <a:endParaRPr lang="en-US" sz="12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Cafe24 Ssurround Bold" panose="020F0800000000000000" pitchFamily="50" charset="-127"/>
              <a:ea typeface="Cafe24 Ssurround Bold" panose="020F0800000000000000" pitchFamily="50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인생게임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</a:rPr>
              <a:t>           	          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(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일생을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 달리기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형식으로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 </a:t>
            </a:r>
            <a:r>
              <a:rPr lang="en-US" sz="1200" dirty="0" err="1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표현</a:t>
            </a:r>
            <a:r>
              <a:rPr lang="en-US" sz="1200" dirty="0">
                <a:latin typeface="Cafe24 Ssurround Bold" panose="020F0800000000000000" pitchFamily="50" charset="-127"/>
                <a:ea typeface="Cafe24 Ssurround Bold" panose="020F0800000000000000" pitchFamily="50" charset="-127"/>
                <a:cs typeface="Calibri" pitchFamily="34" charset="-120"/>
              </a:rPr>
              <a:t> )</a:t>
            </a:r>
          </a:p>
          <a:p>
            <a:pPr algn="l"/>
            <a:endParaRPr lang="en-US" sz="1200" dirty="0">
              <a:latin typeface="Cafe24 Ssurround Bold" panose="020F0800000000000000" pitchFamily="50" charset="-127"/>
              <a:ea typeface="Cafe24 Ssurround Bold" panose="020F0800000000000000" pitchFamily="50" charset="-127"/>
              <a:cs typeface="Calibri" pitchFamily="34" charset="-120"/>
            </a:endParaRPr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DA05CAEA-12F5-3D50-8F78-EAD45B12B4DD}"/>
              </a:ext>
            </a:extLst>
          </p:cNvPr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F12CAC18-7950-3175-BA25-8B15E8B51F60}"/>
              </a:ext>
            </a:extLst>
          </p:cNvPr>
          <p:cNvSpPr/>
          <p:nvPr/>
        </p:nvSpPr>
        <p:spPr>
          <a:xfrm>
            <a:off x="8851392" y="-3048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300">
                <a:latin typeface="SB 어그로 Bold"/>
                <a:ea typeface="SB 어그로 Bold"/>
              </a:rPr>
              <a:t>클래스 </a:t>
            </a:r>
            <a:r>
              <a:rPr lang="ko-KR" altLang="en-US" sz="3300">
                <a:latin typeface="SB 어그로 Bold"/>
                <a:ea typeface="SB 어그로 Bold"/>
              </a:rPr>
              <a:t>다이어그램</a:t>
            </a:r>
            <a:endParaRPr lang="en-US" sz="3300">
              <a:latin typeface="SB 어그로 Bold"/>
              <a:ea typeface="SB 어그로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399971" y="1097280"/>
            <a:ext cx="1990964" cy="731520"/>
          </a:xfrm>
          <a:prstGeom prst="rect">
            <a:avLst/>
          </a:prstGeom>
          <a:solidFill>
            <a:srgbClr val="1A2B3C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399971" y="1097280"/>
            <a:ext cx="1990964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3FBFA6"/>
                </a:solidFill>
                <a:latin typeface="CookieRunOTF Regular"/>
                <a:ea typeface="CookieRunOTF Regular"/>
                <a:cs typeface="Consolas"/>
              </a:rPr>
              <a:t>GameManager</a:t>
            </a:r>
            <a:endParaRPr lang="en-US" sz="1500">
              <a:latin typeface="CookieRunOTF Regular"/>
              <a:ea typeface="CookieRunOTF Regular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30382" y="2135776"/>
            <a:ext cx="0" cy="287383"/>
          </a:xfrm>
          <a:prstGeom prst="line">
            <a:avLst/>
          </a:prstGeom>
          <a:ln>
            <a:solidFill>
              <a:srgbClr val="3FBFA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399971" y="2135776"/>
            <a:ext cx="0" cy="287384"/>
          </a:xfrm>
          <a:prstGeom prst="line">
            <a:avLst/>
          </a:prstGeom>
          <a:ln>
            <a:solidFill>
              <a:srgbClr val="3FBFA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3679" y="2135776"/>
            <a:ext cx="0" cy="287384"/>
          </a:xfrm>
          <a:prstGeom prst="line">
            <a:avLst/>
          </a:prstGeom>
          <a:ln>
            <a:solidFill>
              <a:srgbClr val="3FBFA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838988" y="2135775"/>
            <a:ext cx="0" cy="287384"/>
          </a:xfrm>
          <a:prstGeom prst="line">
            <a:avLst/>
          </a:prstGeom>
          <a:ln>
            <a:solidFill>
              <a:srgbClr val="3FBFA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11480" y="2423160"/>
            <a:ext cx="17792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1779268" cy="347472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1779268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ookieRunOTF Regular"/>
                <a:ea typeface="CookieRunOTF Regular"/>
                <a:cs typeface="Consolas"/>
              </a:rPr>
              <a:t>GameEntity</a:t>
            </a:r>
            <a:endParaRPr lang="en-US" sz="1100">
              <a:latin typeface="CookieRunOTF Regular"/>
              <a:ea typeface="CookieRunOTF Regular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4747" y="2798064"/>
            <a:ext cx="1776001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1A2B3C"/>
                </a:solidFill>
                <a:latin typeface="CookieRunOTF Regular"/>
                <a:ea typeface="CookieRunOTF Regular"/>
                <a:cs typeface="Calibri"/>
              </a:rPr>
              <a:t>새 객체</a:t>
            </a:r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1A2B3C"/>
                </a:solidFill>
                <a:latin typeface="CookieRunOTF Regular"/>
                <a:ea typeface="CookieRunOTF Regular"/>
                <a:cs typeface="Calibri"/>
              </a:rPr>
              <a:t>수치·성장·생존</a:t>
            </a:r>
            <a:endParaRPr lang="en-US" sz="1100">
              <a:latin typeface="CookieRunOTF Regular"/>
              <a:ea typeface="CookieRunOTF Regular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43646" y="2423160"/>
            <a:ext cx="17792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543646" y="2423160"/>
            <a:ext cx="1779268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43646" y="2423160"/>
            <a:ext cx="1772883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ookieRunOTF Regular"/>
                <a:ea typeface="CookieRunOTF Regular"/>
                <a:cs typeface="Consolas"/>
              </a:rPr>
              <a:t>GameEngine</a:t>
            </a:r>
            <a:endParaRPr lang="en-US" sz="1100">
              <a:latin typeface="CookieRunOTF Regular"/>
              <a:ea typeface="CookieRunOTF Regular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50031" y="2798064"/>
            <a:ext cx="1772883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1A2B3C"/>
                </a:solidFill>
                <a:latin typeface="CookieRunOTF Regular"/>
                <a:ea typeface="CookieRunOTF Regular"/>
                <a:cs typeface="Calibri"/>
              </a:rPr>
              <a:t>시간 흐름</a:t>
            </a:r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1A2B3C"/>
                </a:solidFill>
                <a:latin typeface="CookieRunOTF Regular"/>
                <a:ea typeface="CookieRunOTF Regular"/>
                <a:cs typeface="Calibri"/>
              </a:rPr>
              <a:t>주차·행동·성장</a:t>
            </a:r>
            <a:endParaRPr lang="en-US" sz="1100">
              <a:latin typeface="CookieRunOTF Regular"/>
              <a:ea typeface="CookieRunOTF Regular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21087" y="2423160"/>
            <a:ext cx="17792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21087" y="2423160"/>
            <a:ext cx="1779268" cy="3474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21087" y="2423160"/>
            <a:ext cx="1779268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ookieRunOTF Regular"/>
                <a:ea typeface="CookieRunOTF Regular"/>
                <a:cs typeface="Consolas"/>
              </a:rPr>
              <a:t>ActionManager</a:t>
            </a:r>
            <a:endParaRPr lang="en-US" sz="1100">
              <a:latin typeface="CookieRunOTF Regular"/>
              <a:ea typeface="CookieRunOTF Regular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26421" y="2798064"/>
            <a:ext cx="1773934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1A2B3C"/>
                </a:solidFill>
                <a:latin typeface="CookieRunOTF Regular"/>
                <a:ea typeface="CookieRunOTF Regular"/>
                <a:cs typeface="Calibri"/>
              </a:rPr>
              <a:t>행동 정의</a:t>
            </a:r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1A2B3C"/>
                </a:solidFill>
                <a:latin typeface="CookieRunOTF Regular"/>
                <a:ea typeface="CookieRunOTF Regular"/>
                <a:cs typeface="Calibri"/>
              </a:rPr>
              <a:t>인벤토리·아이템</a:t>
            </a:r>
            <a:endParaRPr lang="en-US" sz="1100">
              <a:latin typeface="CookieRunOTF Regular"/>
              <a:ea typeface="CookieRunOTF Regular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49985" y="2423160"/>
            <a:ext cx="17792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7D3C9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949985" y="2423160"/>
            <a:ext cx="1779268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949985" y="2423160"/>
            <a:ext cx="1782535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ookieRunOTF Regular"/>
                <a:ea typeface="CookieRunOTF Regular"/>
                <a:cs typeface="Consolas"/>
              </a:rPr>
              <a:t>UIRenderer</a:t>
            </a:r>
            <a:endParaRPr lang="en-US" sz="1100">
              <a:latin typeface="CookieRunOTF Regular"/>
              <a:ea typeface="CookieRunOTF Regular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49985" y="2798064"/>
            <a:ext cx="1779268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1A2B3C"/>
                </a:solidFill>
                <a:latin typeface="CookieRunOTF Regular"/>
                <a:ea typeface="CookieRunOTF Regular"/>
                <a:cs typeface="Calibri"/>
              </a:rPr>
              <a:t>화면 출력</a:t>
            </a:r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1A2B3C"/>
                </a:solidFill>
                <a:latin typeface="CookieRunOTF Regular"/>
                <a:ea typeface="CookieRunOTF Regular"/>
                <a:cs typeface="Calibri"/>
              </a:rPr>
              <a:t>아트·게이지·엔딩</a:t>
            </a:r>
            <a:endParaRPr lang="en-US" sz="1100">
              <a:latin typeface="CookieRunOTF Regular"/>
              <a:ea typeface="CookieRunOTF Regular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" y="3657600"/>
            <a:ext cx="8503920" cy="1188720"/>
          </a:xfrm>
          <a:prstGeom prst="rect">
            <a:avLst/>
          </a:prstGeom>
          <a:solidFill>
            <a:srgbClr val="1A2B3C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11480" y="3832861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3FBFA6"/>
                </a:solidFill>
                <a:latin typeface="여기어때 잘난체 고딕 TTF"/>
                <a:ea typeface="여기어때 잘난체 고딕 TTF"/>
                <a:cs typeface="Consolas"/>
              </a:rPr>
              <a:t>만족도  =  ( 포만감 + 청결도 + 훈련도 + (100 </a:t>
            </a:r>
            <a:r>
              <a:rPr lang="en-US" altLang="ko-KR" sz="1600" b="1">
                <a:solidFill>
                  <a:srgbClr val="3FBFA6"/>
                </a:solidFill>
                <a:latin typeface="여기어때 잘난체 고딕 TTF"/>
                <a:ea typeface="여기어때 잘난체 고딕 TTF"/>
                <a:cs typeface="Consolas"/>
              </a:rPr>
              <a:t>-</a:t>
            </a:r>
            <a:r>
              <a:rPr lang="en-US" sz="1600" b="1">
                <a:solidFill>
                  <a:srgbClr val="3FBFA6"/>
                </a:solidFill>
                <a:latin typeface="여기어때 잘난체 고딕 TTF"/>
                <a:ea typeface="여기어때 잘난체 고딕 TTF"/>
                <a:cs typeface="Consolas"/>
              </a:rPr>
              <a:t> 스트레스) )  ÷  4</a:t>
            </a:r>
          </a:p>
        </p:txBody>
      </p:sp>
      <p:sp>
        <p:nvSpPr>
          <p:cNvPr id="28" name="Text 26"/>
          <p:cNvSpPr/>
          <p:nvPr/>
        </p:nvSpPr>
        <p:spPr>
          <a:xfrm>
            <a:off x="411480" y="42245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07D8B"/>
                </a:solidFill>
                <a:latin typeface="여기어때 잘난체 고딕 TTF"/>
                <a:ea typeface="여기어때 잘난체 고딕 TTF"/>
                <a:cs typeface="Calibri"/>
              </a:rPr>
              <a:t>엔딩 분기의 핵심 지표  |  매 턴 실시간 갱신  |  0 ~ 100 범위 클램프</a:t>
            </a:r>
            <a:endParaRPr lang="en-US" sz="1200">
              <a:latin typeface="여기어때 잘난체 고딕 TTF"/>
              <a:ea typeface="여기어때 잘난체 고딕 TTF"/>
            </a:endParaRPr>
          </a:p>
        </p:txBody>
      </p:sp>
      <p:sp>
        <p:nvSpPr>
          <p:cNvPr id="29" name="Shape 4"/>
          <p:cNvSpPr/>
          <p:nvPr/>
        </p:nvSpPr>
        <p:spPr>
          <a:xfrm flipV="1">
            <a:off x="1425810" y="2135774"/>
            <a:ext cx="6413178" cy="2"/>
          </a:xfrm>
          <a:prstGeom prst="line">
            <a:avLst/>
          </a:prstGeom>
          <a:ln>
            <a:solidFill>
              <a:srgbClr val="3FBFA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" name="다이아몬드 35"/>
          <p:cNvSpPr/>
          <p:nvPr/>
        </p:nvSpPr>
        <p:spPr>
          <a:xfrm>
            <a:off x="4348188" y="1828800"/>
            <a:ext cx="92745" cy="91435"/>
          </a:xfrm>
          <a:prstGeom prst="diamond">
            <a:avLst/>
          </a:prstGeom>
          <a:solidFill>
            <a:srgbClr val="3FBF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7" name="Shape 6"/>
          <p:cNvSpPr/>
          <p:nvPr/>
        </p:nvSpPr>
        <p:spPr>
          <a:xfrm>
            <a:off x="4392276" y="1839248"/>
            <a:ext cx="0" cy="296528"/>
          </a:xfrm>
          <a:prstGeom prst="line">
            <a:avLst/>
          </a:prstGeom>
          <a:ln>
            <a:solidFill>
              <a:srgbClr val="3FBFA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39" name="직선 화살표 연결선 38"/>
          <p:cNvCxnSpPr>
            <a:stCxn id="14" idx="1"/>
            <a:endCxn id="10" idx="3"/>
          </p:cNvCxnSpPr>
          <p:nvPr/>
        </p:nvCxnSpPr>
        <p:spPr>
          <a:xfrm flipH="1">
            <a:off x="2190748" y="2948940"/>
            <a:ext cx="352898" cy="0"/>
          </a:xfrm>
          <a:prstGeom prst="straightConnector1">
            <a:avLst/>
          </a:prstGeom>
          <a:ln>
            <a:solidFill>
              <a:srgbClr val="3FBFA6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14" idx="3"/>
            <a:endCxn id="18" idx="1"/>
          </p:cNvCxnSpPr>
          <p:nvPr/>
        </p:nvCxnSpPr>
        <p:spPr>
          <a:xfrm>
            <a:off x="4322914" y="2948940"/>
            <a:ext cx="498173" cy="0"/>
          </a:xfrm>
          <a:prstGeom prst="straightConnector1">
            <a:avLst/>
          </a:prstGeom>
          <a:ln>
            <a:solidFill>
              <a:srgbClr val="3FBFA6"/>
            </a:solidFill>
            <a:prstDash val="sysDash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stCxn id="18" idx="3"/>
            <a:endCxn id="22" idx="1"/>
          </p:cNvCxnSpPr>
          <p:nvPr/>
        </p:nvCxnSpPr>
        <p:spPr>
          <a:xfrm>
            <a:off x="6600355" y="2948940"/>
            <a:ext cx="349630" cy="0"/>
          </a:xfrm>
          <a:prstGeom prst="straightConnector1">
            <a:avLst/>
          </a:prstGeom>
          <a:ln>
            <a:solidFill>
              <a:srgbClr val="3FBFA6"/>
            </a:solidFill>
            <a:prstDash val="sysDash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1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2" name="Shape 0"/>
          <p:cNvSpPr/>
          <p:nvPr/>
        </p:nvSpPr>
        <p:spPr>
          <a:xfrm>
            <a:off x="8851392" y="-3048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300">
                <a:solidFill>
                  <a:srgbClr val="1A2B3C"/>
                </a:solidFill>
                <a:latin typeface="SB 어그로 Bold"/>
                <a:ea typeface="SB 어그로 Bold"/>
                <a:cs typeface="Arial Black"/>
              </a:rPr>
              <a:t>게임 흐름  -  성장 단계</a:t>
            </a:r>
            <a:endParaRPr lang="en-US" sz="3300">
              <a:latin typeface="SB 어그로 Bold"/>
              <a:ea typeface="SB 어그로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43484" y="1097280"/>
            <a:ext cx="1600200" cy="347472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43484" y="1097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여기어때 잘난체 고딕 TTF"/>
                <a:ea typeface="여기어때 잘난체 고딕 TTF"/>
                <a:cs typeface="Calibri"/>
              </a:rPr>
              <a:t>1 주</a:t>
            </a:r>
            <a:endParaRPr lang="en-US" sz="1100">
              <a:latin typeface="여기어때 잘난체 고딕 TTF"/>
              <a:ea typeface="여기어때 잘난체 고딕 TTF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3484" y="1444752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3484" y="1463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607D8B"/>
                </a:solidFill>
                <a:latin typeface="여기어때 잘난체 고딕 TTF"/>
                <a:ea typeface="여기어때 잘난체 고딕 TTF"/>
                <a:cs typeface="Calibri"/>
              </a:rPr>
              <a:t>🥚알</a:t>
            </a:r>
            <a:endParaRPr lang="en-US" sz="1300">
              <a:latin typeface="여기어때 잘난체 고딕 TTF"/>
              <a:ea typeface="여기어때 잘난체 고딕 TTF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6636" y="1975104"/>
            <a:ext cx="1453896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anchor="t"/>
          <a:lstStyle/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품어주기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쓰다듬기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방치하기</a:t>
            </a:r>
          </a:p>
          <a:p>
            <a:pPr marL="0" indent="0">
              <a:buNone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( 사망 판정 없음 )</a:t>
            </a:r>
            <a:endParaRPr lang="en-US" sz="1150">
              <a:latin typeface="여기어때 잘난체 고딕 TTF"/>
              <a:ea typeface="여기어때 잘난체 고딕 TTF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07692" y="1097280"/>
            <a:ext cx="1600200" cy="347472"/>
          </a:xfrm>
          <a:prstGeom prst="rect">
            <a:avLst/>
          </a:prstGeom>
          <a:solidFill>
            <a:srgbClr val="319784"/>
          </a:solidFill>
          <a:ln w="12700">
            <a:solidFill>
              <a:srgbClr val="319784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7692" y="1097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여기어때 잘난체 고딕 TTF"/>
                <a:ea typeface="여기어때 잘난체 고딕 TTF"/>
                <a:cs typeface="Calibri"/>
              </a:rPr>
              <a:t>2 ~ 3 주</a:t>
            </a:r>
            <a:endParaRPr lang="en-US" sz="1100">
              <a:latin typeface="여기어때 잘난체 고딕 TTF"/>
              <a:ea typeface="여기어때 잘난체 고딕 TTF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07692" y="1444752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1978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07692" y="1463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2471A3"/>
                </a:solidFill>
                <a:latin typeface="여기어때 잘난체 고딕 TTF"/>
                <a:ea typeface="여기어때 잘난체 고딕 TTF"/>
                <a:cs typeface="Calibri"/>
              </a:rPr>
              <a:t>🐣유아기</a:t>
            </a:r>
            <a:endParaRPr lang="en-US" sz="1300">
              <a:latin typeface="여기어때 잘난체 고딕 TTF"/>
              <a:ea typeface="여기어때 잘난체 고딕 TTF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80844" y="1975104"/>
            <a:ext cx="1453896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anchor="t"/>
          <a:lstStyle/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이유식 먹이기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청소하기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재우기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놀아주기</a:t>
            </a:r>
          </a:p>
          <a:p>
            <a:pPr lvl="0"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    ( 산책 제외 )</a:t>
            </a:r>
            <a:endParaRPr lang="en-US" sz="1150">
              <a:latin typeface="여기어때 잘난체 고딕 TTF"/>
              <a:ea typeface="여기어때 잘난체 고딕 TTF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771900" y="1097280"/>
            <a:ext cx="1600200" cy="347472"/>
          </a:xfrm>
          <a:prstGeom prst="rect">
            <a:avLst/>
          </a:prstGeom>
          <a:solidFill>
            <a:srgbClr val="287C6C"/>
          </a:solidFill>
          <a:ln w="12700">
            <a:solidFill>
              <a:srgbClr val="287C6C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771900" y="1097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여기어때 잘난체 고딕 TTF"/>
                <a:ea typeface="여기어때 잘난체 고딕 TTF"/>
                <a:cs typeface="Calibri"/>
              </a:rPr>
              <a:t>4 ~ 5 주</a:t>
            </a:r>
            <a:endParaRPr lang="en-US" sz="1100">
              <a:latin typeface="여기어때 잘난체 고딕 TTF"/>
              <a:ea typeface="여기어때 잘난체 고딕 TTF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71900" y="1444752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C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771900" y="1463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3FBFA6"/>
                </a:solidFill>
                <a:latin typeface="여기어때 잘난체 고딕 TTF"/>
                <a:ea typeface="여기어때 잘난체 고딕 TTF"/>
                <a:cs typeface="Calibri"/>
              </a:rPr>
              <a:t>🐦유년기</a:t>
            </a:r>
            <a:endParaRPr lang="en-US" sz="1300">
              <a:latin typeface="여기어때 잘난체 고딕 TTF"/>
              <a:ea typeface="여기어때 잘난체 고딕 TTF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5052" y="1975104"/>
            <a:ext cx="1453896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anchor="t"/>
          <a:lstStyle/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먹이 주기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청소하기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훈련 시키기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놀아주기</a:t>
            </a:r>
            <a:endParaRPr lang="en-US" sz="1150">
              <a:latin typeface="여기어때 잘난체 고딕 TTF"/>
              <a:ea typeface="여기어때 잘난체 고딕 TTF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36108" y="1097280"/>
            <a:ext cx="1600200" cy="347472"/>
          </a:xfrm>
          <a:prstGeom prst="rect">
            <a:avLst/>
          </a:prstGeom>
          <a:solidFill>
            <a:srgbClr val="22685B"/>
          </a:solidFill>
          <a:ln w="12700">
            <a:solidFill>
              <a:srgbClr val="22685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36108" y="1097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여기어때 잘난체 고딕 TTF"/>
                <a:ea typeface="여기어때 잘난체 고딕 TTF"/>
                <a:cs typeface="Calibri"/>
              </a:rPr>
              <a:t>6 ~ 7 주</a:t>
            </a:r>
            <a:endParaRPr lang="en-US" sz="1100">
              <a:latin typeface="여기어때 잘난체 고딕 TTF"/>
              <a:ea typeface="여기어때 잘난체 고딕 TTF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36108" y="1444752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6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36108" y="1463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4A261"/>
                </a:solidFill>
                <a:latin typeface="여기어때 잘난체 고딕 TTF"/>
                <a:ea typeface="여기어때 잘난체 고딕 TTF"/>
                <a:cs typeface="Calibri"/>
              </a:rPr>
              <a:t>🦜청소년기</a:t>
            </a:r>
            <a:endParaRPr lang="en-US" sz="1300">
              <a:latin typeface="여기어때 잘난체 고딕 TTF"/>
              <a:ea typeface="여기어때 잘난체 고딕 TTF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09260" y="1975104"/>
            <a:ext cx="1453896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anchor="t"/>
          <a:lstStyle/>
          <a:p>
            <a:pPr marL="171450" indent="-171450">
              <a:buFont typeface="Arial"/>
              <a:buChar char="•"/>
              <a:defRPr/>
            </a:pPr>
            <a:r>
              <a:rPr lang="ko-KR" alt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모든 행동 가능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ko-KR" alt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훈련 선택지 추가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아이템 활용</a:t>
            </a:r>
            <a:r>
              <a:rPr lang="en-US" sz="1150">
                <a:latin typeface="여기어때 잘난체 고딕 TTF"/>
                <a:ea typeface="여기어때 잘난체 고딕 TTF"/>
              </a:rPr>
              <a:t> </a:t>
            </a: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가능</a:t>
            </a:r>
            <a:endParaRPr lang="en-US" sz="1150">
              <a:latin typeface="여기어때 잘난체 고딕 TTF"/>
              <a:ea typeface="여기어때 잘난체 고딕 TTF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100316" y="1097280"/>
            <a:ext cx="1600200" cy="347472"/>
          </a:xfrm>
          <a:prstGeom prst="rect">
            <a:avLst/>
          </a:prstGeom>
          <a:noFill/>
          <a:ln w="12700">
            <a:solidFill>
              <a:srgbClr val="C0392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00316" y="1097280"/>
            <a:ext cx="1600200" cy="347472"/>
          </a:xfrm>
          <a:prstGeom prst="rect">
            <a:avLst/>
          </a:prstGeom>
          <a:solidFill>
            <a:srgbClr val="18483F"/>
          </a:solidFill>
          <a:ln>
            <a:solidFill>
              <a:srgbClr val="18483F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여기어때 잘난체 고딕 TTF"/>
                <a:ea typeface="여기어때 잘난체 고딕 TTF"/>
                <a:cs typeface="Calibri"/>
              </a:rPr>
              <a:t>8 주</a:t>
            </a:r>
            <a:endParaRPr lang="en-US" sz="1100">
              <a:latin typeface="여기어때 잘난체 고딕 TTF"/>
              <a:ea typeface="여기어때 잘난체 고딕 TTF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100316" y="1444752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48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100316" y="1463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C0392B"/>
                </a:solidFill>
                <a:latin typeface="여기어때 잘난체 고딕 TTF"/>
                <a:ea typeface="여기어때 잘난체 고딕 TTF"/>
                <a:cs typeface="Calibri"/>
              </a:rPr>
              <a:t>🦅성체</a:t>
            </a:r>
            <a:endParaRPr lang="en-US" sz="1300">
              <a:latin typeface="여기어때 잘난체 고딕 TTF"/>
              <a:ea typeface="여기어때 잘난체 고딕 TTF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73468" y="1975104"/>
            <a:ext cx="1453896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anchor="t"/>
          <a:lstStyle/>
          <a:p>
            <a:pPr marL="171450" indent="-171450">
              <a:buFont typeface="Arial"/>
              <a:buChar char="•"/>
              <a:defRPr/>
            </a:pPr>
            <a:r>
              <a:rPr 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모든 행동 </a:t>
            </a:r>
            <a:r>
              <a:rPr lang="ko-KR" altLang="en-US" sz="115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가능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ko-KR" altLang="en-US" sz="1150">
                <a:latin typeface="여기어때 잘난체 고딕 TTF"/>
                <a:ea typeface="여기어때 잘난체 고딕 TTF"/>
              </a:rPr>
              <a:t>엔딩 결정</a:t>
            </a:r>
            <a:endParaRPr lang="en-US" sz="1150">
              <a:latin typeface="여기어때 잘난체 고딕 TTF"/>
              <a:ea typeface="여기어때 잘난체 고딕 TTF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3484" y="3977640"/>
            <a:ext cx="38999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2356" y="4061895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defRPr/>
            </a:pPr>
            <a:r>
              <a:rPr lang="en-US" sz="1200" b="1" dirty="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⏱️  </a:t>
            </a:r>
            <a:r>
              <a:rPr lang="en-US" sz="1200" b="1" dirty="0" err="1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주차별</a:t>
            </a:r>
            <a:r>
              <a:rPr lang="en-US" sz="1200" b="1" dirty="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 </a:t>
            </a:r>
            <a:r>
              <a:rPr lang="en-US" sz="1200" b="1" dirty="0" err="1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패시브</a:t>
            </a:r>
            <a:r>
              <a:rPr lang="en-US" sz="1200" b="1" dirty="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 ( </a:t>
            </a:r>
            <a:r>
              <a:rPr lang="en-US" sz="1200" b="1" dirty="0" err="1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매주</a:t>
            </a:r>
            <a:r>
              <a:rPr lang="en-US" sz="1200" b="1" dirty="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 </a:t>
            </a:r>
            <a:r>
              <a:rPr lang="en-US" sz="1200" b="1" dirty="0" err="1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자동</a:t>
            </a:r>
            <a:r>
              <a:rPr lang="en-US" sz="1200" b="1" dirty="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 </a:t>
            </a:r>
            <a:r>
              <a:rPr lang="en-US" sz="1200" b="1" dirty="0" err="1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적용</a:t>
            </a:r>
            <a:r>
              <a:rPr lang="en-US" sz="1200" b="1" dirty="0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 )</a:t>
            </a:r>
            <a:endParaRPr lang="en-US" sz="1200" dirty="0">
              <a:latin typeface="여기어때 잘난체 고딕 TTF"/>
              <a:ea typeface="여기어때 잘난체 고딕 TTF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2356" y="4418511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07D8B"/>
                </a:solidFill>
                <a:latin typeface="여기어때 잘난체 고딕 TTF"/>
                <a:ea typeface="여기어때 잘난체 고딕 TTF"/>
                <a:cs typeface="Calibri"/>
              </a:rPr>
              <a:t>포만감 </a:t>
            </a:r>
            <a:r>
              <a:rPr lang="en-US" altLang="ko-KR" sz="1200">
                <a:solidFill>
                  <a:srgbClr val="607D8B"/>
                </a:solidFill>
                <a:latin typeface="여기어때 잘난체 고딕 TTF"/>
                <a:ea typeface="여기어때 잘난체 고딕 TTF"/>
                <a:cs typeface="Calibri"/>
              </a:rPr>
              <a:t>-</a:t>
            </a:r>
            <a:r>
              <a:rPr lang="en-US" sz="1200">
                <a:solidFill>
                  <a:srgbClr val="607D8B"/>
                </a:solidFill>
                <a:latin typeface="여기어때 잘난체 고딕 TTF"/>
                <a:ea typeface="여기어때 잘난체 고딕 TTF"/>
                <a:cs typeface="Calibri"/>
              </a:rPr>
              <a:t>10  /  청결도 </a:t>
            </a:r>
            <a:r>
              <a:rPr lang="en-US" altLang="ko-KR" sz="1200">
                <a:solidFill>
                  <a:srgbClr val="607D8B"/>
                </a:solidFill>
                <a:latin typeface="여기어때 잘난체 고딕 TTF"/>
                <a:ea typeface="여기어때 잘난체 고딕 TTF"/>
                <a:cs typeface="Calibri"/>
              </a:rPr>
              <a:t>-</a:t>
            </a:r>
            <a:r>
              <a:rPr lang="en-US" sz="1200">
                <a:solidFill>
                  <a:srgbClr val="607D8B"/>
                </a:solidFill>
                <a:latin typeface="여기어때 잘난체 고딕 TTF"/>
                <a:ea typeface="여기어때 잘난체 고딕 TTF"/>
                <a:cs typeface="Calibri"/>
              </a:rPr>
              <a:t>5  /  스트레스 +5</a:t>
            </a:r>
          </a:p>
        </p:txBody>
      </p:sp>
      <p:sp>
        <p:nvSpPr>
          <p:cNvPr id="32" name="Shape 30"/>
          <p:cNvSpPr/>
          <p:nvPr/>
        </p:nvSpPr>
        <p:spPr>
          <a:xfrm>
            <a:off x="4800600" y="3977640"/>
            <a:ext cx="38999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919472" y="4061895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3C"/>
                </a:solidFill>
                <a:latin typeface="여기어때 잘난체 고딕 TTF"/>
                <a:ea typeface="여기어때 잘난체 고딕 TTF"/>
                <a:cs typeface="Calibri"/>
              </a:rPr>
              <a:t>🎯  행동 시스템</a:t>
            </a:r>
            <a:endParaRPr lang="en-US" sz="1200">
              <a:latin typeface="여기어때 잘난체 고딕 TTF"/>
              <a:ea typeface="여기어때 잘난체 고딕 TTF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19472" y="4418511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07D8B"/>
                </a:solidFill>
                <a:latin typeface="여기어때 잘난체 고딕 TTF"/>
                <a:ea typeface="여기어때 잘난체 고딕 TTF"/>
                <a:cs typeface="Calibri"/>
              </a:rPr>
              <a:t>주당 5회  →  메인 행동  →  서브 행동 (2단계 선택)</a:t>
            </a:r>
            <a:endParaRPr lang="en-US" sz="1200">
              <a:latin typeface="여기어때 잘난체 고딕 TTF"/>
              <a:ea typeface="여기어때 잘난체 고딕 TTF"/>
            </a:endParaRPr>
          </a:p>
        </p:txBody>
      </p:sp>
      <p:sp>
        <p:nvSpPr>
          <p:cNvPr id="37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8" name="Shape 0"/>
          <p:cNvSpPr/>
          <p:nvPr/>
        </p:nvSpPr>
        <p:spPr>
          <a:xfrm>
            <a:off x="8851392" y="-3048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300">
                <a:solidFill>
                  <a:srgbClr val="1A2B3C"/>
                </a:solidFill>
                <a:latin typeface="SB 어그로 Bold"/>
                <a:ea typeface="SB 어그로 Bold"/>
                <a:cs typeface="Arial Black"/>
              </a:rPr>
              <a:t>핵심 기능 구현</a:t>
            </a:r>
            <a:endParaRPr lang="en-US" sz="3300">
              <a:latin typeface="SB 어그로 Bold"/>
              <a:ea typeface="SB 어그로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11480" y="1473708"/>
            <a:ext cx="3959352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11480" y="1473708"/>
            <a:ext cx="3959352" cy="429768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473708"/>
            <a:ext cx="388620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여기어때 잘난체 고딕 TTF"/>
                <a:ea typeface="여기어때 잘난체 고딕 TTF"/>
                <a:cs typeface="Calibri"/>
              </a:rPr>
              <a:t>🎒  아이템 &amp; 인벤토리</a:t>
            </a:r>
            <a:endParaRPr lang="en-US" sz="1400">
              <a:latin typeface="여기어때 잘난체 고딕 TTF"/>
              <a:ea typeface="여기어때 잘난체 고딕 TTF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9768" y="1949196"/>
            <a:ext cx="3941064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anchor="t"/>
          <a:lstStyle/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훈련 행동 시 40% 확률 아이템 획득</a:t>
            </a:r>
          </a:p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견과류 / 해바라기씨 / 고급 모이</a:t>
            </a:r>
          </a:p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보유 아이템만 먹이 선택지에 표시</a:t>
            </a:r>
            <a:endParaRPr lang="en-US" sz="1400">
              <a:latin typeface="배달의민족 주아"/>
              <a:ea typeface="배달의민족 주아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473708"/>
            <a:ext cx="3959352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473708"/>
            <a:ext cx="3959352" cy="4297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473708"/>
            <a:ext cx="388620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여기어때 잘난체 고딕 TTF"/>
                <a:ea typeface="여기어때 잘난체 고딕 TTF"/>
                <a:cs typeface="Calibri"/>
              </a:rPr>
              <a:t>😤  반항 이벤트</a:t>
            </a:r>
            <a:endParaRPr lang="en-US" sz="1400">
              <a:latin typeface="여기어때 잘난체 고딕 TTF"/>
              <a:ea typeface="여기어때 잘난체 고딕 TTF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73168" y="1949196"/>
            <a:ext cx="3941064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anchor="t"/>
          <a:lstStyle/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스트레스 50 이상 시 20% 확률 발동</a:t>
            </a:r>
          </a:p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반항 시 스트레스 +10 페널티</a:t>
            </a:r>
          </a:p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유아기(2주차) 이상부터 적용</a:t>
            </a:r>
            <a:endParaRPr lang="en-US" sz="1400">
              <a:latin typeface="배달의민족 주아"/>
              <a:ea typeface="배달의민족 주아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3393948"/>
            <a:ext cx="3959352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11480" y="3393948"/>
            <a:ext cx="3959352" cy="42976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1480" y="3393948"/>
            <a:ext cx="388620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여기어때 잘난체 고딕 TTF"/>
                <a:ea typeface="여기어때 잘난체 고딕 TTF"/>
                <a:cs typeface="Calibri"/>
              </a:rPr>
              <a:t>🩺  상태 체크 시스템</a:t>
            </a:r>
            <a:endParaRPr lang="en-US" sz="1400">
              <a:latin typeface="여기어때 잘난체 고딕 TTF"/>
              <a:ea typeface="여기어때 잘난체 고딕 TTF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9768" y="3869436"/>
            <a:ext cx="3941064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anchor="t"/>
          <a:lstStyle/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포만감 0 → 아사 (즉시 사망)</a:t>
            </a:r>
          </a:p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청결도 0 → 병사 (즉시 사망)</a:t>
            </a:r>
          </a:p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스트레스 90+도주 엔딩 발동</a:t>
            </a:r>
            <a:endParaRPr lang="en-US" sz="1400">
              <a:latin typeface="배달의민족 주아"/>
              <a:ea typeface="배달의민족 주아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3393948"/>
            <a:ext cx="3959352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D3C9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754880" y="3393948"/>
            <a:ext cx="3959352" cy="4297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54880" y="3393948"/>
            <a:ext cx="3886200" cy="429768"/>
          </a:xfrm>
          <a:prstGeom prst="rect">
            <a:avLst/>
          </a:prstGeom>
          <a:noFill/>
          <a:ln/>
        </p:spPr>
        <p:txBody>
          <a:bodyPr wrap="square" lIns="63500" tIns="63500" rIns="63500" bIns="63500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여기어때 잘난체 고딕 TTF"/>
                <a:ea typeface="여기어때 잘난체 고딕 TTF"/>
                <a:cs typeface="Calibri"/>
              </a:rPr>
              <a:t>🎨  ASCII 아트 UI</a:t>
            </a:r>
            <a:endParaRPr lang="en-US" sz="1400">
              <a:latin typeface="여기어때 잘난체 고딕 TTF"/>
              <a:ea typeface="여기어때 잘난체 고딕 TTF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73168" y="3869436"/>
            <a:ext cx="3941064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anchor="t"/>
          <a:lstStyle/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성장 단계별 아트 자동 전환</a:t>
            </a:r>
          </a:p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행동별 전용 아트 출력</a:t>
            </a:r>
          </a:p>
          <a:p>
            <a:pPr marL="285750" indent="-285750" algn="l"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SlowPrint로 스토리 연출 효과</a:t>
            </a:r>
            <a:endParaRPr lang="en-US" sz="1400">
              <a:latin typeface="배달의민족 주아"/>
              <a:ea typeface="배달의민족 주아"/>
            </a:endParaRPr>
          </a:p>
        </p:txBody>
      </p:sp>
      <p:sp>
        <p:nvSpPr>
          <p:cNvPr id="2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Shape 0"/>
          <p:cNvSpPr/>
          <p:nvPr/>
        </p:nvSpPr>
        <p:spPr>
          <a:xfrm>
            <a:off x="8851392" y="-3048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300">
                <a:solidFill>
                  <a:srgbClr val="1A2B3C"/>
                </a:solidFill>
                <a:latin typeface="SB 어그로 Bold"/>
                <a:ea typeface="SB 어그로 Bold"/>
                <a:cs typeface="Arial Black"/>
              </a:rPr>
              <a:t>엔딩 시스템  -  11가지 분기</a:t>
            </a:r>
            <a:endParaRPr lang="en-US" sz="3300">
              <a:latin typeface="SB 어그로 Bold"/>
              <a:ea typeface="SB 어그로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20040" y="1078992"/>
          <a:ext cx="8503920" cy="389534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400" b="0">
                          <a:solidFill>
                            <a:srgbClr val="FFFFFF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구분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FFFFFF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엔딩 이름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FFFFFF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발동 조건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 rowSpan="4"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400" b="0">
                          <a:solidFill>
                            <a:srgbClr val="C0392B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배드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아사 엔딩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포만감 </a:t>
                      </a:r>
                      <a:r>
                        <a:rPr lang="en-US" altLang="ko-KR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=</a:t>
                      </a:r>
                      <a:r>
                        <a:rPr lang="ko-KR" alt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 </a:t>
                      </a: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병사 엔딩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청결도 </a:t>
                      </a:r>
                      <a:r>
                        <a:rPr lang="en-US" altLang="ko-KR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=</a:t>
                      </a:r>
                      <a:r>
                        <a:rPr lang="ko-KR" alt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 </a:t>
                      </a: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도주 엔딩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스트레스 ≥</a:t>
                      </a:r>
                      <a:r>
                        <a:rPr lang="ko-KR" alt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 </a:t>
                      </a: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아쉬운 이별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8주 클리어, 만족도 ≤</a:t>
                      </a:r>
                      <a:r>
                        <a:rPr lang="ko-KR" alt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 </a:t>
                      </a: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400" b="0">
                          <a:solidFill>
                            <a:srgbClr val="607D8B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노말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아쉬운 이별 (방생)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만족도 36~50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 rowSpan="2"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400" b="0">
                          <a:solidFill>
                            <a:srgbClr val="27AE60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굿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예상치 못한 동거 / 방생 성공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만족도 51~75, 50%</a:t>
                      </a:r>
                      <a:r>
                        <a:rPr lang="ko-KR" alt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 확률로</a:t>
                      </a: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 랜덤 분기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앞으로도 잘 부탁해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만족도 ≥</a:t>
                      </a:r>
                      <a:r>
                        <a:rPr lang="ko-KR" alt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 </a:t>
                      </a: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 rowSpan="4"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400" b="0">
                          <a:solidFill>
                            <a:srgbClr val="7D3C98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히든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화석이 되어버린 알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1주차 행동 5번 모두 </a:t>
                      </a:r>
                      <a:r>
                        <a:rPr lang="en-US" altLang="ko-KR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‘</a:t>
                      </a: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방치하기</a:t>
                      </a:r>
                      <a:r>
                        <a:rPr lang="en-US" altLang="ko-KR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’</a:t>
                      </a:r>
                      <a:r>
                        <a:rPr lang="ko-KR" alt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 선택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새이기를 포기한거야?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포만감 100 + 만족도</a:t>
                      </a:r>
                      <a:r>
                        <a:rPr lang="ko-KR" alt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 </a:t>
                      </a: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≥ 85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1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너 덕분에 내가 인생 폈다!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훈련도 100 + 만족도 ≥</a:t>
                      </a:r>
                      <a:r>
                        <a:rPr lang="ko-KR" alt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 </a:t>
                      </a: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61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조류 잡지 모델이 되었다</a:t>
                      </a:r>
                      <a:endParaRPr lang="en-US" sz="1400" b="0">
                        <a:latin typeface="배달의민족 주아"/>
                        <a:ea typeface="배달의민족 주아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청결도 100 + 만족도 ≥</a:t>
                      </a:r>
                      <a:r>
                        <a:rPr lang="ko-KR" alt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 </a:t>
                      </a:r>
                      <a:r>
                        <a:rPr lang="en-US" sz="1400" b="0">
                          <a:solidFill>
                            <a:srgbClr val="1A2B3C"/>
                          </a:solidFill>
                          <a:latin typeface="배달의민족 주아"/>
                          <a:ea typeface="배달의민족 주아"/>
                          <a:cs typeface="Calibri"/>
                        </a:rPr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Shape 0"/>
          <p:cNvSpPr/>
          <p:nvPr/>
        </p:nvSpPr>
        <p:spPr>
          <a:xfrm>
            <a:off x="8851392" y="-3048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300">
                <a:solidFill>
                  <a:srgbClr val="1A2B3C"/>
                </a:solidFill>
                <a:latin typeface="SB 어그로 Bold"/>
                <a:ea typeface="SB 어그로 Bold"/>
                <a:cs typeface="Arial Black"/>
              </a:rPr>
              <a:t>문제 해결 &amp; 중간 → 최종 변경사항</a:t>
            </a:r>
            <a:endParaRPr lang="en-US" sz="3300">
              <a:latin typeface="SB 어그로 Bold"/>
              <a:ea typeface="SB 어그로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451710" y="1091184"/>
            <a:ext cx="201777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51710" y="1091184"/>
            <a:ext cx="2017776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51710" y="1091184"/>
            <a:ext cx="246888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01</a:t>
            </a:r>
            <a:endParaRPr lang="en-US" sz="1200">
              <a:latin typeface="배달의민족 주아"/>
              <a:ea typeface="배달의민족 주아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43150" y="1438656"/>
            <a:ext cx="2304288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한글 컴파일 오류</a:t>
            </a:r>
          </a:p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팀원별 Windows 코드페이지 </a:t>
            </a:r>
          </a:p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차이로</a:t>
            </a:r>
            <a:r>
              <a:rPr lang="ko-KR" alt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 </a:t>
            </a: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한글 문자열 컴파일 불가</a:t>
            </a:r>
          </a:p>
        </p:txBody>
      </p:sp>
      <p:sp>
        <p:nvSpPr>
          <p:cNvPr id="12" name="Shape 10"/>
          <p:cNvSpPr/>
          <p:nvPr/>
        </p:nvSpPr>
        <p:spPr>
          <a:xfrm>
            <a:off x="5674514" y="1088931"/>
            <a:ext cx="2317143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74514" y="1088931"/>
            <a:ext cx="2317143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674514" y="1088931"/>
            <a:ext cx="2317143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해결 방법</a:t>
            </a:r>
            <a:endParaRPr lang="en-US" sz="1200">
              <a:latin typeface="배달의민족 주아"/>
              <a:ea typeface="배달의민족 주아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86707" y="1436403"/>
            <a:ext cx="2304288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171450" indent="-171450" algn="l">
              <a:buFont typeface="Arial"/>
              <a:buChar char="•"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onsolas"/>
              </a:rPr>
              <a:t>/utf-8 옵션 적용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onsolas"/>
              </a:rPr>
              <a:t>#include &lt;windows.h&gt; 추가</a:t>
            </a:r>
            <a:endParaRPr lang="en-US" sz="1050">
              <a:latin typeface="배달의민족 주아"/>
              <a:ea typeface="배달의민족 주아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451710" y="2078736"/>
            <a:ext cx="201777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451710" y="2078736"/>
            <a:ext cx="2017776" cy="32918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451710" y="2078736"/>
            <a:ext cx="246888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02</a:t>
            </a:r>
            <a:endParaRPr lang="en-US" sz="1200">
              <a:latin typeface="배달의민족 주아"/>
              <a:ea typeface="배달의민족 주아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43150" y="2426208"/>
            <a:ext cx="2304288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런타임 한글 깨짐</a:t>
            </a:r>
          </a:p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터미널 출력 인코딩과</a:t>
            </a:r>
            <a:r>
              <a:rPr lang="en-US" sz="1050">
                <a:latin typeface="배달의민족 주아"/>
                <a:ea typeface="배달의민족 주아"/>
              </a:rPr>
              <a:t> </a:t>
            </a:r>
            <a:endParaRPr lang="en-US" sz="1050">
              <a:solidFill>
                <a:srgbClr val="1A2B3C"/>
              </a:solidFill>
              <a:latin typeface="배달의민족 주아"/>
              <a:ea typeface="배달의민족 주아"/>
              <a:cs typeface="Calibri"/>
            </a:endParaRPr>
          </a:p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소스 인코딩</a:t>
            </a:r>
            <a:r>
              <a:rPr lang="ko-KR" alt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 </a:t>
            </a: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불일치</a:t>
            </a:r>
          </a:p>
        </p:txBody>
      </p:sp>
      <p:sp>
        <p:nvSpPr>
          <p:cNvPr id="23" name="Shape 21"/>
          <p:cNvSpPr/>
          <p:nvPr/>
        </p:nvSpPr>
        <p:spPr>
          <a:xfrm>
            <a:off x="5674514" y="2076483"/>
            <a:ext cx="2317143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674514" y="2076483"/>
            <a:ext cx="2317143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674514" y="2076483"/>
            <a:ext cx="2317143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해결 방법</a:t>
            </a:r>
            <a:endParaRPr lang="en-US" sz="1200">
              <a:latin typeface="배달의민족 주아"/>
              <a:ea typeface="배달의민족 주아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86707" y="2423955"/>
            <a:ext cx="2304288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171450" indent="-171450" algn="l">
              <a:buFont typeface="Arial"/>
              <a:buChar char="•"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onsolas"/>
              </a:rPr>
              <a:t>system("chcp 65001") 호출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onsolas"/>
              </a:rPr>
              <a:t>SetConsoleOutputCP(65001) 설정</a:t>
            </a:r>
            <a:endParaRPr lang="en-US" sz="1050">
              <a:latin typeface="배달의민족 주아"/>
              <a:ea typeface="배달의민족 주아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451710" y="3066288"/>
            <a:ext cx="201777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451710" y="3066288"/>
            <a:ext cx="2017776" cy="329184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451710" y="3066288"/>
            <a:ext cx="246888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03</a:t>
            </a:r>
            <a:endParaRPr lang="en-US" sz="1200">
              <a:latin typeface="배달의민족 주아"/>
              <a:ea typeface="배달의민족 주아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543150" y="3413760"/>
            <a:ext cx="2304288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행동 횟수 7회 버그</a:t>
            </a:r>
          </a:p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daily_count / week_count</a:t>
            </a:r>
          </a:p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두 변수 </a:t>
            </a:r>
            <a:r>
              <a:rPr lang="ko-KR" alt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충돌</a:t>
            </a: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로 오류 발생</a:t>
            </a:r>
          </a:p>
        </p:txBody>
      </p:sp>
      <p:sp>
        <p:nvSpPr>
          <p:cNvPr id="34" name="Shape 32"/>
          <p:cNvSpPr/>
          <p:nvPr/>
        </p:nvSpPr>
        <p:spPr>
          <a:xfrm>
            <a:off x="5674514" y="3064035"/>
            <a:ext cx="2317143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674514" y="3064035"/>
            <a:ext cx="2317143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674514" y="3064035"/>
            <a:ext cx="2317143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해결 방법</a:t>
            </a:r>
            <a:endParaRPr lang="en-US" sz="1200">
              <a:latin typeface="배달의민족 주아"/>
              <a:ea typeface="배달의민족 주아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86707" y="3411507"/>
            <a:ext cx="2304288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171450" indent="-171450" algn="l">
              <a:buFont typeface="Arial"/>
              <a:buChar char="•"/>
              <a:defRPr/>
            </a:pPr>
            <a:r>
              <a:rPr lang="en-US" altLang="ko-KR" sz="1050">
                <a:solidFill>
                  <a:srgbClr val="1A2B3C"/>
                </a:solidFill>
                <a:latin typeface="배달의민족 주아"/>
                <a:ea typeface="배달의민족 주아"/>
                <a:cs typeface="Consolas"/>
              </a:rPr>
              <a:t>daily</a:t>
            </a: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onsolas"/>
              </a:rPr>
              <a:t>_count </a:t>
            </a:r>
            <a:r>
              <a:rPr lang="ko-KR" alt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onsolas"/>
              </a:rPr>
              <a:t>삭제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onsolas"/>
              </a:rPr>
              <a:t>행동 횟수 5회 정상화</a:t>
            </a:r>
            <a:endParaRPr lang="en-US" sz="1050">
              <a:latin typeface="배달의민족 주아"/>
              <a:ea typeface="배달의민족 주아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451710" y="4053840"/>
            <a:ext cx="201777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451710" y="4053840"/>
            <a:ext cx="2017776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451710" y="4053840"/>
            <a:ext cx="246888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04</a:t>
            </a:r>
            <a:endParaRPr lang="en-US" sz="1200">
              <a:latin typeface="배달의민족 주아"/>
              <a:ea typeface="배달의민족 주아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543150" y="4401312"/>
            <a:ext cx="2304288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엔딩 밸런스 조정</a:t>
            </a:r>
          </a:p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히든엔딩 조건 만족도 100+수치 100</a:t>
            </a:r>
          </a:p>
          <a:p>
            <a:pPr marL="0" indent="0" algn="l">
              <a:buNone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alibri"/>
              </a:rPr>
              <a:t>실제 플레이에서 달성 불가능</a:t>
            </a:r>
            <a:endParaRPr lang="en-US" sz="1050">
              <a:latin typeface="배달의민족 주아"/>
              <a:ea typeface="배달의민족 주아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674514" y="4051587"/>
            <a:ext cx="2317143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5674514" y="4051587"/>
            <a:ext cx="2317143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674514" y="4051587"/>
            <a:ext cx="2317143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해결 방법</a:t>
            </a:r>
            <a:endParaRPr lang="en-US" sz="1200">
              <a:latin typeface="배달의민족 주아"/>
              <a:ea typeface="배달의민족 주아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686707" y="4399059"/>
            <a:ext cx="2304288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171450" indent="-171450" algn="l">
              <a:buFont typeface="Arial"/>
              <a:buChar char="•"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onsolas"/>
              </a:rPr>
              <a:t>만족도 100 만족도 85로 완화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sz="1050">
                <a:solidFill>
                  <a:srgbClr val="1A2B3C"/>
                </a:solidFill>
                <a:latin typeface="배달의민족 주아"/>
                <a:ea typeface="배달의민족 주아"/>
                <a:cs typeface="Consolas"/>
              </a:rPr>
              <a:t>배드엔딩 만족도 25 -&gt; 35로 상향</a:t>
            </a:r>
            <a:endParaRPr lang="en-US" sz="1050">
              <a:latin typeface="배달의민족 주아"/>
              <a:ea typeface="배달의민족 주아"/>
            </a:endParaRPr>
          </a:p>
        </p:txBody>
      </p:sp>
      <p:sp>
        <p:nvSpPr>
          <p:cNvPr id="51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2" name="Shape 0"/>
          <p:cNvSpPr/>
          <p:nvPr/>
        </p:nvSpPr>
        <p:spPr>
          <a:xfrm>
            <a:off x="8851392" y="-3048"/>
            <a:ext cx="292608" cy="5143500"/>
          </a:xfrm>
          <a:prstGeom prst="rect">
            <a:avLst/>
          </a:prstGeom>
          <a:solidFill>
            <a:srgbClr val="3FBFA6">
              <a:alpha val="50000"/>
            </a:srgbClr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3" name="화살표: 갈매기형 수장 52"/>
          <p:cNvSpPr/>
          <p:nvPr/>
        </p:nvSpPr>
        <p:spPr>
          <a:xfrm>
            <a:off x="4354665" y="1328199"/>
            <a:ext cx="425659" cy="425659"/>
          </a:xfrm>
          <a:prstGeom prst="chevron">
            <a:avLst>
              <a:gd name="adj" fmla="val 50000"/>
            </a:avLst>
          </a:prstGeom>
          <a:solidFill>
            <a:srgbClr val="3FBFA6"/>
          </a:solidFill>
          <a:ln>
            <a:solidFill>
              <a:srgbClr val="1A2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화살표: 갈매기형 수장 53"/>
          <p:cNvSpPr/>
          <p:nvPr/>
        </p:nvSpPr>
        <p:spPr>
          <a:xfrm>
            <a:off x="4354666" y="2313962"/>
            <a:ext cx="425659" cy="425659"/>
          </a:xfrm>
          <a:prstGeom prst="chevron">
            <a:avLst>
              <a:gd name="adj" fmla="val 50000"/>
            </a:avLst>
          </a:prstGeom>
          <a:solidFill>
            <a:srgbClr val="3FBFA6"/>
          </a:solidFill>
          <a:ln>
            <a:solidFill>
              <a:srgbClr val="1A2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화살표: 갈매기형 수장 54"/>
          <p:cNvSpPr/>
          <p:nvPr/>
        </p:nvSpPr>
        <p:spPr>
          <a:xfrm>
            <a:off x="4354666" y="3226308"/>
            <a:ext cx="425659" cy="425659"/>
          </a:xfrm>
          <a:prstGeom prst="chevron">
            <a:avLst>
              <a:gd name="adj" fmla="val 50000"/>
            </a:avLst>
          </a:prstGeom>
          <a:solidFill>
            <a:srgbClr val="3FBFA6"/>
          </a:solidFill>
          <a:ln>
            <a:solidFill>
              <a:srgbClr val="1A2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화살표: 갈매기형 수장 55"/>
          <p:cNvSpPr/>
          <p:nvPr/>
        </p:nvSpPr>
        <p:spPr>
          <a:xfrm>
            <a:off x="4354665" y="4188482"/>
            <a:ext cx="425659" cy="425659"/>
          </a:xfrm>
          <a:prstGeom prst="chevron">
            <a:avLst>
              <a:gd name="adj" fmla="val 50000"/>
            </a:avLst>
          </a:prstGeom>
          <a:solidFill>
            <a:srgbClr val="3FBFA6"/>
          </a:solidFill>
          <a:ln>
            <a:solidFill>
              <a:srgbClr val="1A2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137916" y="2151127"/>
            <a:ext cx="2868168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400">
                <a:solidFill>
                  <a:srgbClr val="FFFFFF"/>
                </a:solidFill>
                <a:latin typeface="SB 어그로 Bold"/>
                <a:ea typeface="SB 어그로 Bold"/>
                <a:cs typeface="Arial Black"/>
              </a:rPr>
              <a:t>게임</a:t>
            </a:r>
            <a:r>
              <a:rPr lang="en-US" sz="5400" b="1">
                <a:solidFill>
                  <a:srgbClr val="FFFFFF"/>
                </a:solidFill>
                <a:latin typeface="SB 어그로 Bold"/>
                <a:ea typeface="SB 어그로 Bold"/>
                <a:cs typeface="Arial Black"/>
              </a:rPr>
              <a:t> 시연</a:t>
            </a:r>
            <a:endParaRPr lang="en-US" sz="5400">
              <a:latin typeface="SB 어그로 Bold"/>
              <a:ea typeface="SB 어그로 Bol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48409" y="3175254"/>
            <a:ext cx="6046852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 algn="ctr">
              <a:defRPr/>
            </a:pPr>
            <a:r>
              <a:rPr lang="en-US" sz="1600" b="1">
                <a:solidFill>
                  <a:srgbClr val="607D8B"/>
                </a:solidFill>
                <a:latin typeface="CookieRunOTF Regular"/>
                <a:ea typeface="CookieRunOTF Regular"/>
                <a:cs typeface="Calibri"/>
              </a:rPr>
              <a:t>YouTube:  </a:t>
            </a:r>
            <a:r>
              <a:rPr lang="en-US" sz="1600">
                <a:solidFill>
                  <a:srgbClr val="607D8B"/>
                </a:solidFill>
                <a:latin typeface="CookieRunOTF Regular"/>
                <a:ea typeface="CookieRunOTF Regular"/>
                <a:cs typeface="Calibri"/>
              </a:rPr>
              <a:t>https://www.youtube.com/watch?v=R_kRyPf1t8g</a:t>
            </a:r>
            <a:endParaRPr lang="en-US" sz="1600">
              <a:latin typeface="CookieRunOTF Regular"/>
              <a:ea typeface="CookieRunOTF Regular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292608" y="2992373"/>
            <a:ext cx="8851392" cy="45719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FFFFFF"/>
                </a:solidFill>
                <a:latin typeface="SB 어그로 Bold"/>
                <a:ea typeface="SB 어그로 Bold"/>
                <a:cs typeface="Arial Black"/>
              </a:rPr>
              <a:t>프로젝트 성과  &amp;  향후 계획</a:t>
            </a:r>
            <a:endParaRPr lang="en-US" sz="3000">
              <a:latin typeface="SB 어그로 Bold"/>
              <a:ea typeface="SB 어그로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65960" cy="1828800"/>
          </a:xfrm>
          <a:prstGeom prst="rect">
            <a:avLst/>
          </a:prstGeom>
          <a:solidFill>
            <a:srgbClr val="0D1F2D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ko-KR" altLang="en-US" sz="2600" dirty="0">
                <a:solidFill>
                  <a:schemeClr val="lt1"/>
                </a:solidFill>
              </a:rPr>
              <a:t>🏗️</a:t>
            </a:r>
            <a:endParaRPr lang="en-US" altLang="ko-KR" sz="2600" dirty="0">
              <a:solidFill>
                <a:schemeClr val="l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3FBFA6"/>
                </a:solidFill>
                <a:latin typeface="SB 어그로 Bold"/>
                <a:ea typeface="SB 어그로 Bold"/>
                <a:cs typeface="Calibri"/>
              </a:rPr>
              <a:t>객체지향 설계</a:t>
            </a:r>
            <a:endParaRPr lang="en-US" sz="1500">
              <a:latin typeface="SB 어그로 Bold"/>
              <a:ea typeface="SB 어그로 Bol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2167128"/>
            <a:ext cx="1947672" cy="49606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ookieRunOTF Regular"/>
                <a:ea typeface="CookieRunOTF Regular"/>
                <a:cs typeface="Calibri"/>
              </a:rPr>
              <a:t>5개 클래스 역할 명확 분리</a:t>
            </a:r>
          </a:p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ookieRunOTF Regular"/>
                <a:ea typeface="CookieRunOTF Regular"/>
                <a:cs typeface="Calibri"/>
              </a:rPr>
              <a:t>캡슐화·포인터 관리 실습</a:t>
            </a:r>
            <a:endParaRPr lang="en-US" sz="1300">
              <a:latin typeface="CookieRunOTF Regular"/>
              <a:ea typeface="CookieRunOTF Regular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06040" y="1051560"/>
            <a:ext cx="1965960" cy="1828800"/>
          </a:xfrm>
          <a:prstGeom prst="rect">
            <a:avLst/>
          </a:prstGeom>
          <a:solidFill>
            <a:srgbClr val="0D1F2D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606040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chemeClr val="lt1"/>
                </a:solidFill>
              </a:rPr>
              <a:t>🎮</a:t>
            </a:r>
          </a:p>
        </p:txBody>
      </p:sp>
      <p:sp>
        <p:nvSpPr>
          <p:cNvPr id="10" name="Text 8"/>
          <p:cNvSpPr/>
          <p:nvPr/>
        </p:nvSpPr>
        <p:spPr>
          <a:xfrm>
            <a:off x="2606040" y="1691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3FBFA6"/>
                </a:solidFill>
                <a:latin typeface="SB 어그로 Bold"/>
                <a:ea typeface="SB 어그로 Bold"/>
                <a:cs typeface="Calibri"/>
              </a:rPr>
              <a:t>게임 로직 완성</a:t>
            </a:r>
            <a:endParaRPr lang="en-US" sz="1500">
              <a:latin typeface="SB 어그로 Bold"/>
              <a:ea typeface="SB 어그로 Bol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24328" y="2167128"/>
            <a:ext cx="1947672" cy="49606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ookieRunOTF Regular"/>
                <a:ea typeface="CookieRunOTF Regular"/>
                <a:cs typeface="Calibri"/>
              </a:rPr>
              <a:t>8주 흐름·성장·엔딩 분기</a:t>
            </a:r>
          </a:p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ookieRunOTF Regular"/>
                <a:ea typeface="CookieRunOTF Regular"/>
                <a:cs typeface="Calibri"/>
              </a:rPr>
              <a:t>핵심 기획 100% 구현</a:t>
            </a:r>
            <a:endParaRPr lang="en-US" sz="1300">
              <a:latin typeface="CookieRunOTF Regular"/>
              <a:ea typeface="CookieRunOTF Regula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965960" cy="1828800"/>
          </a:xfrm>
          <a:prstGeom prst="rect">
            <a:avLst/>
          </a:prstGeom>
          <a:solidFill>
            <a:srgbClr val="0D1F2D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chemeClr val="lt1"/>
                </a:solidFill>
              </a:rPr>
              <a:t>🌐</a:t>
            </a:r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3FBFA6"/>
                </a:solidFill>
                <a:latin typeface="SB 어그로 Bold"/>
                <a:ea typeface="SB 어그로 Bold"/>
                <a:cs typeface="Calibri"/>
              </a:rPr>
              <a:t>한글 I/O 해결</a:t>
            </a:r>
            <a:endParaRPr lang="en-US" sz="1500">
              <a:latin typeface="SB 어그로 Bold"/>
              <a:ea typeface="SB 어그로 Bol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73168" y="2167128"/>
            <a:ext cx="1947672" cy="49606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ookieRunOTF Regular"/>
                <a:ea typeface="CookieRunOTF Regular"/>
                <a:cs typeface="Calibri"/>
              </a:rPr>
              <a:t>UTF-8 인코딩 설정</a:t>
            </a:r>
          </a:p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ookieRunOTF Regular"/>
                <a:ea typeface="CookieRunOTF Regular"/>
                <a:cs typeface="Calibri"/>
              </a:rPr>
              <a:t>Windows 콘솔 안정 동작</a:t>
            </a:r>
            <a:endParaRPr lang="en-US" sz="1300">
              <a:latin typeface="CookieRunOTF Regular"/>
              <a:ea typeface="CookieRunOTF Regular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03720" y="1051560"/>
            <a:ext cx="1965960" cy="1828800"/>
          </a:xfrm>
          <a:prstGeom prst="rect">
            <a:avLst/>
          </a:prstGeom>
          <a:solidFill>
            <a:srgbClr val="0D1F2D"/>
          </a:solidFill>
          <a:ln w="12700">
            <a:solidFill>
              <a:srgbClr val="3FB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903720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chemeClr val="lt1"/>
                </a:solidFill>
              </a:rPr>
              <a:t>🏆</a:t>
            </a:r>
          </a:p>
        </p:txBody>
      </p:sp>
      <p:sp>
        <p:nvSpPr>
          <p:cNvPr id="18" name="Text 16"/>
          <p:cNvSpPr/>
          <p:nvPr/>
        </p:nvSpPr>
        <p:spPr>
          <a:xfrm>
            <a:off x="6903720" y="1691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3FBFA6"/>
                </a:solidFill>
                <a:latin typeface="SB 어그로 Bold"/>
                <a:ea typeface="SB 어그로 Bold"/>
                <a:cs typeface="Calibri"/>
              </a:rPr>
              <a:t>11가지 엔딩</a:t>
            </a:r>
            <a:endParaRPr lang="en-US" sz="1500">
              <a:latin typeface="SB 어그로 Bold"/>
              <a:ea typeface="SB 어그로 Bol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22008" y="2167128"/>
            <a:ext cx="1947672" cy="49606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ookieRunOTF Regular"/>
                <a:ea typeface="CookieRunOTF Regular"/>
                <a:cs typeface="Calibri"/>
              </a:rPr>
              <a:t>아이템·반항 시스템</a:t>
            </a:r>
          </a:p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ookieRunOTF Regular"/>
                <a:ea typeface="CookieRunOTF Regular"/>
                <a:cs typeface="Calibri"/>
              </a:rPr>
              <a:t>전용 아스키 아트 완성</a:t>
            </a:r>
            <a:endParaRPr lang="en-US" sz="1300">
              <a:latin typeface="CookieRunOTF Regular"/>
              <a:ea typeface="CookieRunOTF Regular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035808"/>
            <a:ext cx="8385048" cy="347472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8640" y="3035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  <a:latin typeface="여기어때 잘난체 고딕 TTF"/>
                <a:ea typeface="여기어때 잘난체 고딕 TTF"/>
                <a:cs typeface="Calibri"/>
              </a:rPr>
              <a:t>향후</a:t>
            </a:r>
            <a:r>
              <a:rPr lang="en-US" sz="1400" b="1">
                <a:solidFill>
                  <a:srgbClr val="FFFFFF"/>
                </a:solidFill>
                <a:latin typeface="여기어때 잘난체 고딕 TTF"/>
                <a:ea typeface="여기어때 잘난체 고딕 TTF"/>
                <a:cs typeface="Calibri"/>
              </a:rPr>
              <a:t> 개선 방향</a:t>
            </a:r>
            <a:endParaRPr lang="en-US" sz="1400">
              <a:latin typeface="여기어때 잘난체 고딕 TTF"/>
              <a:ea typeface="여기어때 잘난체 고딕 TTF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49324" y="36484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450" dirty="0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💾  </a:t>
            </a:r>
            <a:r>
              <a:rPr lang="en-US" sz="1450" dirty="0" err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저장</a:t>
            </a:r>
            <a:r>
              <a:rPr lang="en-US" sz="1450" dirty="0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 / </a:t>
            </a:r>
            <a:r>
              <a:rPr lang="en-US" sz="1450" dirty="0" err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불러오기</a:t>
            </a:r>
            <a:r>
              <a:rPr lang="en-US" sz="1450" dirty="0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 (</a:t>
            </a:r>
            <a:r>
              <a:rPr lang="en-US" sz="1450" dirty="0" err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파일</a:t>
            </a:r>
            <a:r>
              <a:rPr lang="en-US" sz="1450" dirty="0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 I/O)</a:t>
            </a:r>
            <a:endParaRPr lang="en-US" sz="1450" dirty="0">
              <a:latin typeface="배달의민족 주아"/>
              <a:ea typeface="배달의민족 주아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49324" y="40325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defRPr/>
            </a:pPr>
            <a:r>
              <a:rPr lang="ko-KR" altLang="ko-KR" sz="1600" dirty="0"/>
              <a:t>🖥️</a:t>
            </a:r>
            <a:r>
              <a:rPr lang="en-US" sz="1450" dirty="0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  GUI </a:t>
            </a:r>
            <a:r>
              <a:rPr lang="en-US" sz="1450" dirty="0" err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라이브러리</a:t>
            </a:r>
            <a:r>
              <a:rPr lang="en-US" sz="1450" dirty="0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 </a:t>
            </a:r>
            <a:r>
              <a:rPr lang="en-US" sz="1450" dirty="0" err="1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도입</a:t>
            </a:r>
            <a:endParaRPr lang="en-US" sz="1450" dirty="0">
              <a:latin typeface="배달의민족 주아"/>
              <a:ea typeface="배달의민족 주아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449324" y="4416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450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🎯  난이도 선택 기능</a:t>
            </a:r>
            <a:endParaRPr lang="en-US" sz="1450">
              <a:latin typeface="배달의민족 주아"/>
              <a:ea typeface="배달의민족 주아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73168" y="3685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450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🔓  엔딩 조건 및 종류 확장</a:t>
            </a:r>
            <a:endParaRPr lang="en-US" sz="1450">
              <a:latin typeface="배달의민족 주아"/>
              <a:ea typeface="배달의민족 주아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54880" y="4069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450">
                <a:solidFill>
                  <a:srgbClr val="FFFFFF"/>
                </a:solidFill>
                <a:latin typeface="배달의민족 주아"/>
                <a:ea typeface="배달의민족 주아"/>
                <a:cs typeface="Calibri"/>
              </a:rPr>
              <a:t>🎨  행동별 아스키 아트 다양화</a:t>
            </a:r>
            <a:endParaRPr lang="en-US" sz="1450">
              <a:latin typeface="배달의민족 주아"/>
              <a:ea typeface="배달의민족 주아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9377-28FB-AE28-F63F-A65EAD045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5BFB2AD8-26A2-C502-5717-7FB825EB828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1650FB3-1868-9479-79C7-E9BBCC742C5E}"/>
              </a:ext>
            </a:extLst>
          </p:cNvPr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6650916A-32B4-D175-BB61-74965C81ACFC}"/>
              </a:ext>
            </a:extLst>
          </p:cNvPr>
          <p:cNvSpPr/>
          <p:nvPr/>
        </p:nvSpPr>
        <p:spPr>
          <a:xfrm>
            <a:off x="292608" y="2992373"/>
            <a:ext cx="8851392" cy="45719"/>
          </a:xfrm>
          <a:prstGeom prst="rect">
            <a:avLst/>
          </a:prstGeom>
          <a:solidFill>
            <a:srgbClr val="3FBFA6"/>
          </a:solidFill>
          <a:ln w="12700">
            <a:solidFill>
              <a:srgbClr val="3FBFA6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CD266DA-64BF-43FA-36E2-DDDE8D84FB7D}"/>
              </a:ext>
            </a:extLst>
          </p:cNvPr>
          <p:cNvSpPr/>
          <p:nvPr/>
        </p:nvSpPr>
        <p:spPr>
          <a:xfrm>
            <a:off x="2185606" y="2114550"/>
            <a:ext cx="5065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kern="0" spc="300" dirty="0" err="1">
                <a:solidFill>
                  <a:schemeClr val="bg1"/>
                </a:solidFill>
                <a:latin typeface="여기어때 잘난체 고딕 TTF" pitchFamily="2" charset="-127"/>
                <a:ea typeface="여기어때 잘난체 고딕 TTF" pitchFamily="2" charset="-127"/>
                <a:cs typeface="Arial Black" pitchFamily="34" charset="-120"/>
              </a:rPr>
              <a:t>감사합니다</a:t>
            </a:r>
            <a:r>
              <a:rPr lang="en-US" altLang="ko-KR" sz="5400" b="1" kern="0" spc="300" dirty="0">
                <a:solidFill>
                  <a:schemeClr val="bg1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Arial Black" pitchFamily="34" charset="-120"/>
              </a:rPr>
              <a:t> 🐦</a:t>
            </a:r>
            <a:endParaRPr lang="en-US" altLang="ko-KR" sz="5400" dirty="0">
              <a:solidFill>
                <a:schemeClr val="bg1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FAE79F37-D892-0C58-173E-DF50441E6B34}"/>
              </a:ext>
            </a:extLst>
          </p:cNvPr>
          <p:cNvSpPr/>
          <p:nvPr/>
        </p:nvSpPr>
        <p:spPr>
          <a:xfrm>
            <a:off x="4056554" y="3321558"/>
            <a:ext cx="1323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607D8B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Calibri" pitchFamily="34" charset="-120"/>
              </a:rPr>
              <a:t>Q &amp; A</a:t>
            </a:r>
            <a:endParaRPr lang="en-US" sz="3200" dirty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2659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788</Words>
  <Application>Microsoft Office PowerPoint</Application>
  <PresentationFormat>화면 슬라이드 쇼(16:9)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Arial Black</vt:lpstr>
      <vt:lpstr>배달의민족 주아</vt:lpstr>
      <vt:lpstr>CookieRunOTF Regular</vt:lpstr>
      <vt:lpstr>CookieRunOTF Bold</vt:lpstr>
      <vt:lpstr>여기어때 잘난체 고딕 TTF</vt:lpstr>
      <vt:lpstr>SB 어그로 Bold</vt:lpstr>
      <vt:lpstr>Arial</vt:lpstr>
      <vt:lpstr>Cafe24 Ssurround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새 키우기 최종 발표</dc:title>
  <dc:subject>PptxGenJS Presentation</dc:subject>
  <dc:creator>jun</dc:creator>
  <cp:lastModifiedBy>리닛 프</cp:lastModifiedBy>
  <cp:revision>21</cp:revision>
  <dcterms:created xsi:type="dcterms:W3CDTF">2026-06-07T15:54:55Z</dcterms:created>
  <dcterms:modified xsi:type="dcterms:W3CDTF">2026-06-10T07:15:54Z</dcterms:modified>
  <cp:version>1000.0000.01</cp:version>
</cp:coreProperties>
</file>