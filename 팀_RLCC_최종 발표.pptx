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5143500" cy="9144000"/>
  <p:embeddedFontLst>
    <p:embeddedFont>
      <p:font typeface="Arial Black" panose="020B0A04020102020204" pitchFamily="34" charset="0"/>
      <p:bold r:id="rId14"/>
    </p:embeddedFont>
    <p:embeddedFont>
      <p:font typeface="Cafe24 Ssurround Bold" panose="020F0800000000000000" pitchFamily="50" charset="-127"/>
      <p:bold r:id="rId15"/>
    </p:embeddedFont>
    <p:embeddedFont>
      <p:font typeface="CookieRunOTF Bold" panose="020B0600000101010101" pitchFamily="34" charset="-127"/>
      <p:bold r:id="rId16"/>
    </p:embeddedFont>
    <p:embeddedFont>
      <p:font typeface="CookieRunOTF Regular" panose="020B0600000101010101" pitchFamily="34" charset="-127"/>
      <p:regular r:id="rId17"/>
    </p:embeddedFont>
    <p:embeddedFont>
      <p:font typeface="SB 어그로 Bold" panose="02020603020101020101" pitchFamily="18" charset="-127"/>
      <p:regular r:id="rId18"/>
    </p:embeddedFont>
    <p:embeddedFont>
      <p:font typeface="배달의민족 주아" panose="02020603020101020101" pitchFamily="18" charset="-127"/>
      <p:regular r:id="rId19"/>
    </p:embeddedFont>
    <p:embeddedFont>
      <p:font typeface="여기어때 잘난체 고딕 TTF" pitchFamily="2" charset="-127"/>
      <p:regular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87A6A"/>
    <a:srgbClr val="22685B"/>
    <a:srgbClr val="319784"/>
    <a:srgbClr val="287C6C"/>
    <a:srgbClr val="18483F"/>
    <a:srgbClr val="3FBFA6"/>
    <a:srgbClr val="F3F6F9"/>
    <a:srgbClr val="1A2B3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46" d="100"/>
          <a:sy n="146" d="100"/>
        </p:scale>
        <p:origin x="59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font" Target="fonts/font5.fntdata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4.fntdata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0" Type="http://schemas.openxmlformats.org/officeDocument/2006/relationships/font" Target="fonts/font7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6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966897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C30C41-4483-849C-3897-7587F4A316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1E75290-4F12-5061-39A2-AB21FE47EF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3059C3E-0C2C-6E0D-CB03-BCCC04FCF2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383C43-80E3-55FB-794A-C8EE2A7CF3D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952224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B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92608" cy="5143500"/>
          </a:xfrm>
          <a:prstGeom prst="rect">
            <a:avLst/>
          </a:prstGeom>
          <a:solidFill>
            <a:srgbClr val="3FBFA6"/>
          </a:solidFill>
          <a:ln w="12700">
            <a:solidFill>
              <a:srgbClr val="3FBFA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760720" y="411480"/>
            <a:ext cx="3108960" cy="4297680"/>
          </a:xfrm>
          <a:prstGeom prst="rect">
            <a:avLst/>
          </a:prstGeom>
          <a:solidFill>
            <a:srgbClr val="0D1F2D"/>
          </a:solidFill>
          <a:ln w="12700">
            <a:solidFill>
              <a:srgbClr val="3FBFA6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" name="Text 3"/>
          <p:cNvSpPr/>
          <p:nvPr/>
        </p:nvSpPr>
        <p:spPr>
          <a:xfrm>
            <a:off x="457200" y="822960"/>
            <a:ext cx="5029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5600" b="1" kern="0" spc="300" dirty="0">
                <a:solidFill>
                  <a:srgbClr val="FFFFFF"/>
                </a:solidFill>
                <a:latin typeface="SB 어그로 Bold" panose="02020603020101020101" pitchFamily="18" charset="-127"/>
                <a:ea typeface="SB 어그로 Bold" panose="02020603020101020101" pitchFamily="18" charset="-127"/>
                <a:cs typeface="Arial Black" pitchFamily="34" charset="-120"/>
              </a:rPr>
              <a:t>새 키우기</a:t>
            </a:r>
            <a:endParaRPr lang="en-US" sz="5600" dirty="0">
              <a:latin typeface="SB 어그로 Bold" panose="02020603020101020101" pitchFamily="18" charset="-127"/>
              <a:ea typeface="SB 어그로 Bold" panose="02020603020101020101" pitchFamily="18" charset="-127"/>
            </a:endParaRPr>
          </a:p>
        </p:txBody>
      </p:sp>
      <p:sp>
        <p:nvSpPr>
          <p:cNvPr id="6" name="Text 4"/>
          <p:cNvSpPr/>
          <p:nvPr/>
        </p:nvSpPr>
        <p:spPr>
          <a:xfrm>
            <a:off x="457200" y="21488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3FBFA6"/>
                </a:solidFill>
                <a:latin typeface="CookieRunOTF Bold" panose="020B0600000101010101" pitchFamily="34" charset="-127"/>
                <a:ea typeface="CookieRunOTF Bold" panose="020B0600000101010101" pitchFamily="34" charset="-127"/>
                <a:cs typeface="Calibri" pitchFamily="34" charset="-120"/>
              </a:rPr>
              <a:t>BirdRaise  —  C++ 콘솔 육성 시뮬레이션</a:t>
            </a:r>
            <a:endParaRPr lang="en-US" sz="1500" dirty="0">
              <a:latin typeface="CookieRunOTF Bold" panose="020B0600000101010101" pitchFamily="34" charset="-127"/>
              <a:ea typeface="CookieRunOTF Bold" panose="020B0600000101010101" pitchFamily="34" charset="-127"/>
            </a:endParaRPr>
          </a:p>
        </p:txBody>
      </p:sp>
      <p:sp>
        <p:nvSpPr>
          <p:cNvPr id="7" name="Text 5"/>
          <p:cNvSpPr/>
          <p:nvPr/>
        </p:nvSpPr>
        <p:spPr>
          <a:xfrm>
            <a:off x="457200" y="2788920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3FBFA6"/>
                </a:solidFill>
                <a:latin typeface="CookieRunOTF Regular" panose="020B0600000101010101" pitchFamily="34" charset="-127"/>
                <a:ea typeface="CookieRunOTF Regular" panose="020B0600000101010101" pitchFamily="34" charset="-127"/>
                <a:cs typeface="Calibri" pitchFamily="34" charset="-120"/>
              </a:rPr>
              <a:t>팀명  </a:t>
            </a:r>
            <a:r>
              <a:rPr lang="en-US" sz="1400" dirty="0">
                <a:solidFill>
                  <a:srgbClr val="FFFFFF"/>
                </a:solidFill>
                <a:latin typeface="CookieRunOTF Regular" panose="020B0600000101010101" pitchFamily="34" charset="-127"/>
                <a:ea typeface="CookieRunOTF Regular" panose="020B0600000101010101" pitchFamily="34" charset="-127"/>
                <a:cs typeface="Calibri" pitchFamily="34" charset="-120"/>
              </a:rPr>
              <a:t>RLCC
</a:t>
            </a:r>
            <a:r>
              <a:rPr lang="en-US" sz="1400" b="1" dirty="0">
                <a:solidFill>
                  <a:srgbClr val="3FBFA6"/>
                </a:solidFill>
                <a:latin typeface="CookieRunOTF Regular" panose="020B0600000101010101" pitchFamily="34" charset="-127"/>
                <a:ea typeface="CookieRunOTF Regular" panose="020B0600000101010101" pitchFamily="34" charset="-127"/>
                <a:cs typeface="Calibri" pitchFamily="34" charset="-120"/>
              </a:rPr>
              <a:t>팀원  </a:t>
            </a:r>
            <a:r>
              <a:rPr lang="en-US" sz="1400" dirty="0">
                <a:solidFill>
                  <a:srgbClr val="FFFFFF"/>
                </a:solidFill>
                <a:latin typeface="CookieRunOTF Regular" panose="020B0600000101010101" pitchFamily="34" charset="-127"/>
                <a:ea typeface="CookieRunOTF Regular" panose="020B0600000101010101" pitchFamily="34" charset="-127"/>
                <a:cs typeface="Calibri" pitchFamily="34" charset="-120"/>
              </a:rPr>
              <a:t>유이레  ·  이준규  ·  최승민  ·  최연채</a:t>
            </a:r>
            <a:endParaRPr lang="en-US" sz="1400" dirty="0">
              <a:latin typeface="CookieRunOTF Regular" panose="020B0600000101010101" pitchFamily="34" charset="-127"/>
              <a:ea typeface="CookieRunOTF Regular" panose="020B0600000101010101" pitchFamily="34" charset="-127"/>
            </a:endParaRPr>
          </a:p>
        </p:txBody>
      </p:sp>
      <p:sp>
        <p:nvSpPr>
          <p:cNvPr id="8" name="Text 6"/>
          <p:cNvSpPr/>
          <p:nvPr/>
        </p:nvSpPr>
        <p:spPr>
          <a:xfrm>
            <a:off x="457200" y="466344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07D8B"/>
                </a:solidFill>
                <a:latin typeface="CookieRunOTF Regular" panose="020B0600000101010101" pitchFamily="34" charset="-127"/>
                <a:ea typeface="CookieRunOTF Regular" panose="020B0600000101010101" pitchFamily="34" charset="-127"/>
                <a:cs typeface="Calibri" pitchFamily="34" charset="-120"/>
              </a:rPr>
              <a:t>C++17  |  Visual Studio 2022  |  Windows Console  |  UTF-8  |  GitHub  |  YouTube Demo</a:t>
            </a:r>
            <a:endParaRPr lang="en-US" sz="1000" dirty="0">
              <a:latin typeface="CookieRunOTF Regular" panose="020B0600000101010101" pitchFamily="34" charset="-127"/>
              <a:ea typeface="CookieRunOTF Regular" panose="020B0600000101010101" pitchFamily="34" charset="-127"/>
            </a:endParaRP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4BAAA5C9-5464-2FFA-DF32-2A9248DD50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4031" y="779107"/>
            <a:ext cx="3002338" cy="335855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8321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300" b="1" dirty="0">
                <a:solidFill>
                  <a:srgbClr val="1A2B3C"/>
                </a:solidFill>
                <a:latin typeface="여기어때 잘난체 고딕 TTF" pitchFamily="2" charset="-127"/>
                <a:ea typeface="여기어때 잘난체 고딕 TTF" pitchFamily="2" charset="-127"/>
                <a:cs typeface="Arial Black" pitchFamily="34" charset="-120"/>
              </a:rPr>
              <a:t>발표 목차</a:t>
            </a:r>
            <a:endParaRPr lang="en-US" sz="3300" dirty="0">
              <a:latin typeface="여기어때 잘난체 고딕 TTF" pitchFamily="2" charset="-127"/>
              <a:ea typeface="여기어때 잘난체 고딕 TTF" pitchFamily="2" charset="-127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11480" y="914400"/>
            <a:ext cx="8321040" cy="36576"/>
          </a:xfrm>
          <a:prstGeom prst="rect">
            <a:avLst/>
          </a:prstGeom>
          <a:solidFill>
            <a:srgbClr val="3FBFA6"/>
          </a:solidFill>
          <a:ln w="12700">
            <a:solidFill>
              <a:srgbClr val="3FBFA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1188720"/>
            <a:ext cx="3931921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3FBFA6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11480" y="1188720"/>
            <a:ext cx="594360" cy="1097280"/>
          </a:xfrm>
          <a:prstGeom prst="rect">
            <a:avLst/>
          </a:prstGeom>
          <a:solidFill>
            <a:srgbClr val="3FBFA6"/>
          </a:solidFill>
          <a:ln w="12700">
            <a:solidFill>
              <a:srgbClr val="3FBFA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188720"/>
            <a:ext cx="594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SB 어그로 Bold" panose="02020603020101020101" pitchFamily="18" charset="-127"/>
                <a:ea typeface="SB 어그로 Bold" panose="02020603020101020101" pitchFamily="18" charset="-127"/>
                <a:cs typeface="Arial Black" pitchFamily="34" charset="-120"/>
              </a:rPr>
              <a:t>01</a:t>
            </a:r>
            <a:endParaRPr lang="en-US" sz="1700" dirty="0">
              <a:latin typeface="SB 어그로 Bold" panose="02020603020101020101" pitchFamily="18" charset="-127"/>
              <a:ea typeface="SB 어그로 Bold" panose="02020603020101020101" pitchFamily="18" charset="-127"/>
            </a:endParaRPr>
          </a:p>
        </p:txBody>
      </p:sp>
      <p:sp>
        <p:nvSpPr>
          <p:cNvPr id="8" name="Text 6"/>
          <p:cNvSpPr/>
          <p:nvPr/>
        </p:nvSpPr>
        <p:spPr>
          <a:xfrm>
            <a:off x="1069848" y="132588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2B3C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프로젝트 개요</a:t>
            </a:r>
            <a:endParaRPr lang="en-US" sz="1500" dirty="0">
              <a:latin typeface="여기어때 잘난체 고딕 TTF" pitchFamily="2" charset="-127"/>
              <a:ea typeface="여기어때 잘난체 고딕 TTF" pitchFamily="2" charset="-127"/>
            </a:endParaRPr>
          </a:p>
        </p:txBody>
      </p:sp>
      <p:sp>
        <p:nvSpPr>
          <p:cNvPr id="9" name="Text 7"/>
          <p:cNvSpPr/>
          <p:nvPr/>
        </p:nvSpPr>
        <p:spPr>
          <a:xfrm>
            <a:off x="1069848" y="1737360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07D8B"/>
                </a:solidFill>
                <a:latin typeface="Cafe24 Ssurround Bold" panose="020F0800000000000000" pitchFamily="50" charset="-127"/>
                <a:ea typeface="Cafe24 Ssurround Bold" panose="020F0800000000000000" pitchFamily="50" charset="-127"/>
                <a:cs typeface="Calibri" pitchFamily="34" charset="-120"/>
              </a:rPr>
              <a:t>주제 배경 · 개발환경 · 벤치마킹</a:t>
            </a:r>
            <a:endParaRPr lang="en-US" sz="1100" dirty="0">
              <a:latin typeface="Cafe24 Ssurround Bold" panose="020F0800000000000000" pitchFamily="50" charset="-127"/>
              <a:ea typeface="Cafe24 Ssurround Bold" panose="020F0800000000000000" pitchFamily="50" charset="-127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411480" y="2423160"/>
            <a:ext cx="3931921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319784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11480" y="2423160"/>
            <a:ext cx="594360" cy="1097280"/>
          </a:xfrm>
          <a:prstGeom prst="rect">
            <a:avLst/>
          </a:prstGeom>
          <a:solidFill>
            <a:srgbClr val="319784"/>
          </a:solidFill>
          <a:ln w="12700">
            <a:solidFill>
              <a:srgbClr val="31978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2423160"/>
            <a:ext cx="594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69848" y="256032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2B3C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클래스 아키텍처</a:t>
            </a:r>
            <a:endParaRPr lang="en-US" sz="1500" dirty="0">
              <a:latin typeface="여기어때 잘난체 고딕 TTF" pitchFamily="2" charset="-127"/>
              <a:ea typeface="여기어때 잘난체 고딕 TTF" pitchFamily="2" charset="-127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1069848" y="2971800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07D8B"/>
                </a:solidFill>
                <a:latin typeface="Cafe24 Ssurround Bold" panose="020F0800000000000000" pitchFamily="50" charset="-127"/>
                <a:ea typeface="Cafe24 Ssurround Bold" panose="020F0800000000000000" pitchFamily="50" charset="-127"/>
                <a:cs typeface="Calibri" pitchFamily="34" charset="-120"/>
              </a:rPr>
              <a:t>5개 클래스 구조 · 만족도 공식</a:t>
            </a:r>
            <a:endParaRPr lang="en-US" sz="1100" dirty="0">
              <a:latin typeface="Cafe24 Ssurround Bold" panose="020F0800000000000000" pitchFamily="50" charset="-127"/>
              <a:ea typeface="Cafe24 Ssurround Bold" panose="020F0800000000000000" pitchFamily="50" charset="-127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411480" y="3657600"/>
            <a:ext cx="3931921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287A6A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11480" y="3657600"/>
            <a:ext cx="594360" cy="1097280"/>
          </a:xfrm>
          <a:prstGeom prst="rect">
            <a:avLst/>
          </a:prstGeom>
          <a:solidFill>
            <a:srgbClr val="287A6A"/>
          </a:solidFill>
          <a:ln w="12700">
            <a:solidFill>
              <a:srgbClr val="287A6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1480" y="3657600"/>
            <a:ext cx="594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SB 어그로 Bold" panose="02020603020101020101" pitchFamily="18" charset="-127"/>
                <a:ea typeface="SB 어그로 Bold" panose="02020603020101020101" pitchFamily="18" charset="-127"/>
                <a:cs typeface="Arial Black" pitchFamily="34" charset="-120"/>
              </a:rPr>
              <a:t>03</a:t>
            </a:r>
            <a:endParaRPr lang="en-US" sz="1700" dirty="0">
              <a:latin typeface="SB 어그로 Bold" panose="02020603020101020101" pitchFamily="18" charset="-127"/>
              <a:ea typeface="SB 어그로 Bold" panose="02020603020101020101" pitchFamily="18" charset="-127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1069848" y="379476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2B3C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게임 흐름 &amp; 핵심 기능</a:t>
            </a:r>
            <a:endParaRPr lang="en-US" sz="1500" dirty="0">
              <a:latin typeface="여기어때 잘난체 고딕 TTF" pitchFamily="2" charset="-127"/>
              <a:ea typeface="여기어때 잘난체 고딕 TTF" pitchFamily="2" charset="-127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1069848" y="4206240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07D8B"/>
                </a:solidFill>
                <a:latin typeface="Cafe24 Ssurround Bold" panose="020F0800000000000000" pitchFamily="50" charset="-127"/>
                <a:ea typeface="Cafe24 Ssurround Bold" panose="020F0800000000000000" pitchFamily="50" charset="-127"/>
                <a:cs typeface="Calibri" pitchFamily="34" charset="-120"/>
              </a:rPr>
              <a:t>성장 단계 · 아이템 · 반항 시스템</a:t>
            </a:r>
            <a:endParaRPr lang="en-US" sz="1100" dirty="0">
              <a:latin typeface="Cafe24 Ssurround Bold" panose="020F0800000000000000" pitchFamily="50" charset="-127"/>
              <a:ea typeface="Cafe24 Ssurround Bold" panose="020F0800000000000000" pitchFamily="50" charset="-127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4800600" y="1188720"/>
            <a:ext cx="3931921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287C6C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800600" y="1188720"/>
            <a:ext cx="594360" cy="1097280"/>
          </a:xfrm>
          <a:prstGeom prst="rect">
            <a:avLst/>
          </a:prstGeom>
          <a:solidFill>
            <a:srgbClr val="287C6C"/>
          </a:solidFill>
          <a:ln w="12700">
            <a:solidFill>
              <a:srgbClr val="287C6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00600" y="1188720"/>
            <a:ext cx="594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SB 어그로 Bold" panose="02020603020101020101" pitchFamily="18" charset="-127"/>
                <a:ea typeface="SB 어그로 Bold" panose="02020603020101020101" pitchFamily="18" charset="-127"/>
                <a:cs typeface="Arial Black" pitchFamily="34" charset="-120"/>
              </a:rPr>
              <a:t>04</a:t>
            </a:r>
            <a:endParaRPr lang="en-US" sz="1700" dirty="0">
              <a:latin typeface="SB 어그로 Bold" panose="02020603020101020101" pitchFamily="18" charset="-127"/>
              <a:ea typeface="SB 어그로 Bold" panose="02020603020101020101" pitchFamily="18" charset="-127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5458968" y="132588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2B3C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엔딩 시스템</a:t>
            </a:r>
            <a:endParaRPr lang="en-US" sz="1500" dirty="0">
              <a:latin typeface="여기어때 잘난체 고딕 TTF" pitchFamily="2" charset="-127"/>
              <a:ea typeface="여기어때 잘난체 고딕 TTF" pitchFamily="2" charset="-127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5458968" y="1737360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07D8B"/>
                </a:solidFill>
                <a:latin typeface="Cafe24 Ssurround Bold" panose="020F0800000000000000" pitchFamily="50" charset="-127"/>
                <a:ea typeface="Cafe24 Ssurround Bold" panose="020F0800000000000000" pitchFamily="50" charset="-127"/>
                <a:cs typeface="Calibri" pitchFamily="34" charset="-120"/>
              </a:rPr>
              <a:t>11가지 분기 조건 전체</a:t>
            </a:r>
            <a:endParaRPr lang="en-US" sz="1100" dirty="0">
              <a:latin typeface="Cafe24 Ssurround Bold" panose="020F0800000000000000" pitchFamily="50" charset="-127"/>
              <a:ea typeface="Cafe24 Ssurround Bold" panose="020F0800000000000000" pitchFamily="50" charset="-127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4800600" y="2423160"/>
            <a:ext cx="3931921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22685B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800600" y="2423160"/>
            <a:ext cx="594360" cy="1097280"/>
          </a:xfrm>
          <a:prstGeom prst="rect">
            <a:avLst/>
          </a:prstGeom>
          <a:solidFill>
            <a:srgbClr val="22685B"/>
          </a:solidFill>
          <a:ln w="12700">
            <a:solidFill>
              <a:srgbClr val="22685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800600" y="2423160"/>
            <a:ext cx="594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SB 어그로 Bold" panose="02020603020101020101" pitchFamily="18" charset="-127"/>
                <a:ea typeface="SB 어그로 Bold" panose="02020603020101020101" pitchFamily="18" charset="-127"/>
                <a:cs typeface="Arial Black" pitchFamily="34" charset="-120"/>
              </a:rPr>
              <a:t>05</a:t>
            </a:r>
            <a:endParaRPr lang="en-US" sz="1700" dirty="0">
              <a:latin typeface="SB 어그로 Bold" panose="02020603020101020101" pitchFamily="18" charset="-127"/>
              <a:ea typeface="SB 어그로 Bold" panose="02020603020101020101" pitchFamily="18" charset="-127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5458968" y="256032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2B3C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문제 해결 &amp; 변경사항</a:t>
            </a:r>
            <a:endParaRPr lang="en-US" sz="1500" dirty="0">
              <a:latin typeface="여기어때 잘난체 고딕 TTF" pitchFamily="2" charset="-127"/>
              <a:ea typeface="여기어때 잘난체 고딕 TTF" pitchFamily="2" charset="-127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5458968" y="2971800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07D8B"/>
                </a:solidFill>
                <a:latin typeface="Cafe24 Ssurround Bold" panose="020F0800000000000000" pitchFamily="50" charset="-127"/>
                <a:ea typeface="Cafe24 Ssurround Bold" panose="020F0800000000000000" pitchFamily="50" charset="-127"/>
                <a:cs typeface="Calibri" pitchFamily="34" charset="-120"/>
              </a:rPr>
              <a:t>중간→최종 달라진 점 중심</a:t>
            </a:r>
            <a:endParaRPr lang="en-US" sz="1100" dirty="0">
              <a:latin typeface="Cafe24 Ssurround Bold" panose="020F0800000000000000" pitchFamily="50" charset="-127"/>
              <a:ea typeface="Cafe24 Ssurround Bold" panose="020F0800000000000000" pitchFamily="50" charset="-127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4800600" y="3657600"/>
            <a:ext cx="3931921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18483F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800600" y="3657600"/>
            <a:ext cx="594360" cy="1097280"/>
          </a:xfrm>
          <a:prstGeom prst="rect">
            <a:avLst/>
          </a:prstGeom>
          <a:solidFill>
            <a:srgbClr val="18483F"/>
          </a:solidFill>
          <a:ln w="12700">
            <a:solidFill>
              <a:srgbClr val="18483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800600" y="3657600"/>
            <a:ext cx="594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06</a:t>
            </a:r>
            <a:endParaRPr lang="en-US" sz="1700" dirty="0"/>
          </a:p>
        </p:txBody>
      </p:sp>
      <p:sp>
        <p:nvSpPr>
          <p:cNvPr id="33" name="Text 31"/>
          <p:cNvSpPr/>
          <p:nvPr/>
        </p:nvSpPr>
        <p:spPr>
          <a:xfrm>
            <a:off x="5458968" y="379476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2B3C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성과 &amp; 향후 계획</a:t>
            </a:r>
            <a:endParaRPr lang="en-US" sz="1500" dirty="0">
              <a:latin typeface="여기어때 잘난체 고딕 TTF" pitchFamily="2" charset="-127"/>
              <a:ea typeface="여기어때 잘난체 고딕 TTF" pitchFamily="2" charset="-127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5458968" y="4206240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07D8B"/>
                </a:solidFill>
                <a:latin typeface="Cafe24 Ssurround Bold" panose="020F0800000000000000" pitchFamily="50" charset="-127"/>
                <a:ea typeface="Cafe24 Ssurround Bold" panose="020F0800000000000000" pitchFamily="50" charset="-127"/>
                <a:cs typeface="Calibri" pitchFamily="34" charset="-120"/>
              </a:rPr>
              <a:t>구현 완료 · 개선 방향</a:t>
            </a:r>
            <a:endParaRPr lang="en-US" sz="1100" dirty="0">
              <a:latin typeface="Cafe24 Ssurround Bold" panose="020F0800000000000000" pitchFamily="50" charset="-127"/>
              <a:ea typeface="Cafe24 Ssurround Bold" panose="020F0800000000000000" pitchFamily="50" charset="-127"/>
            </a:endParaRPr>
          </a:p>
        </p:txBody>
      </p:sp>
      <p:sp>
        <p:nvSpPr>
          <p:cNvPr id="35" name="Shape 0">
            <a:extLst>
              <a:ext uri="{FF2B5EF4-FFF2-40B4-BE49-F238E27FC236}">
                <a16:creationId xmlns:a16="http://schemas.microsoft.com/office/drawing/2014/main" id="{DAB795F0-ED40-960C-BB01-F08A64B72195}"/>
              </a:ext>
            </a:extLst>
          </p:cNvPr>
          <p:cNvSpPr/>
          <p:nvPr/>
        </p:nvSpPr>
        <p:spPr>
          <a:xfrm>
            <a:off x="0" y="0"/>
            <a:ext cx="292608" cy="5143500"/>
          </a:xfrm>
          <a:prstGeom prst="rect">
            <a:avLst/>
          </a:prstGeom>
          <a:solidFill>
            <a:srgbClr val="3FBFA6">
              <a:alpha val="50000"/>
            </a:srgbClr>
          </a:solidFill>
          <a:ln w="12700">
            <a:noFill/>
            <a:prstDash val="solid"/>
          </a:ln>
        </p:spPr>
      </p:sp>
      <p:sp>
        <p:nvSpPr>
          <p:cNvPr id="36" name="Shape 0">
            <a:extLst>
              <a:ext uri="{FF2B5EF4-FFF2-40B4-BE49-F238E27FC236}">
                <a16:creationId xmlns:a16="http://schemas.microsoft.com/office/drawing/2014/main" id="{4153CF6E-C7C9-BFD3-1542-2B4BC009D7B7}"/>
              </a:ext>
            </a:extLst>
          </p:cNvPr>
          <p:cNvSpPr/>
          <p:nvPr/>
        </p:nvSpPr>
        <p:spPr>
          <a:xfrm>
            <a:off x="8851392" y="-3048"/>
            <a:ext cx="292608" cy="5143500"/>
          </a:xfrm>
          <a:prstGeom prst="rect">
            <a:avLst/>
          </a:prstGeom>
          <a:solidFill>
            <a:srgbClr val="3FBFA6">
              <a:alpha val="50000"/>
            </a:srgbClr>
          </a:solidFill>
          <a:ln w="12700">
            <a:noFill/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8321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300" dirty="0">
                <a:solidFill>
                  <a:srgbClr val="1A2B3C"/>
                </a:solidFill>
                <a:latin typeface="SB 어그로 Bold" panose="02020603020101020101" pitchFamily="18" charset="-127"/>
                <a:ea typeface="SB 어그로 Bold" panose="02020603020101020101" pitchFamily="18" charset="-127"/>
                <a:cs typeface="Arial Black" pitchFamily="34" charset="-120"/>
              </a:rPr>
              <a:t>프로젝트 개요</a:t>
            </a:r>
            <a:endParaRPr lang="en-US" sz="3300" dirty="0">
              <a:latin typeface="SB 어그로 Bold" panose="02020603020101020101" pitchFamily="18" charset="-127"/>
              <a:ea typeface="SB 어그로 Bold" panose="02020603020101020101" pitchFamily="18" charset="-127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11480" y="914400"/>
            <a:ext cx="8321040" cy="36576"/>
          </a:xfrm>
          <a:prstGeom prst="rect">
            <a:avLst/>
          </a:prstGeom>
          <a:solidFill>
            <a:srgbClr val="3FBFA6"/>
          </a:solidFill>
          <a:ln w="12700">
            <a:solidFill>
              <a:srgbClr val="3FBFA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1720378"/>
            <a:ext cx="2651760" cy="2429691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1720378"/>
            <a:ext cx="2651760" cy="566928"/>
          </a:xfrm>
          <a:prstGeom prst="rect">
            <a:avLst/>
          </a:prstGeom>
          <a:solidFill>
            <a:srgbClr val="3FBFA6"/>
          </a:solidFill>
          <a:ln w="12700">
            <a:solidFill>
              <a:srgbClr val="3FBFA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38912" y="1738666"/>
            <a:ext cx="2505456" cy="530352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🎮</a:t>
            </a:r>
            <a:r>
              <a:rPr lang="en-US" sz="1600" b="1" dirty="0" err="1">
                <a:solidFill>
                  <a:srgbClr val="FFFFFF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장르</a:t>
            </a:r>
            <a:r>
              <a:rPr lang="en-US" sz="1600" b="1" dirty="0">
                <a:solidFill>
                  <a:srgbClr val="FFFFFF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 &amp; 주제</a:t>
            </a:r>
            <a:endParaRPr lang="en-US" sz="1600" dirty="0">
              <a:latin typeface="여기어때 잘난체 고딕 TTF" pitchFamily="2" charset="-127"/>
              <a:ea typeface="여기어때 잘난체 고딕 TTF" pitchFamily="2" charset="-127"/>
            </a:endParaRPr>
          </a:p>
        </p:txBody>
      </p:sp>
      <p:sp>
        <p:nvSpPr>
          <p:cNvPr id="7" name="Text 5"/>
          <p:cNvSpPr/>
          <p:nvPr/>
        </p:nvSpPr>
        <p:spPr>
          <a:xfrm>
            <a:off x="420624" y="2343476"/>
            <a:ext cx="2542032" cy="1759477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1200" dirty="0" err="1">
                <a:latin typeface="Cafe24 Ssurround Bold" panose="020F0800000000000000" pitchFamily="50" charset="-127"/>
                <a:ea typeface="Cafe24 Ssurround Bold" panose="020F0800000000000000" pitchFamily="50" charset="-127"/>
              </a:rPr>
              <a:t>텍스트</a:t>
            </a:r>
            <a:r>
              <a:rPr lang="en-US" altLang="ko-KR" sz="1200" dirty="0">
                <a:latin typeface="Cafe24 Ssurround Bold" panose="020F0800000000000000" pitchFamily="50" charset="-127"/>
                <a:ea typeface="Cafe24 Ssurround Bold" panose="020F0800000000000000" pitchFamily="50" charset="-127"/>
              </a:rPr>
              <a:t> </a:t>
            </a:r>
            <a:r>
              <a:rPr lang="en-US" altLang="ko-KR" sz="1200" dirty="0" err="1">
                <a:latin typeface="Cafe24 Ssurround Bold" panose="020F0800000000000000" pitchFamily="50" charset="-127"/>
                <a:ea typeface="Cafe24 Ssurround Bold" panose="020F0800000000000000" pitchFamily="50" charset="-127"/>
              </a:rPr>
              <a:t>기반</a:t>
            </a:r>
            <a:r>
              <a:rPr lang="en-US" altLang="ko-KR" sz="1200" dirty="0">
                <a:latin typeface="Cafe24 Ssurround Bold" panose="020F0800000000000000" pitchFamily="50" charset="-127"/>
                <a:ea typeface="Cafe24 Ssurround Bold" panose="020F0800000000000000" pitchFamily="50" charset="-127"/>
              </a:rPr>
              <a:t> </a:t>
            </a:r>
            <a:r>
              <a:rPr lang="en-US" altLang="ko-KR" sz="1200" dirty="0" err="1">
                <a:latin typeface="Cafe24 Ssurround Bold" panose="020F0800000000000000" pitchFamily="50" charset="-127"/>
                <a:ea typeface="Cafe24 Ssurround Bold" panose="020F0800000000000000" pitchFamily="50" charset="-127"/>
              </a:rPr>
              <a:t>콘솔</a:t>
            </a:r>
            <a:r>
              <a:rPr lang="en-US" altLang="ko-KR" sz="1200" dirty="0">
                <a:latin typeface="Cafe24 Ssurround Bold" panose="020F0800000000000000" pitchFamily="50" charset="-127"/>
                <a:ea typeface="Cafe24 Ssurround Bold" panose="020F0800000000000000" pitchFamily="50" charset="-127"/>
              </a:rPr>
              <a:t> </a:t>
            </a:r>
            <a:r>
              <a:rPr lang="en-US" altLang="ko-KR" sz="1200" dirty="0" err="1">
                <a:latin typeface="Cafe24 Ssurround Bold" panose="020F0800000000000000" pitchFamily="50" charset="-127"/>
                <a:ea typeface="Cafe24 Ssurround Bold" panose="020F0800000000000000" pitchFamily="50" charset="-127"/>
              </a:rPr>
              <a:t>육성</a:t>
            </a:r>
            <a:r>
              <a:rPr lang="en-US" altLang="ko-KR" sz="1200" dirty="0">
                <a:latin typeface="Cafe24 Ssurround Bold" panose="020F0800000000000000" pitchFamily="50" charset="-127"/>
                <a:ea typeface="Cafe24 Ssurround Bold" panose="020F0800000000000000" pitchFamily="50" charset="-127"/>
              </a:rPr>
              <a:t> </a:t>
            </a:r>
            <a:r>
              <a:rPr lang="en-US" altLang="ko-KR" sz="1200" dirty="0" err="1">
                <a:latin typeface="Cafe24 Ssurround Bold" panose="020F0800000000000000" pitchFamily="50" charset="-127"/>
                <a:ea typeface="Cafe24 Ssurround Bold" panose="020F0800000000000000" pitchFamily="50" charset="-127"/>
              </a:rPr>
              <a:t>시뮬레이션</a:t>
            </a:r>
            <a:endParaRPr lang="en-US" altLang="ko-KR" sz="1200" dirty="0">
              <a:latin typeface="Cafe24 Ssurround Bold" panose="020F0800000000000000" pitchFamily="50" charset="-127"/>
              <a:ea typeface="Cafe24 Ssurround Bold" panose="020F0800000000000000" pitchFamily="50" charset="-127"/>
            </a:endParaRPr>
          </a:p>
          <a:p>
            <a:endParaRPr lang="en-US" altLang="ko-KR" sz="1200" dirty="0">
              <a:latin typeface="Cafe24 Ssurround Bold" panose="020F0800000000000000" pitchFamily="50" charset="-127"/>
              <a:ea typeface="Cafe24 Ssurround Bold" panose="020F0800000000000000" pitchFamily="50" charset="-127"/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200" dirty="0" err="1">
                <a:latin typeface="Cafe24 Ssurround Bold" panose="020F0800000000000000" pitchFamily="50" charset="-127"/>
                <a:ea typeface="Cafe24 Ssurround Bold" panose="020F0800000000000000" pitchFamily="50" charset="-127"/>
              </a:rPr>
              <a:t>길에서</a:t>
            </a:r>
            <a:r>
              <a:rPr lang="en-US" sz="1200" dirty="0">
                <a:latin typeface="Cafe24 Ssurround Bold" panose="020F0800000000000000" pitchFamily="50" charset="-127"/>
                <a:ea typeface="Cafe24 Ssurround Bold" panose="020F0800000000000000" pitchFamily="50" charset="-127"/>
              </a:rPr>
              <a:t> </a:t>
            </a:r>
            <a:r>
              <a:rPr lang="en-US" sz="1200" dirty="0" err="1">
                <a:latin typeface="Cafe24 Ssurround Bold" panose="020F0800000000000000" pitchFamily="50" charset="-127"/>
                <a:ea typeface="Cafe24 Ssurround Bold" panose="020F0800000000000000" pitchFamily="50" charset="-127"/>
              </a:rPr>
              <a:t>알을</a:t>
            </a:r>
            <a:r>
              <a:rPr lang="en-US" sz="1200" dirty="0">
                <a:latin typeface="Cafe24 Ssurround Bold" panose="020F0800000000000000" pitchFamily="50" charset="-127"/>
                <a:ea typeface="Cafe24 Ssurround Bold" panose="020F0800000000000000" pitchFamily="50" charset="-127"/>
              </a:rPr>
              <a:t> </a:t>
            </a:r>
            <a:r>
              <a:rPr lang="en-US" sz="1200" dirty="0" err="1">
                <a:latin typeface="Cafe24 Ssurround Bold" panose="020F0800000000000000" pitchFamily="50" charset="-127"/>
                <a:ea typeface="Cafe24 Ssurround Bold" panose="020F0800000000000000" pitchFamily="50" charset="-127"/>
              </a:rPr>
              <a:t>줍는</a:t>
            </a:r>
            <a:r>
              <a:rPr lang="en-US" sz="1200" dirty="0">
                <a:latin typeface="Cafe24 Ssurround Bold" panose="020F0800000000000000" pitchFamily="50" charset="-127"/>
                <a:ea typeface="Cafe24 Ssurround Bold" panose="020F0800000000000000" pitchFamily="50" charset="-127"/>
              </a:rPr>
              <a:t> </a:t>
            </a:r>
            <a:r>
              <a:rPr lang="en-US" sz="1200" dirty="0" err="1">
                <a:latin typeface="Cafe24 Ssurround Bold" panose="020F0800000000000000" pitchFamily="50" charset="-127"/>
                <a:ea typeface="Cafe24 Ssurround Bold" panose="020F0800000000000000" pitchFamily="50" charset="-127"/>
              </a:rPr>
              <a:t>스토리</a:t>
            </a:r>
            <a:r>
              <a:rPr lang="en-US" sz="1200" dirty="0">
                <a:latin typeface="Cafe24 Ssurround Bold" panose="020F0800000000000000" pitchFamily="50" charset="-127"/>
                <a:ea typeface="Cafe24 Ssurround Bold" panose="020F0800000000000000" pitchFamily="50" charset="-127"/>
              </a:rPr>
              <a:t> </a:t>
            </a:r>
            <a:r>
              <a:rPr lang="ko-KR" altLang="en-US" sz="1200" dirty="0">
                <a:latin typeface="Cafe24 Ssurround Bold" panose="020F0800000000000000" pitchFamily="50" charset="-127"/>
                <a:ea typeface="Cafe24 Ssurround Bold" panose="020F0800000000000000" pitchFamily="50" charset="-127"/>
              </a:rPr>
              <a:t>시작하여</a:t>
            </a:r>
            <a:r>
              <a:rPr lang="en-US" altLang="ko-KR" sz="1200" dirty="0">
                <a:latin typeface="Cafe24 Ssurround Bold" panose="020F0800000000000000" pitchFamily="50" charset="-127"/>
                <a:ea typeface="Cafe24 Ssurround Bold" panose="020F0800000000000000" pitchFamily="50" charset="-127"/>
              </a:rPr>
              <a:t> </a:t>
            </a:r>
            <a:r>
              <a:rPr lang="en-US" sz="1200" dirty="0">
                <a:latin typeface="Cafe24 Ssurround Bold" panose="020F0800000000000000" pitchFamily="50" charset="-127"/>
                <a:ea typeface="Cafe24 Ssurround Bold" panose="020F0800000000000000" pitchFamily="50" charset="-127"/>
              </a:rPr>
              <a:t>8주 </a:t>
            </a:r>
            <a:r>
              <a:rPr lang="en-US" sz="1200" dirty="0" err="1">
                <a:latin typeface="Cafe24 Ssurround Bold" panose="020F0800000000000000" pitchFamily="50" charset="-127"/>
                <a:ea typeface="Cafe24 Ssurround Bold" panose="020F0800000000000000" pitchFamily="50" charset="-127"/>
              </a:rPr>
              <a:t>동안</a:t>
            </a:r>
            <a:r>
              <a:rPr lang="en-US" sz="1200" dirty="0">
                <a:latin typeface="Cafe24 Ssurround Bold" panose="020F0800000000000000" pitchFamily="50" charset="-127"/>
                <a:ea typeface="Cafe24 Ssurround Bold" panose="020F0800000000000000" pitchFamily="50" charset="-127"/>
              </a:rPr>
              <a:t> </a:t>
            </a:r>
            <a:r>
              <a:rPr lang="en-US" sz="1200" dirty="0" err="1">
                <a:latin typeface="Cafe24 Ssurround Bold" panose="020F0800000000000000" pitchFamily="50" charset="-127"/>
                <a:ea typeface="Cafe24 Ssurround Bold" panose="020F0800000000000000" pitchFamily="50" charset="-127"/>
              </a:rPr>
              <a:t>새를</a:t>
            </a:r>
            <a:r>
              <a:rPr lang="en-US" sz="1200" dirty="0">
                <a:latin typeface="Cafe24 Ssurround Bold" panose="020F0800000000000000" pitchFamily="50" charset="-127"/>
                <a:ea typeface="Cafe24 Ssurround Bold" panose="020F0800000000000000" pitchFamily="50" charset="-127"/>
              </a:rPr>
              <a:t> 알 → </a:t>
            </a:r>
            <a:r>
              <a:rPr lang="en-US" sz="1200" dirty="0" err="1">
                <a:latin typeface="Cafe24 Ssurround Bold" panose="020F0800000000000000" pitchFamily="50" charset="-127"/>
                <a:ea typeface="Cafe24 Ssurround Bold" panose="020F0800000000000000" pitchFamily="50" charset="-127"/>
              </a:rPr>
              <a:t>성체로</a:t>
            </a:r>
            <a:r>
              <a:rPr lang="en-US" sz="1200" dirty="0">
                <a:latin typeface="Cafe24 Ssurround Bold" panose="020F0800000000000000" pitchFamily="50" charset="-127"/>
                <a:ea typeface="Cafe24 Ssurround Bold" panose="020F0800000000000000" pitchFamily="50" charset="-127"/>
              </a:rPr>
              <a:t> </a:t>
            </a:r>
            <a:r>
              <a:rPr lang="en-US" sz="1200" dirty="0" err="1">
                <a:latin typeface="Cafe24 Ssurround Bold" panose="020F0800000000000000" pitchFamily="50" charset="-127"/>
                <a:ea typeface="Cafe24 Ssurround Bold" panose="020F0800000000000000" pitchFamily="50" charset="-127"/>
              </a:rPr>
              <a:t>성장</a:t>
            </a:r>
            <a:r>
              <a:rPr lang="ko-KR" altLang="en-US" sz="1200" dirty="0" err="1">
                <a:latin typeface="Cafe24 Ssurround Bold" panose="020F0800000000000000" pitchFamily="50" charset="-127"/>
                <a:ea typeface="Cafe24 Ssurround Bold" panose="020F0800000000000000" pitchFamily="50" charset="-127"/>
              </a:rPr>
              <a:t>시키는게</a:t>
            </a:r>
            <a:r>
              <a:rPr lang="ko-KR" altLang="en-US" sz="1200" dirty="0">
                <a:latin typeface="Cafe24 Ssurround Bold" panose="020F0800000000000000" pitchFamily="50" charset="-127"/>
                <a:ea typeface="Cafe24 Ssurround Bold" panose="020F0800000000000000" pitchFamily="50" charset="-127"/>
              </a:rPr>
              <a:t> 목표</a:t>
            </a:r>
            <a:endParaRPr lang="en-US" altLang="ko-KR" sz="1200" dirty="0">
              <a:latin typeface="Cafe24 Ssurround Bold" panose="020F0800000000000000" pitchFamily="50" charset="-127"/>
              <a:ea typeface="Cafe24 Ssurround Bold" panose="020F0800000000000000" pitchFamily="50" charset="-127"/>
            </a:endParaRPr>
          </a:p>
          <a:p>
            <a:pPr algn="l"/>
            <a:endParaRPr lang="en-US" sz="1200" dirty="0">
              <a:latin typeface="Cafe24 Ssurround Bold" panose="020F0800000000000000" pitchFamily="50" charset="-127"/>
              <a:ea typeface="Cafe24 Ssurround Bold" panose="020F0800000000000000" pitchFamily="50" charset="-127"/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ko-KR" altLang="en-US" sz="1200" dirty="0">
                <a:latin typeface="Cafe24 Ssurround Bold" panose="020F0800000000000000" pitchFamily="50" charset="-127"/>
                <a:ea typeface="Cafe24 Ssurround Bold" panose="020F0800000000000000" pitchFamily="50" charset="-127"/>
              </a:rPr>
              <a:t>플레이어의 선택에 따른 멀티 엔딩</a:t>
            </a:r>
            <a:endParaRPr lang="en-US" sz="1200" dirty="0">
              <a:latin typeface="Cafe24 Ssurround Bold" panose="020F0800000000000000" pitchFamily="50" charset="-127"/>
              <a:ea typeface="Cafe24 Ssurround Bold" panose="020F0800000000000000" pitchFamily="50" charset="-127"/>
            </a:endParaRPr>
          </a:p>
        </p:txBody>
      </p:sp>
      <p:sp>
        <p:nvSpPr>
          <p:cNvPr id="8" name="Shape 6"/>
          <p:cNvSpPr/>
          <p:nvPr/>
        </p:nvSpPr>
        <p:spPr>
          <a:xfrm>
            <a:off x="3218688" y="1720378"/>
            <a:ext cx="2651760" cy="2429691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218688" y="1720378"/>
            <a:ext cx="2651760" cy="566928"/>
          </a:xfrm>
          <a:prstGeom prst="rect">
            <a:avLst/>
          </a:prstGeom>
          <a:solidFill>
            <a:srgbClr val="2471A3"/>
          </a:solidFill>
          <a:ln w="12700">
            <a:solidFill>
              <a:srgbClr val="2471A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91840" y="1738666"/>
            <a:ext cx="2505456" cy="530352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🛠️</a:t>
            </a:r>
            <a:r>
              <a:rPr lang="en-US" sz="1600" b="1" dirty="0" err="1">
                <a:solidFill>
                  <a:srgbClr val="FFFFFF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개발</a:t>
            </a:r>
            <a:r>
              <a:rPr lang="en-US" sz="1600" b="1" dirty="0">
                <a:solidFill>
                  <a:srgbClr val="FFFFFF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 환경</a:t>
            </a:r>
            <a:endParaRPr lang="en-US" sz="1600" dirty="0">
              <a:latin typeface="여기어때 잘난체 고딕 TTF" pitchFamily="2" charset="-127"/>
              <a:ea typeface="여기어때 잘난체 고딕 TTF" pitchFamily="2" charset="-127"/>
            </a:endParaRPr>
          </a:p>
        </p:txBody>
      </p:sp>
      <p:sp>
        <p:nvSpPr>
          <p:cNvPr id="11" name="Text 9"/>
          <p:cNvSpPr/>
          <p:nvPr/>
        </p:nvSpPr>
        <p:spPr>
          <a:xfrm>
            <a:off x="3328416" y="2342170"/>
            <a:ext cx="2432304" cy="1760221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200" dirty="0">
                <a:latin typeface="Cafe24 Ssurround Bold" panose="020F0800000000000000" pitchFamily="50" charset="-127"/>
                <a:ea typeface="Cafe24 Ssurround Bold" panose="020F0800000000000000" pitchFamily="50" charset="-127"/>
                <a:cs typeface="Calibri" pitchFamily="34" charset="-120"/>
              </a:rPr>
              <a:t>Visual Studio 2022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endParaRPr lang="en-US" sz="1200" dirty="0">
              <a:latin typeface="Cafe24 Ssurround Bold" panose="020F0800000000000000" pitchFamily="50" charset="-127"/>
              <a:ea typeface="Cafe24 Ssurround Bold" panose="020F0800000000000000" pitchFamily="50" charset="-127"/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200" dirty="0">
                <a:latin typeface="Cafe24 Ssurround Bold" panose="020F0800000000000000" pitchFamily="50" charset="-127"/>
                <a:ea typeface="Cafe24 Ssurround Bold" panose="020F0800000000000000" pitchFamily="50" charset="-127"/>
                <a:cs typeface="Calibri" pitchFamily="34" charset="-120"/>
              </a:rPr>
              <a:t>C++17 </a:t>
            </a:r>
            <a:r>
              <a:rPr lang="en-US" sz="1200" dirty="0" err="1">
                <a:latin typeface="Cafe24 Ssurround Bold" panose="020F0800000000000000" pitchFamily="50" charset="-127"/>
                <a:ea typeface="Cafe24 Ssurround Bold" panose="020F0800000000000000" pitchFamily="50" charset="-127"/>
                <a:cs typeface="Calibri" pitchFamily="34" charset="-120"/>
              </a:rPr>
              <a:t>표준</a:t>
            </a:r>
            <a:endParaRPr lang="en-US" sz="1200" dirty="0">
              <a:latin typeface="Cafe24 Ssurround Bold" panose="020F0800000000000000" pitchFamily="50" charset="-127"/>
              <a:ea typeface="Cafe24 Ssurround Bold" panose="020F0800000000000000" pitchFamily="50" charset="-127"/>
              <a:cs typeface="Calibri" pitchFamily="34" charset="-120"/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endParaRPr lang="en-US" sz="1200" dirty="0">
              <a:latin typeface="Cafe24 Ssurround Bold" panose="020F0800000000000000" pitchFamily="50" charset="-127"/>
              <a:ea typeface="Cafe24 Ssurround Bold" panose="020F0800000000000000" pitchFamily="50" charset="-127"/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200" dirty="0">
                <a:latin typeface="Cafe24 Ssurround Bold" panose="020F0800000000000000" pitchFamily="50" charset="-127"/>
                <a:ea typeface="Cafe24 Ssurround Bold" panose="020F0800000000000000" pitchFamily="50" charset="-127"/>
                <a:cs typeface="Calibri" pitchFamily="34" charset="-120"/>
              </a:rPr>
              <a:t>Windows Console                ( CMD/PowerShell )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endParaRPr lang="en-US" sz="1200" dirty="0">
              <a:latin typeface="Cafe24 Ssurround Bold" panose="020F0800000000000000" pitchFamily="50" charset="-127"/>
              <a:ea typeface="Cafe24 Ssurround Bold" panose="020F0800000000000000" pitchFamily="50" charset="-127"/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200" dirty="0">
                <a:latin typeface="Cafe24 Ssurround Bold" panose="020F0800000000000000" pitchFamily="50" charset="-127"/>
                <a:ea typeface="Cafe24 Ssurround Bold" panose="020F0800000000000000" pitchFamily="50" charset="-127"/>
                <a:cs typeface="Calibri" pitchFamily="34" charset="-120"/>
              </a:rPr>
              <a:t>UTF-8 </a:t>
            </a:r>
            <a:r>
              <a:rPr lang="en-US" sz="1200" dirty="0" err="1">
                <a:latin typeface="Cafe24 Ssurround Bold" panose="020F0800000000000000" pitchFamily="50" charset="-127"/>
                <a:ea typeface="Cafe24 Ssurround Bold" panose="020F0800000000000000" pitchFamily="50" charset="-127"/>
                <a:cs typeface="Calibri" pitchFamily="34" charset="-120"/>
              </a:rPr>
              <a:t>인코딩</a:t>
            </a:r>
            <a:r>
              <a:rPr lang="en-US" sz="1200" dirty="0">
                <a:latin typeface="Cafe24 Ssurround Bold" panose="020F0800000000000000" pitchFamily="50" charset="-127"/>
                <a:ea typeface="Cafe24 Ssurround Bold" panose="020F0800000000000000" pitchFamily="50" charset="-127"/>
                <a:cs typeface="Calibri" pitchFamily="34" charset="-120"/>
              </a:rPr>
              <a:t>                         ( /utf-8 </a:t>
            </a:r>
            <a:r>
              <a:rPr lang="en-US" sz="1200" dirty="0" err="1">
                <a:latin typeface="Cafe24 Ssurround Bold" panose="020F0800000000000000" pitchFamily="50" charset="-127"/>
                <a:ea typeface="Cafe24 Ssurround Bold" panose="020F0800000000000000" pitchFamily="50" charset="-127"/>
                <a:cs typeface="Calibri" pitchFamily="34" charset="-120"/>
              </a:rPr>
              <a:t>옵션</a:t>
            </a:r>
            <a:r>
              <a:rPr lang="en-US" sz="1200" dirty="0">
                <a:latin typeface="Cafe24 Ssurround Bold" panose="020F0800000000000000" pitchFamily="50" charset="-127"/>
                <a:ea typeface="Cafe24 Ssurround Bold" panose="020F0800000000000000" pitchFamily="50" charset="-127"/>
                <a:cs typeface="Calibri" pitchFamily="34" charset="-120"/>
              </a:rPr>
              <a:t> </a:t>
            </a:r>
            <a:r>
              <a:rPr lang="en-US" sz="1200" dirty="0" err="1">
                <a:latin typeface="Cafe24 Ssurround Bold" panose="020F0800000000000000" pitchFamily="50" charset="-127"/>
                <a:ea typeface="Cafe24 Ssurround Bold" panose="020F0800000000000000" pitchFamily="50" charset="-127"/>
                <a:cs typeface="Calibri" pitchFamily="34" charset="-120"/>
              </a:rPr>
              <a:t>적용</a:t>
            </a:r>
            <a:r>
              <a:rPr lang="en-US" sz="1200" dirty="0">
                <a:latin typeface="Cafe24 Ssurround Bold" panose="020F0800000000000000" pitchFamily="50" charset="-127"/>
                <a:ea typeface="Cafe24 Ssurround Bold" panose="020F0800000000000000" pitchFamily="50" charset="-127"/>
                <a:cs typeface="Calibri" pitchFamily="34" charset="-120"/>
              </a:rPr>
              <a:t> )</a:t>
            </a:r>
            <a:endParaRPr lang="en-US" sz="1200" dirty="0">
              <a:latin typeface="Cafe24 Ssurround Bold" panose="020F0800000000000000" pitchFamily="50" charset="-127"/>
              <a:ea typeface="Cafe24 Ssurround Bold" panose="020F0800000000000000" pitchFamily="50" charset="-127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6071616" y="1720378"/>
            <a:ext cx="2651760" cy="2429691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071616" y="1720378"/>
            <a:ext cx="2651760" cy="566928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44768" y="1738666"/>
            <a:ext cx="2505456" cy="530352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📌</a:t>
            </a:r>
            <a:r>
              <a:rPr lang="en-US" sz="1600" b="1" dirty="0" err="1">
                <a:solidFill>
                  <a:srgbClr val="FFFFFF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벤치마킹</a:t>
            </a:r>
            <a:endParaRPr lang="en-US" sz="1600" dirty="0">
              <a:latin typeface="여기어때 잘난체 고딕 TTF" pitchFamily="2" charset="-127"/>
              <a:ea typeface="여기어때 잘난체 고딕 TTF" pitchFamily="2" charset="-127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6181344" y="2342170"/>
            <a:ext cx="2432304" cy="1760221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200" dirty="0" err="1">
                <a:latin typeface="Cafe24 Ssurround Bold" panose="020F0800000000000000" pitchFamily="50" charset="-127"/>
                <a:ea typeface="Cafe24 Ssurround Bold" panose="020F0800000000000000" pitchFamily="50" charset="-127"/>
                <a:cs typeface="Calibri" pitchFamily="34" charset="-120"/>
              </a:rPr>
              <a:t>다마고치</a:t>
            </a:r>
            <a:r>
              <a:rPr lang="en-US" sz="1200" dirty="0">
                <a:latin typeface="Cafe24 Ssurround Bold" panose="020F0800000000000000" pitchFamily="50" charset="-127"/>
                <a:ea typeface="Cafe24 Ssurround Bold" panose="020F0800000000000000" pitchFamily="50" charset="-127"/>
                <a:cs typeface="Calibri" pitchFamily="34" charset="-120"/>
              </a:rPr>
              <a:t>		          ( </a:t>
            </a:r>
            <a:r>
              <a:rPr lang="en-US" sz="1200" dirty="0" err="1">
                <a:latin typeface="Cafe24 Ssurround Bold" panose="020F0800000000000000" pitchFamily="50" charset="-127"/>
                <a:ea typeface="Cafe24 Ssurround Bold" panose="020F0800000000000000" pitchFamily="50" charset="-127"/>
                <a:cs typeface="Calibri" pitchFamily="34" charset="-120"/>
              </a:rPr>
              <a:t>휴대용</a:t>
            </a:r>
            <a:r>
              <a:rPr lang="en-US" sz="1200" dirty="0">
                <a:latin typeface="Cafe24 Ssurround Bold" panose="020F0800000000000000" pitchFamily="50" charset="-127"/>
                <a:ea typeface="Cafe24 Ssurround Bold" panose="020F0800000000000000" pitchFamily="50" charset="-127"/>
                <a:cs typeface="Calibri" pitchFamily="34" charset="-120"/>
              </a:rPr>
              <a:t> 디지털 </a:t>
            </a:r>
            <a:r>
              <a:rPr lang="en-US" sz="1200" dirty="0" err="1">
                <a:latin typeface="Cafe24 Ssurround Bold" panose="020F0800000000000000" pitchFamily="50" charset="-127"/>
                <a:ea typeface="Cafe24 Ssurround Bold" panose="020F0800000000000000" pitchFamily="50" charset="-127"/>
                <a:cs typeface="Calibri" pitchFamily="34" charset="-120"/>
              </a:rPr>
              <a:t>반려동물</a:t>
            </a:r>
            <a:r>
              <a:rPr lang="en-US" sz="1200" dirty="0">
                <a:latin typeface="Cafe24 Ssurround Bold" panose="020F0800000000000000" pitchFamily="50" charset="-127"/>
                <a:ea typeface="Cafe24 Ssurround Bold" panose="020F0800000000000000" pitchFamily="50" charset="-127"/>
                <a:cs typeface="Calibri" pitchFamily="34" charset="-120"/>
              </a:rPr>
              <a:t> </a:t>
            </a:r>
            <a:r>
              <a:rPr lang="en-US" sz="1200" dirty="0" err="1">
                <a:latin typeface="Cafe24 Ssurround Bold" panose="020F0800000000000000" pitchFamily="50" charset="-127"/>
                <a:ea typeface="Cafe24 Ssurround Bold" panose="020F0800000000000000" pitchFamily="50" charset="-127"/>
                <a:cs typeface="Calibri" pitchFamily="34" charset="-120"/>
              </a:rPr>
              <a:t>육성</a:t>
            </a:r>
            <a:r>
              <a:rPr lang="en-US" sz="1200" dirty="0">
                <a:latin typeface="Cafe24 Ssurround Bold" panose="020F0800000000000000" pitchFamily="50" charset="-127"/>
                <a:ea typeface="Cafe24 Ssurround Bold" panose="020F0800000000000000" pitchFamily="50" charset="-127"/>
                <a:cs typeface="Calibri" pitchFamily="34" charset="-120"/>
              </a:rPr>
              <a:t> )</a:t>
            </a:r>
            <a:endParaRPr lang="en-US" sz="1200" dirty="0">
              <a:latin typeface="Cafe24 Ssurround Bold" panose="020F0800000000000000" pitchFamily="50" charset="-127"/>
              <a:ea typeface="Cafe24 Ssurround Bold" panose="020F0800000000000000" pitchFamily="50" charset="-127"/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endParaRPr lang="en-US" sz="1200" dirty="0">
              <a:latin typeface="Cafe24 Ssurround Bold" panose="020F0800000000000000" pitchFamily="50" charset="-127"/>
              <a:ea typeface="Cafe24 Ssurround Bold" panose="020F0800000000000000" pitchFamily="50" charset="-127"/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200" dirty="0" err="1">
                <a:latin typeface="Cafe24 Ssurround Bold" panose="020F0800000000000000" pitchFamily="50" charset="-127"/>
                <a:ea typeface="Cafe24 Ssurround Bold" panose="020F0800000000000000" pitchFamily="50" charset="-127"/>
                <a:cs typeface="Calibri" pitchFamily="34" charset="-120"/>
              </a:rPr>
              <a:t>인생게임</a:t>
            </a:r>
            <a:r>
              <a:rPr lang="en-US" sz="1200" dirty="0">
                <a:latin typeface="Cafe24 Ssurround Bold" panose="020F0800000000000000" pitchFamily="50" charset="-127"/>
                <a:ea typeface="Cafe24 Ssurround Bold" panose="020F0800000000000000" pitchFamily="50" charset="-127"/>
              </a:rPr>
              <a:t>           	          </a:t>
            </a:r>
            <a:r>
              <a:rPr lang="en-US" sz="1200" dirty="0">
                <a:latin typeface="Cafe24 Ssurround Bold" panose="020F0800000000000000" pitchFamily="50" charset="-127"/>
                <a:ea typeface="Cafe24 Ssurround Bold" panose="020F0800000000000000" pitchFamily="50" charset="-127"/>
                <a:cs typeface="Calibri" pitchFamily="34" charset="-120"/>
              </a:rPr>
              <a:t>( </a:t>
            </a:r>
            <a:r>
              <a:rPr lang="en-US" sz="1200" dirty="0" err="1">
                <a:latin typeface="Cafe24 Ssurround Bold" panose="020F0800000000000000" pitchFamily="50" charset="-127"/>
                <a:ea typeface="Cafe24 Ssurround Bold" panose="020F0800000000000000" pitchFamily="50" charset="-127"/>
                <a:cs typeface="Calibri" pitchFamily="34" charset="-120"/>
              </a:rPr>
              <a:t>일생을</a:t>
            </a:r>
            <a:r>
              <a:rPr lang="en-US" sz="1200" dirty="0">
                <a:latin typeface="Cafe24 Ssurround Bold" panose="020F0800000000000000" pitchFamily="50" charset="-127"/>
                <a:ea typeface="Cafe24 Ssurround Bold" panose="020F0800000000000000" pitchFamily="50" charset="-127"/>
                <a:cs typeface="Calibri" pitchFamily="34" charset="-120"/>
              </a:rPr>
              <a:t> 달리기 </a:t>
            </a:r>
            <a:r>
              <a:rPr lang="en-US" sz="1200" dirty="0" err="1">
                <a:latin typeface="Cafe24 Ssurround Bold" panose="020F0800000000000000" pitchFamily="50" charset="-127"/>
                <a:ea typeface="Cafe24 Ssurround Bold" panose="020F0800000000000000" pitchFamily="50" charset="-127"/>
                <a:cs typeface="Calibri" pitchFamily="34" charset="-120"/>
              </a:rPr>
              <a:t>형식으로</a:t>
            </a:r>
            <a:r>
              <a:rPr lang="en-US" sz="1200" dirty="0">
                <a:latin typeface="Cafe24 Ssurround Bold" panose="020F0800000000000000" pitchFamily="50" charset="-127"/>
                <a:ea typeface="Cafe24 Ssurround Bold" panose="020F0800000000000000" pitchFamily="50" charset="-127"/>
                <a:cs typeface="Calibri" pitchFamily="34" charset="-120"/>
              </a:rPr>
              <a:t> </a:t>
            </a:r>
            <a:r>
              <a:rPr lang="en-US" sz="1200" dirty="0" err="1">
                <a:latin typeface="Cafe24 Ssurround Bold" panose="020F0800000000000000" pitchFamily="50" charset="-127"/>
                <a:ea typeface="Cafe24 Ssurround Bold" panose="020F0800000000000000" pitchFamily="50" charset="-127"/>
                <a:cs typeface="Calibri" pitchFamily="34" charset="-120"/>
              </a:rPr>
              <a:t>표현</a:t>
            </a:r>
            <a:r>
              <a:rPr lang="en-US" sz="1200" dirty="0">
                <a:latin typeface="Cafe24 Ssurround Bold" panose="020F0800000000000000" pitchFamily="50" charset="-127"/>
                <a:ea typeface="Cafe24 Ssurround Bold" panose="020F0800000000000000" pitchFamily="50" charset="-127"/>
                <a:cs typeface="Calibri" pitchFamily="34" charset="-120"/>
              </a:rPr>
              <a:t> )</a:t>
            </a:r>
          </a:p>
          <a:p>
            <a:pPr algn="l"/>
            <a:endParaRPr lang="en-US" sz="1200" dirty="0">
              <a:latin typeface="Cafe24 Ssurround Bold" panose="020F0800000000000000" pitchFamily="50" charset="-127"/>
              <a:ea typeface="Cafe24 Ssurround Bold" panose="020F0800000000000000" pitchFamily="50" charset="-127"/>
              <a:cs typeface="Calibri" pitchFamily="34" charset="-120"/>
            </a:endParaRPr>
          </a:p>
        </p:txBody>
      </p:sp>
      <p:sp>
        <p:nvSpPr>
          <p:cNvPr id="28" name="Shape 0">
            <a:extLst>
              <a:ext uri="{FF2B5EF4-FFF2-40B4-BE49-F238E27FC236}">
                <a16:creationId xmlns:a16="http://schemas.microsoft.com/office/drawing/2014/main" id="{DA05CAEA-12F5-3D50-8F78-EAD45B12B4DD}"/>
              </a:ext>
            </a:extLst>
          </p:cNvPr>
          <p:cNvSpPr/>
          <p:nvPr/>
        </p:nvSpPr>
        <p:spPr>
          <a:xfrm>
            <a:off x="0" y="0"/>
            <a:ext cx="292608" cy="5143500"/>
          </a:xfrm>
          <a:prstGeom prst="rect">
            <a:avLst/>
          </a:prstGeom>
          <a:solidFill>
            <a:srgbClr val="3FBFA6">
              <a:alpha val="50000"/>
            </a:srgbClr>
          </a:solidFill>
          <a:ln w="12700">
            <a:noFill/>
            <a:prstDash val="solid"/>
          </a:ln>
        </p:spPr>
      </p:sp>
      <p:sp>
        <p:nvSpPr>
          <p:cNvPr id="29" name="Shape 0">
            <a:extLst>
              <a:ext uri="{FF2B5EF4-FFF2-40B4-BE49-F238E27FC236}">
                <a16:creationId xmlns:a16="http://schemas.microsoft.com/office/drawing/2014/main" id="{F12CAC18-7950-3175-BA25-8B15E8B51F60}"/>
              </a:ext>
            </a:extLst>
          </p:cNvPr>
          <p:cNvSpPr/>
          <p:nvPr/>
        </p:nvSpPr>
        <p:spPr>
          <a:xfrm>
            <a:off x="8851392" y="-3048"/>
            <a:ext cx="292608" cy="5143500"/>
          </a:xfrm>
          <a:prstGeom prst="rect">
            <a:avLst/>
          </a:prstGeom>
          <a:solidFill>
            <a:srgbClr val="3FBFA6">
              <a:alpha val="50000"/>
            </a:srgbClr>
          </a:solidFill>
          <a:ln w="12700">
            <a:noFill/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8321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300" dirty="0" err="1">
                <a:latin typeface="SB 어그로 Bold" panose="02020603020101020101" pitchFamily="18" charset="-127"/>
                <a:ea typeface="SB 어그로 Bold" panose="02020603020101020101" pitchFamily="18" charset="-127"/>
              </a:rPr>
              <a:t>클래스</a:t>
            </a:r>
            <a:r>
              <a:rPr lang="en-US" sz="3300" dirty="0">
                <a:latin typeface="SB 어그로 Bold" panose="02020603020101020101" pitchFamily="18" charset="-127"/>
                <a:ea typeface="SB 어그로 Bold" panose="02020603020101020101" pitchFamily="18" charset="-127"/>
              </a:rPr>
              <a:t> </a:t>
            </a:r>
            <a:r>
              <a:rPr lang="ko-KR" altLang="en-US" sz="3300" dirty="0">
                <a:latin typeface="SB 어그로 Bold" panose="02020603020101020101" pitchFamily="18" charset="-127"/>
                <a:ea typeface="SB 어그로 Bold" panose="02020603020101020101" pitchFamily="18" charset="-127"/>
              </a:rPr>
              <a:t>다이어그램</a:t>
            </a:r>
            <a:endParaRPr lang="en-US" sz="3300" dirty="0">
              <a:latin typeface="SB 어그로 Bold" panose="02020603020101020101" pitchFamily="18" charset="-127"/>
              <a:ea typeface="SB 어그로 Bold" panose="02020603020101020101" pitchFamily="18" charset="-127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11480" y="914400"/>
            <a:ext cx="8321040" cy="36576"/>
          </a:xfrm>
          <a:prstGeom prst="rect">
            <a:avLst/>
          </a:prstGeom>
          <a:solidFill>
            <a:srgbClr val="3FBFA6"/>
          </a:solidFill>
          <a:ln w="12700">
            <a:solidFill>
              <a:srgbClr val="3FBFA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399971" y="1097280"/>
            <a:ext cx="1990964" cy="731520"/>
          </a:xfrm>
          <a:prstGeom prst="rect">
            <a:avLst/>
          </a:prstGeom>
          <a:solidFill>
            <a:srgbClr val="1A2B3C"/>
          </a:solidFill>
          <a:ln w="12700">
            <a:solidFill>
              <a:srgbClr val="3FBFA6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3399971" y="1097280"/>
            <a:ext cx="19909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FBFA6"/>
                </a:solidFill>
                <a:latin typeface="CookieRunOTF Regular" panose="020B0600000101010101" pitchFamily="34" charset="-127"/>
                <a:ea typeface="CookieRunOTF Regular" panose="020B0600000101010101" pitchFamily="34" charset="-127"/>
                <a:cs typeface="Consolas" pitchFamily="34" charset="-120"/>
              </a:rPr>
              <a:t>GameManager</a:t>
            </a:r>
            <a:endParaRPr lang="en-US" sz="1500" dirty="0">
              <a:latin typeface="CookieRunOTF Regular" panose="020B0600000101010101" pitchFamily="34" charset="-127"/>
              <a:ea typeface="CookieRunOTF Regular" panose="020B0600000101010101" pitchFamily="34" charset="-127"/>
            </a:endParaRPr>
          </a:p>
        </p:txBody>
      </p:sp>
      <p:sp>
        <p:nvSpPr>
          <p:cNvPr id="6" name="Shape 4"/>
          <p:cNvSpPr/>
          <p:nvPr/>
        </p:nvSpPr>
        <p:spPr>
          <a:xfrm>
            <a:off x="1430382" y="2135776"/>
            <a:ext cx="0" cy="287383"/>
          </a:xfrm>
          <a:prstGeom prst="line">
            <a:avLst/>
          </a:prstGeom>
          <a:ln>
            <a:solidFill>
              <a:srgbClr val="3FBFA6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sp>
      <p:sp>
        <p:nvSpPr>
          <p:cNvPr id="7" name="Shape 5"/>
          <p:cNvSpPr/>
          <p:nvPr/>
        </p:nvSpPr>
        <p:spPr>
          <a:xfrm>
            <a:off x="3399971" y="2135776"/>
            <a:ext cx="0" cy="287384"/>
          </a:xfrm>
          <a:prstGeom prst="line">
            <a:avLst/>
          </a:prstGeom>
          <a:ln>
            <a:solidFill>
              <a:srgbClr val="3FBFA6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sp>
      <p:sp>
        <p:nvSpPr>
          <p:cNvPr id="8" name="Shape 6"/>
          <p:cNvSpPr/>
          <p:nvPr/>
        </p:nvSpPr>
        <p:spPr>
          <a:xfrm>
            <a:off x="5483679" y="2135776"/>
            <a:ext cx="0" cy="287384"/>
          </a:xfrm>
          <a:prstGeom prst="line">
            <a:avLst/>
          </a:prstGeom>
          <a:ln>
            <a:solidFill>
              <a:srgbClr val="3FBFA6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sp>
      <p:sp>
        <p:nvSpPr>
          <p:cNvPr id="9" name="Shape 7"/>
          <p:cNvSpPr/>
          <p:nvPr/>
        </p:nvSpPr>
        <p:spPr>
          <a:xfrm>
            <a:off x="7838988" y="2135775"/>
            <a:ext cx="0" cy="287384"/>
          </a:xfrm>
          <a:prstGeom prst="line">
            <a:avLst/>
          </a:prstGeom>
          <a:ln>
            <a:solidFill>
              <a:srgbClr val="3FBFA6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sp>
      <p:sp>
        <p:nvSpPr>
          <p:cNvPr id="10" name="Shape 8"/>
          <p:cNvSpPr/>
          <p:nvPr/>
        </p:nvSpPr>
        <p:spPr>
          <a:xfrm>
            <a:off x="411480" y="2423160"/>
            <a:ext cx="1779268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3FBFA6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11480" y="2423160"/>
            <a:ext cx="1779268" cy="347472"/>
          </a:xfrm>
          <a:prstGeom prst="rect">
            <a:avLst/>
          </a:prstGeom>
          <a:solidFill>
            <a:srgbClr val="3FBFA6"/>
          </a:solidFill>
          <a:ln w="12700">
            <a:solidFill>
              <a:srgbClr val="3FBFA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2423160"/>
            <a:ext cx="17792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ookieRunOTF Regular" panose="020B0600000101010101" pitchFamily="34" charset="-127"/>
                <a:ea typeface="CookieRunOTF Regular" panose="020B0600000101010101" pitchFamily="34" charset="-127"/>
                <a:cs typeface="Consolas" pitchFamily="34" charset="-120"/>
              </a:rPr>
              <a:t>GameEntity</a:t>
            </a:r>
            <a:endParaRPr lang="en-US" sz="1100" dirty="0">
              <a:latin typeface="CookieRunOTF Regular" panose="020B0600000101010101" pitchFamily="34" charset="-127"/>
              <a:ea typeface="CookieRunOTF Regular" panose="020B0600000101010101" pitchFamily="34" charset="-127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414747" y="2798064"/>
            <a:ext cx="1776001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2B3C"/>
                </a:solidFill>
                <a:latin typeface="CookieRunOTF Regular" panose="020B0600000101010101" pitchFamily="34" charset="-127"/>
                <a:ea typeface="CookieRunOTF Regular" panose="020B0600000101010101" pitchFamily="34" charset="-127"/>
                <a:cs typeface="Calibri" pitchFamily="34" charset="-120"/>
              </a:rPr>
              <a:t>새 객체</a:t>
            </a:r>
            <a:endParaRPr lang="en-US" sz="1100" dirty="0">
              <a:latin typeface="CookieRunOTF Regular" panose="020B0600000101010101" pitchFamily="34" charset="-127"/>
              <a:ea typeface="CookieRunOTF Regular" panose="020B0600000101010101" pitchFamily="34" charset="-127"/>
            </a:endParaRPr>
          </a:p>
          <a:p>
            <a:pPr marL="0" indent="0" algn="ctr">
              <a:buNone/>
            </a:pPr>
            <a:r>
              <a:rPr lang="en-US" sz="1100" dirty="0">
                <a:solidFill>
                  <a:srgbClr val="1A2B3C"/>
                </a:solidFill>
                <a:latin typeface="CookieRunOTF Regular" panose="020B0600000101010101" pitchFamily="34" charset="-127"/>
                <a:ea typeface="CookieRunOTF Regular" panose="020B0600000101010101" pitchFamily="34" charset="-127"/>
                <a:cs typeface="Calibri" pitchFamily="34" charset="-120"/>
              </a:rPr>
              <a:t>수치·성장·생존</a:t>
            </a:r>
            <a:endParaRPr lang="en-US" sz="1100" dirty="0">
              <a:latin typeface="CookieRunOTF Regular" panose="020B0600000101010101" pitchFamily="34" charset="-127"/>
              <a:ea typeface="CookieRunOTF Regular" panose="020B0600000101010101" pitchFamily="34" charset="-127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2543646" y="2423160"/>
            <a:ext cx="1779268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4A26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2543646" y="2423160"/>
            <a:ext cx="1779268" cy="347472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543646" y="2423160"/>
            <a:ext cx="177288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ookieRunOTF Regular" panose="020B0600000101010101" pitchFamily="34" charset="-127"/>
                <a:ea typeface="CookieRunOTF Regular" panose="020B0600000101010101" pitchFamily="34" charset="-127"/>
                <a:cs typeface="Consolas" pitchFamily="34" charset="-120"/>
              </a:rPr>
              <a:t>GameEngine</a:t>
            </a:r>
            <a:endParaRPr lang="en-US" sz="1100" dirty="0">
              <a:latin typeface="CookieRunOTF Regular" panose="020B0600000101010101" pitchFamily="34" charset="-127"/>
              <a:ea typeface="CookieRunOTF Regular" panose="020B0600000101010101" pitchFamily="34" charset="-127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2550031" y="2798064"/>
            <a:ext cx="177288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2B3C"/>
                </a:solidFill>
                <a:latin typeface="CookieRunOTF Regular" panose="020B0600000101010101" pitchFamily="34" charset="-127"/>
                <a:ea typeface="CookieRunOTF Regular" panose="020B0600000101010101" pitchFamily="34" charset="-127"/>
                <a:cs typeface="Calibri" pitchFamily="34" charset="-120"/>
              </a:rPr>
              <a:t>시간 흐름</a:t>
            </a:r>
            <a:endParaRPr lang="en-US" sz="1100" dirty="0">
              <a:latin typeface="CookieRunOTF Regular" panose="020B0600000101010101" pitchFamily="34" charset="-127"/>
              <a:ea typeface="CookieRunOTF Regular" panose="020B0600000101010101" pitchFamily="34" charset="-127"/>
            </a:endParaRPr>
          </a:p>
          <a:p>
            <a:pPr marL="0" indent="0" algn="ctr">
              <a:buNone/>
            </a:pPr>
            <a:r>
              <a:rPr lang="en-US" sz="1100" dirty="0">
                <a:solidFill>
                  <a:srgbClr val="1A2B3C"/>
                </a:solidFill>
                <a:latin typeface="CookieRunOTF Regular" panose="020B0600000101010101" pitchFamily="34" charset="-127"/>
                <a:ea typeface="CookieRunOTF Regular" panose="020B0600000101010101" pitchFamily="34" charset="-127"/>
                <a:cs typeface="Calibri" pitchFamily="34" charset="-120"/>
              </a:rPr>
              <a:t>주차·행동·성장</a:t>
            </a:r>
            <a:endParaRPr lang="en-US" sz="1100" dirty="0">
              <a:latin typeface="CookieRunOTF Regular" panose="020B0600000101010101" pitchFamily="34" charset="-127"/>
              <a:ea typeface="CookieRunOTF Regular" panose="020B0600000101010101" pitchFamily="34" charset="-127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4821087" y="2423160"/>
            <a:ext cx="1779268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2471A3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821087" y="2423160"/>
            <a:ext cx="1779268" cy="347472"/>
          </a:xfrm>
          <a:prstGeom prst="rect">
            <a:avLst/>
          </a:prstGeom>
          <a:solidFill>
            <a:srgbClr val="2471A3"/>
          </a:solidFill>
          <a:ln w="12700">
            <a:solidFill>
              <a:srgbClr val="2471A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21087" y="2423160"/>
            <a:ext cx="17792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ookieRunOTF Regular" panose="020B0600000101010101" pitchFamily="34" charset="-127"/>
                <a:ea typeface="CookieRunOTF Regular" panose="020B0600000101010101" pitchFamily="34" charset="-127"/>
                <a:cs typeface="Consolas" pitchFamily="34" charset="-120"/>
              </a:rPr>
              <a:t>ActionManager</a:t>
            </a:r>
            <a:endParaRPr lang="en-US" sz="1100" dirty="0">
              <a:latin typeface="CookieRunOTF Regular" panose="020B0600000101010101" pitchFamily="34" charset="-127"/>
              <a:ea typeface="CookieRunOTF Regular" panose="020B0600000101010101" pitchFamily="34" charset="-127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4826421" y="2798064"/>
            <a:ext cx="177393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2B3C"/>
                </a:solidFill>
                <a:latin typeface="CookieRunOTF Regular" panose="020B0600000101010101" pitchFamily="34" charset="-127"/>
                <a:ea typeface="CookieRunOTF Regular" panose="020B0600000101010101" pitchFamily="34" charset="-127"/>
                <a:cs typeface="Calibri" pitchFamily="34" charset="-120"/>
              </a:rPr>
              <a:t>행동 정의</a:t>
            </a:r>
            <a:endParaRPr lang="en-US" sz="1100" dirty="0">
              <a:latin typeface="CookieRunOTF Regular" panose="020B0600000101010101" pitchFamily="34" charset="-127"/>
              <a:ea typeface="CookieRunOTF Regular" panose="020B0600000101010101" pitchFamily="34" charset="-127"/>
            </a:endParaRPr>
          </a:p>
          <a:p>
            <a:pPr marL="0" indent="0" algn="ctr">
              <a:buNone/>
            </a:pPr>
            <a:r>
              <a:rPr lang="en-US" sz="1100" dirty="0">
                <a:solidFill>
                  <a:srgbClr val="1A2B3C"/>
                </a:solidFill>
                <a:latin typeface="CookieRunOTF Regular" panose="020B0600000101010101" pitchFamily="34" charset="-127"/>
                <a:ea typeface="CookieRunOTF Regular" panose="020B0600000101010101" pitchFamily="34" charset="-127"/>
                <a:cs typeface="Calibri" pitchFamily="34" charset="-120"/>
              </a:rPr>
              <a:t>인벤토리·아이템</a:t>
            </a:r>
            <a:endParaRPr lang="en-US" sz="1100" dirty="0">
              <a:latin typeface="CookieRunOTF Regular" panose="020B0600000101010101" pitchFamily="34" charset="-127"/>
              <a:ea typeface="CookieRunOTF Regular" panose="020B0600000101010101" pitchFamily="34" charset="-127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6949985" y="2423160"/>
            <a:ext cx="1779268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7D3C98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949985" y="2423160"/>
            <a:ext cx="1779268" cy="347472"/>
          </a:xfrm>
          <a:prstGeom prst="rect">
            <a:avLst/>
          </a:prstGeom>
          <a:solidFill>
            <a:srgbClr val="7D3C98"/>
          </a:solidFill>
          <a:ln w="12700">
            <a:solidFill>
              <a:srgbClr val="7D3C9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949985" y="2423160"/>
            <a:ext cx="178253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ookieRunOTF Regular" panose="020B0600000101010101" pitchFamily="34" charset="-127"/>
                <a:ea typeface="CookieRunOTF Regular" panose="020B0600000101010101" pitchFamily="34" charset="-127"/>
                <a:cs typeface="Consolas" pitchFamily="34" charset="-120"/>
              </a:rPr>
              <a:t>UIRenderer</a:t>
            </a:r>
            <a:endParaRPr lang="en-US" sz="1100" dirty="0">
              <a:latin typeface="CookieRunOTF Regular" panose="020B0600000101010101" pitchFamily="34" charset="-127"/>
              <a:ea typeface="CookieRunOTF Regular" panose="020B0600000101010101" pitchFamily="34" charset="-127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6949985" y="2798064"/>
            <a:ext cx="17792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2B3C"/>
                </a:solidFill>
                <a:latin typeface="CookieRunOTF Regular" panose="020B0600000101010101" pitchFamily="34" charset="-127"/>
                <a:ea typeface="CookieRunOTF Regular" panose="020B0600000101010101" pitchFamily="34" charset="-127"/>
                <a:cs typeface="Calibri" pitchFamily="34" charset="-120"/>
              </a:rPr>
              <a:t>화면 출력</a:t>
            </a:r>
            <a:endParaRPr lang="en-US" sz="1100" dirty="0">
              <a:latin typeface="CookieRunOTF Regular" panose="020B0600000101010101" pitchFamily="34" charset="-127"/>
              <a:ea typeface="CookieRunOTF Regular" panose="020B0600000101010101" pitchFamily="34" charset="-127"/>
            </a:endParaRPr>
          </a:p>
          <a:p>
            <a:pPr marL="0" indent="0" algn="ctr">
              <a:buNone/>
            </a:pPr>
            <a:r>
              <a:rPr lang="en-US" sz="1100" dirty="0">
                <a:solidFill>
                  <a:srgbClr val="1A2B3C"/>
                </a:solidFill>
                <a:latin typeface="CookieRunOTF Regular" panose="020B0600000101010101" pitchFamily="34" charset="-127"/>
                <a:ea typeface="CookieRunOTF Regular" panose="020B0600000101010101" pitchFamily="34" charset="-127"/>
                <a:cs typeface="Calibri" pitchFamily="34" charset="-120"/>
              </a:rPr>
              <a:t>아트·게이지·엔딩</a:t>
            </a:r>
            <a:endParaRPr lang="en-US" sz="1100" dirty="0">
              <a:latin typeface="CookieRunOTF Regular" panose="020B0600000101010101" pitchFamily="34" charset="-127"/>
              <a:ea typeface="CookieRunOTF Regular" panose="020B0600000101010101" pitchFamily="34" charset="-127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320040" y="3657600"/>
            <a:ext cx="8503920" cy="1188720"/>
          </a:xfrm>
          <a:prstGeom prst="rect">
            <a:avLst/>
          </a:prstGeom>
          <a:solidFill>
            <a:srgbClr val="1A2B3C"/>
          </a:solidFill>
          <a:ln w="12700">
            <a:solidFill>
              <a:srgbClr val="3FBFA6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411480" y="3832861"/>
            <a:ext cx="8321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FBFA6"/>
                </a:solidFill>
                <a:latin typeface="여기어때 잘난체 고딕 TTF" pitchFamily="2" charset="-127"/>
                <a:ea typeface="여기어때 잘난체 고딕 TTF" pitchFamily="2" charset="-127"/>
                <a:cs typeface="Consolas" pitchFamily="34" charset="-120"/>
              </a:rPr>
              <a:t>만족도  =  ( 포만감 + 청결도 + 훈련도 + (100 − 스트레스) )  ÷  4</a:t>
            </a:r>
            <a:endParaRPr lang="en-US" sz="1600" dirty="0">
              <a:latin typeface="여기어때 잘난체 고딕 TTF" pitchFamily="2" charset="-127"/>
              <a:ea typeface="여기어때 잘난체 고딕 TTF" pitchFamily="2" charset="-127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411480" y="4224528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07D8B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엔딩 분기의 핵심 지표  |  매 턴 실시간 갱신  |  0 ~ 100 범위 클램프</a:t>
            </a:r>
            <a:endParaRPr lang="en-US" sz="1200" dirty="0">
              <a:latin typeface="여기어때 잘난체 고딕 TTF" pitchFamily="2" charset="-127"/>
              <a:ea typeface="여기어때 잘난체 고딕 TTF" pitchFamily="2" charset="-127"/>
            </a:endParaRPr>
          </a:p>
        </p:txBody>
      </p:sp>
      <p:sp>
        <p:nvSpPr>
          <p:cNvPr id="29" name="Shape 4">
            <a:extLst>
              <a:ext uri="{FF2B5EF4-FFF2-40B4-BE49-F238E27FC236}">
                <a16:creationId xmlns:a16="http://schemas.microsoft.com/office/drawing/2014/main" id="{19A6AD1F-EC05-0FD9-FCDD-3C281C71BAED}"/>
              </a:ext>
            </a:extLst>
          </p:cNvPr>
          <p:cNvSpPr/>
          <p:nvPr/>
        </p:nvSpPr>
        <p:spPr>
          <a:xfrm flipV="1">
            <a:off x="1425810" y="2135774"/>
            <a:ext cx="6413178" cy="2"/>
          </a:xfrm>
          <a:prstGeom prst="line">
            <a:avLst/>
          </a:prstGeom>
          <a:ln>
            <a:solidFill>
              <a:srgbClr val="3FBFA6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sp>
      <p:sp>
        <p:nvSpPr>
          <p:cNvPr id="36" name="다이아몬드 35">
            <a:extLst>
              <a:ext uri="{FF2B5EF4-FFF2-40B4-BE49-F238E27FC236}">
                <a16:creationId xmlns:a16="http://schemas.microsoft.com/office/drawing/2014/main" id="{5AB06256-0306-EEF0-1675-6913BEC82285}"/>
              </a:ext>
            </a:extLst>
          </p:cNvPr>
          <p:cNvSpPr/>
          <p:nvPr/>
        </p:nvSpPr>
        <p:spPr>
          <a:xfrm>
            <a:off x="4348188" y="1828800"/>
            <a:ext cx="92745" cy="91435"/>
          </a:xfrm>
          <a:prstGeom prst="diamond">
            <a:avLst/>
          </a:prstGeom>
          <a:solidFill>
            <a:srgbClr val="3FBFA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Shape 6">
            <a:extLst>
              <a:ext uri="{FF2B5EF4-FFF2-40B4-BE49-F238E27FC236}">
                <a16:creationId xmlns:a16="http://schemas.microsoft.com/office/drawing/2014/main" id="{FBBE44D9-2FF9-77EB-1DDA-EAD703BC7519}"/>
              </a:ext>
            </a:extLst>
          </p:cNvPr>
          <p:cNvSpPr/>
          <p:nvPr/>
        </p:nvSpPr>
        <p:spPr>
          <a:xfrm>
            <a:off x="4392276" y="1839248"/>
            <a:ext cx="0" cy="296528"/>
          </a:xfrm>
          <a:prstGeom prst="line">
            <a:avLst/>
          </a:prstGeom>
          <a:ln>
            <a:solidFill>
              <a:srgbClr val="3FBFA6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C15CD2DA-52D3-C962-9136-1AFC5DF87612}"/>
              </a:ext>
            </a:extLst>
          </p:cNvPr>
          <p:cNvCxnSpPr>
            <a:stCxn id="14" idx="1"/>
            <a:endCxn id="10" idx="3"/>
          </p:cNvCxnSpPr>
          <p:nvPr/>
        </p:nvCxnSpPr>
        <p:spPr>
          <a:xfrm flipH="1">
            <a:off x="2190748" y="2948940"/>
            <a:ext cx="352898" cy="0"/>
          </a:xfrm>
          <a:prstGeom prst="straightConnector1">
            <a:avLst/>
          </a:prstGeom>
          <a:ln>
            <a:solidFill>
              <a:srgbClr val="3FBFA6"/>
            </a:solidFill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40" name="직선 화살표 연결선 39">
            <a:extLst>
              <a:ext uri="{FF2B5EF4-FFF2-40B4-BE49-F238E27FC236}">
                <a16:creationId xmlns:a16="http://schemas.microsoft.com/office/drawing/2014/main" id="{8A82FD32-17F5-C99E-2D3A-663A2B507D64}"/>
              </a:ext>
            </a:extLst>
          </p:cNvPr>
          <p:cNvCxnSpPr>
            <a:cxnSpLocks/>
            <a:stCxn id="14" idx="3"/>
            <a:endCxn id="18" idx="1"/>
          </p:cNvCxnSpPr>
          <p:nvPr/>
        </p:nvCxnSpPr>
        <p:spPr>
          <a:xfrm>
            <a:off x="4322914" y="2948940"/>
            <a:ext cx="498173" cy="0"/>
          </a:xfrm>
          <a:prstGeom prst="straightConnector1">
            <a:avLst/>
          </a:prstGeom>
          <a:ln>
            <a:solidFill>
              <a:srgbClr val="3FBFA6"/>
            </a:solidFill>
            <a:prstDash val="sysDash"/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ED3253CD-59F3-B0CA-EA0C-15F917B0F5CE}"/>
              </a:ext>
            </a:extLst>
          </p:cNvPr>
          <p:cNvCxnSpPr>
            <a:cxnSpLocks/>
            <a:stCxn id="18" idx="3"/>
            <a:endCxn id="22" idx="1"/>
          </p:cNvCxnSpPr>
          <p:nvPr/>
        </p:nvCxnSpPr>
        <p:spPr>
          <a:xfrm>
            <a:off x="6600355" y="2948940"/>
            <a:ext cx="349630" cy="0"/>
          </a:xfrm>
          <a:prstGeom prst="straightConnector1">
            <a:avLst/>
          </a:prstGeom>
          <a:ln>
            <a:solidFill>
              <a:srgbClr val="3FBFA6"/>
            </a:solidFill>
            <a:prstDash val="sysDash"/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51" name="Shape 0">
            <a:extLst>
              <a:ext uri="{FF2B5EF4-FFF2-40B4-BE49-F238E27FC236}">
                <a16:creationId xmlns:a16="http://schemas.microsoft.com/office/drawing/2014/main" id="{593A8B2D-95E0-1005-52C0-1DD98EF10091}"/>
              </a:ext>
            </a:extLst>
          </p:cNvPr>
          <p:cNvSpPr/>
          <p:nvPr/>
        </p:nvSpPr>
        <p:spPr>
          <a:xfrm>
            <a:off x="0" y="0"/>
            <a:ext cx="292608" cy="5143500"/>
          </a:xfrm>
          <a:prstGeom prst="rect">
            <a:avLst/>
          </a:prstGeom>
          <a:solidFill>
            <a:srgbClr val="3FBFA6">
              <a:alpha val="50000"/>
            </a:srgbClr>
          </a:solidFill>
          <a:ln w="12700">
            <a:noFill/>
            <a:prstDash val="solid"/>
          </a:ln>
        </p:spPr>
      </p:sp>
      <p:sp>
        <p:nvSpPr>
          <p:cNvPr id="52" name="Shape 0">
            <a:extLst>
              <a:ext uri="{FF2B5EF4-FFF2-40B4-BE49-F238E27FC236}">
                <a16:creationId xmlns:a16="http://schemas.microsoft.com/office/drawing/2014/main" id="{ACA1CF90-5C4B-2CF9-31ED-62BBECD5523E}"/>
              </a:ext>
            </a:extLst>
          </p:cNvPr>
          <p:cNvSpPr/>
          <p:nvPr/>
        </p:nvSpPr>
        <p:spPr>
          <a:xfrm>
            <a:off x="8851392" y="-3048"/>
            <a:ext cx="292608" cy="5143500"/>
          </a:xfrm>
          <a:prstGeom prst="rect">
            <a:avLst/>
          </a:prstGeom>
          <a:solidFill>
            <a:srgbClr val="3FBFA6">
              <a:alpha val="50000"/>
            </a:srgbClr>
          </a:solidFill>
          <a:ln w="12700">
            <a:noFill/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8321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300" dirty="0">
                <a:solidFill>
                  <a:srgbClr val="1A2B3C"/>
                </a:solidFill>
                <a:latin typeface="SB 어그로 Bold" panose="02020603020101020101" pitchFamily="18" charset="-127"/>
                <a:ea typeface="SB 어그로 Bold" panose="02020603020101020101" pitchFamily="18" charset="-127"/>
                <a:cs typeface="Arial Black" pitchFamily="34" charset="-120"/>
              </a:rPr>
              <a:t>게임 </a:t>
            </a:r>
            <a:r>
              <a:rPr lang="en-US" sz="3300" dirty="0" err="1">
                <a:solidFill>
                  <a:srgbClr val="1A2B3C"/>
                </a:solidFill>
                <a:latin typeface="SB 어그로 Bold" panose="02020603020101020101" pitchFamily="18" charset="-127"/>
                <a:ea typeface="SB 어그로 Bold" panose="02020603020101020101" pitchFamily="18" charset="-127"/>
                <a:cs typeface="Arial Black" pitchFamily="34" charset="-120"/>
              </a:rPr>
              <a:t>흐름</a:t>
            </a:r>
            <a:r>
              <a:rPr lang="en-US" sz="3300" dirty="0">
                <a:solidFill>
                  <a:srgbClr val="1A2B3C"/>
                </a:solidFill>
                <a:latin typeface="SB 어그로 Bold" panose="02020603020101020101" pitchFamily="18" charset="-127"/>
                <a:ea typeface="SB 어그로 Bold" panose="02020603020101020101" pitchFamily="18" charset="-127"/>
                <a:cs typeface="Arial Black" pitchFamily="34" charset="-120"/>
              </a:rPr>
              <a:t>  -  성장 단계</a:t>
            </a:r>
            <a:endParaRPr lang="en-US" sz="3300" dirty="0">
              <a:latin typeface="SB 어그로 Bold" panose="02020603020101020101" pitchFamily="18" charset="-127"/>
              <a:ea typeface="SB 어그로 Bold" panose="02020603020101020101" pitchFamily="18" charset="-127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11480" y="914400"/>
            <a:ext cx="8321040" cy="36576"/>
          </a:xfrm>
          <a:prstGeom prst="rect">
            <a:avLst/>
          </a:prstGeom>
          <a:solidFill>
            <a:srgbClr val="3FBFA6"/>
          </a:solidFill>
          <a:ln w="12700">
            <a:solidFill>
              <a:srgbClr val="3FBFA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43484" y="1097280"/>
            <a:ext cx="1600200" cy="347472"/>
          </a:xfrm>
          <a:prstGeom prst="rect">
            <a:avLst/>
          </a:prstGeom>
          <a:solidFill>
            <a:srgbClr val="3FBFA6"/>
          </a:solidFill>
          <a:ln w="12700">
            <a:solidFill>
              <a:srgbClr val="3FBFA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43484" y="1097280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1 주</a:t>
            </a:r>
            <a:endParaRPr lang="en-US" sz="1100" dirty="0">
              <a:latin typeface="여기어때 잘난체 고딕 TTF" pitchFamily="2" charset="-127"/>
              <a:ea typeface="여기어때 잘난체 고딕 TTF" pitchFamily="2" charset="-127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43484" y="1444752"/>
            <a:ext cx="160020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3FBFA6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43484" y="1463040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607D8B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🥚알</a:t>
            </a:r>
            <a:endParaRPr lang="en-US" sz="1300" dirty="0">
              <a:latin typeface="여기어때 잘난체 고딕 TTF" pitchFamily="2" charset="-127"/>
              <a:ea typeface="여기어때 잘난체 고딕 TTF" pitchFamily="2" charset="-127"/>
            </a:endParaRPr>
          </a:p>
        </p:txBody>
      </p:sp>
      <p:sp>
        <p:nvSpPr>
          <p:cNvPr id="8" name="Text 6"/>
          <p:cNvSpPr/>
          <p:nvPr/>
        </p:nvSpPr>
        <p:spPr>
          <a:xfrm>
            <a:off x="516636" y="1975104"/>
            <a:ext cx="1453896" cy="177393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50" dirty="0">
                <a:solidFill>
                  <a:srgbClr val="1A2B3C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품어주기</a:t>
            </a:r>
            <a:endParaRPr lang="en-US" sz="1150" dirty="0">
              <a:latin typeface="여기어때 잘난체 고딕 TTF" pitchFamily="2" charset="-127"/>
              <a:ea typeface="여기어때 잘난체 고딕 TTF" pitchFamily="2" charset="-127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50" dirty="0">
                <a:solidFill>
                  <a:srgbClr val="1A2B3C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쓰다듬기</a:t>
            </a:r>
            <a:endParaRPr lang="en-US" sz="1150" dirty="0">
              <a:latin typeface="여기어때 잘난체 고딕 TTF" pitchFamily="2" charset="-127"/>
              <a:ea typeface="여기어때 잘난체 고딕 TTF" pitchFamily="2" charset="-127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50" dirty="0" err="1">
                <a:solidFill>
                  <a:srgbClr val="1A2B3C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방치하기</a:t>
            </a:r>
            <a:endParaRPr lang="en-US" sz="1150" dirty="0">
              <a:latin typeface="여기어때 잘난체 고딕 TTF" pitchFamily="2" charset="-127"/>
              <a:ea typeface="여기어때 잘난체 고딕 TTF" pitchFamily="2" charset="-127"/>
            </a:endParaRPr>
          </a:p>
          <a:p>
            <a:pPr marL="0" indent="0">
              <a:buNone/>
            </a:pPr>
            <a:r>
              <a:rPr lang="en-US" sz="1150" dirty="0">
                <a:solidFill>
                  <a:srgbClr val="1A2B3C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( </a:t>
            </a:r>
            <a:r>
              <a:rPr lang="en-US" sz="1150" dirty="0" err="1">
                <a:solidFill>
                  <a:srgbClr val="1A2B3C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사망</a:t>
            </a:r>
            <a:r>
              <a:rPr lang="en-US" sz="1150" dirty="0">
                <a:solidFill>
                  <a:srgbClr val="1A2B3C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 </a:t>
            </a:r>
            <a:r>
              <a:rPr lang="en-US" sz="1150" dirty="0" err="1">
                <a:solidFill>
                  <a:srgbClr val="1A2B3C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판정</a:t>
            </a:r>
            <a:r>
              <a:rPr lang="en-US" sz="1150" dirty="0">
                <a:solidFill>
                  <a:srgbClr val="1A2B3C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 </a:t>
            </a:r>
            <a:r>
              <a:rPr lang="en-US" sz="1150" dirty="0" err="1">
                <a:solidFill>
                  <a:srgbClr val="1A2B3C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없음</a:t>
            </a:r>
            <a:r>
              <a:rPr lang="en-US" sz="1150" dirty="0">
                <a:solidFill>
                  <a:srgbClr val="1A2B3C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 )</a:t>
            </a:r>
            <a:endParaRPr lang="en-US" sz="1150" dirty="0">
              <a:latin typeface="여기어때 잘난체 고딕 TTF" pitchFamily="2" charset="-127"/>
              <a:ea typeface="여기어때 잘난체 고딕 TTF" pitchFamily="2" charset="-127"/>
            </a:endParaRPr>
          </a:p>
        </p:txBody>
      </p:sp>
      <p:sp>
        <p:nvSpPr>
          <p:cNvPr id="9" name="Shape 7"/>
          <p:cNvSpPr/>
          <p:nvPr/>
        </p:nvSpPr>
        <p:spPr>
          <a:xfrm>
            <a:off x="2107692" y="1097280"/>
            <a:ext cx="1600200" cy="347472"/>
          </a:xfrm>
          <a:prstGeom prst="rect">
            <a:avLst/>
          </a:prstGeom>
          <a:solidFill>
            <a:srgbClr val="319784"/>
          </a:solidFill>
          <a:ln w="12700">
            <a:solidFill>
              <a:srgbClr val="31978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107692" y="1097280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2 ~ 3 주</a:t>
            </a:r>
            <a:endParaRPr lang="en-US" sz="1100" dirty="0">
              <a:latin typeface="여기어때 잘난체 고딕 TTF" pitchFamily="2" charset="-127"/>
              <a:ea typeface="여기어때 잘난체 고딕 TTF" pitchFamily="2" charset="-127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2107692" y="1444752"/>
            <a:ext cx="160020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319784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2107692" y="1463040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471A3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🐣</a:t>
            </a:r>
            <a:r>
              <a:rPr lang="en-US" sz="1300" b="1" dirty="0" err="1">
                <a:solidFill>
                  <a:srgbClr val="2471A3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유아기</a:t>
            </a:r>
            <a:endParaRPr lang="en-US" sz="1300" dirty="0">
              <a:latin typeface="여기어때 잘난체 고딕 TTF" pitchFamily="2" charset="-127"/>
              <a:ea typeface="여기어때 잘난체 고딕 TTF" pitchFamily="2" charset="-127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2180844" y="1975104"/>
            <a:ext cx="1453896" cy="177393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50" dirty="0">
                <a:solidFill>
                  <a:srgbClr val="1A2B3C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이유식 먹이기</a:t>
            </a:r>
            <a:endParaRPr lang="en-US" sz="1150" dirty="0">
              <a:latin typeface="여기어때 잘난체 고딕 TTF" pitchFamily="2" charset="-127"/>
              <a:ea typeface="여기어때 잘난체 고딕 TTF" pitchFamily="2" charset="-127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50" dirty="0">
                <a:solidFill>
                  <a:srgbClr val="1A2B3C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청소하기</a:t>
            </a:r>
            <a:endParaRPr lang="en-US" sz="1150" dirty="0">
              <a:latin typeface="여기어때 잘난체 고딕 TTF" pitchFamily="2" charset="-127"/>
              <a:ea typeface="여기어때 잘난체 고딕 TTF" pitchFamily="2" charset="-127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50" dirty="0">
                <a:solidFill>
                  <a:srgbClr val="1A2B3C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재우기</a:t>
            </a:r>
            <a:endParaRPr lang="en-US" sz="1150" dirty="0">
              <a:latin typeface="여기어때 잘난체 고딕 TTF" pitchFamily="2" charset="-127"/>
              <a:ea typeface="여기어때 잘난체 고딕 TTF" pitchFamily="2" charset="-127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50" dirty="0" err="1">
                <a:solidFill>
                  <a:srgbClr val="1A2B3C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놀아주기</a:t>
            </a:r>
            <a:endParaRPr lang="en-US" sz="1150" dirty="0">
              <a:solidFill>
                <a:srgbClr val="1A2B3C"/>
              </a:solidFill>
              <a:latin typeface="여기어때 잘난체 고딕 TTF" pitchFamily="2" charset="-127"/>
              <a:ea typeface="여기어때 잘난체 고딕 TTF" pitchFamily="2" charset="-127"/>
              <a:cs typeface="Calibri" pitchFamily="34" charset="-120"/>
            </a:endParaRPr>
          </a:p>
          <a:p>
            <a:r>
              <a:rPr lang="en-US" sz="1150" dirty="0">
                <a:solidFill>
                  <a:srgbClr val="1A2B3C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    ( </a:t>
            </a:r>
            <a:r>
              <a:rPr lang="en-US" sz="1150" dirty="0" err="1">
                <a:solidFill>
                  <a:srgbClr val="1A2B3C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산책</a:t>
            </a:r>
            <a:r>
              <a:rPr lang="en-US" sz="1150" dirty="0">
                <a:solidFill>
                  <a:srgbClr val="1A2B3C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 </a:t>
            </a:r>
            <a:r>
              <a:rPr lang="en-US" sz="1150" dirty="0" err="1">
                <a:solidFill>
                  <a:srgbClr val="1A2B3C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제외</a:t>
            </a:r>
            <a:r>
              <a:rPr lang="en-US" sz="1150" dirty="0">
                <a:solidFill>
                  <a:srgbClr val="1A2B3C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 )</a:t>
            </a:r>
            <a:endParaRPr lang="en-US" sz="1150" dirty="0">
              <a:latin typeface="여기어때 잘난체 고딕 TTF" pitchFamily="2" charset="-127"/>
              <a:ea typeface="여기어때 잘난체 고딕 TTF" pitchFamily="2" charset="-127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3771900" y="1097280"/>
            <a:ext cx="1600200" cy="347472"/>
          </a:xfrm>
          <a:prstGeom prst="rect">
            <a:avLst/>
          </a:prstGeom>
          <a:solidFill>
            <a:srgbClr val="287C6C"/>
          </a:solidFill>
          <a:ln w="12700">
            <a:solidFill>
              <a:srgbClr val="287C6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771900" y="1097280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4 ~ 5 주</a:t>
            </a:r>
            <a:endParaRPr lang="en-US" sz="1100" dirty="0">
              <a:latin typeface="여기어때 잘난체 고딕 TTF" pitchFamily="2" charset="-127"/>
              <a:ea typeface="여기어때 잘난체 고딕 TTF" pitchFamily="2" charset="-127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3771900" y="1444752"/>
            <a:ext cx="160020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287C6C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3771900" y="1463040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FBFA6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🐦</a:t>
            </a:r>
            <a:r>
              <a:rPr lang="en-US" sz="1300" b="1" dirty="0" err="1">
                <a:solidFill>
                  <a:srgbClr val="3FBFA6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유년기</a:t>
            </a:r>
            <a:endParaRPr lang="en-US" sz="1300" dirty="0">
              <a:latin typeface="여기어때 잘난체 고딕 TTF" pitchFamily="2" charset="-127"/>
              <a:ea typeface="여기어때 잘난체 고딕 TTF" pitchFamily="2" charset="-127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3845052" y="1975104"/>
            <a:ext cx="1453896" cy="177393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50" dirty="0">
                <a:solidFill>
                  <a:srgbClr val="1A2B3C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먹이 주기</a:t>
            </a:r>
            <a:endParaRPr lang="en-US" sz="1150" dirty="0">
              <a:latin typeface="여기어때 잘난체 고딕 TTF" pitchFamily="2" charset="-127"/>
              <a:ea typeface="여기어때 잘난체 고딕 TTF" pitchFamily="2" charset="-127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50" dirty="0">
                <a:solidFill>
                  <a:srgbClr val="1A2B3C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청소하기</a:t>
            </a:r>
            <a:endParaRPr lang="en-US" sz="1150" dirty="0">
              <a:latin typeface="여기어때 잘난체 고딕 TTF" pitchFamily="2" charset="-127"/>
              <a:ea typeface="여기어때 잘난체 고딕 TTF" pitchFamily="2" charset="-127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50" dirty="0">
                <a:solidFill>
                  <a:srgbClr val="1A2B3C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훈련 시키기</a:t>
            </a:r>
            <a:endParaRPr lang="en-US" sz="1150" dirty="0">
              <a:latin typeface="여기어때 잘난체 고딕 TTF" pitchFamily="2" charset="-127"/>
              <a:ea typeface="여기어때 잘난체 고딕 TTF" pitchFamily="2" charset="-127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50" dirty="0">
                <a:solidFill>
                  <a:srgbClr val="1A2B3C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놀아주기</a:t>
            </a:r>
            <a:endParaRPr lang="en-US" sz="1150" dirty="0">
              <a:latin typeface="여기어때 잘난체 고딕 TTF" pitchFamily="2" charset="-127"/>
              <a:ea typeface="여기어때 잘난체 고딕 TTF" pitchFamily="2" charset="-127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5436108" y="1097280"/>
            <a:ext cx="1600200" cy="347472"/>
          </a:xfrm>
          <a:prstGeom prst="rect">
            <a:avLst/>
          </a:prstGeom>
          <a:solidFill>
            <a:srgbClr val="22685B"/>
          </a:solidFill>
          <a:ln w="12700">
            <a:solidFill>
              <a:srgbClr val="22685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36108" y="1097280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6 ~ 7 주</a:t>
            </a:r>
            <a:endParaRPr lang="en-US" sz="1100" dirty="0">
              <a:latin typeface="여기어때 잘난체 고딕 TTF" pitchFamily="2" charset="-127"/>
              <a:ea typeface="여기어때 잘난체 고딕 TTF" pitchFamily="2" charset="-127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5436108" y="1444752"/>
            <a:ext cx="160020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22685B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5436108" y="1463040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4A261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🦜</a:t>
            </a:r>
            <a:r>
              <a:rPr lang="en-US" sz="1300" b="1" dirty="0" err="1">
                <a:solidFill>
                  <a:srgbClr val="F4A261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청소년기</a:t>
            </a:r>
            <a:endParaRPr lang="en-US" sz="1300" dirty="0">
              <a:latin typeface="여기어때 잘난체 고딕 TTF" pitchFamily="2" charset="-127"/>
              <a:ea typeface="여기어때 잘난체 고딕 TTF" pitchFamily="2" charset="-127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5509260" y="1975104"/>
            <a:ext cx="1453896" cy="177393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sz="1150" dirty="0">
                <a:solidFill>
                  <a:srgbClr val="1A2B3C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모든 행동 가능</a:t>
            </a:r>
            <a:endParaRPr lang="en-US" altLang="ko-KR" sz="1150" dirty="0">
              <a:solidFill>
                <a:srgbClr val="1A2B3C"/>
              </a:solidFill>
              <a:latin typeface="여기어때 잘난체 고딕 TTF" pitchFamily="2" charset="-127"/>
              <a:ea typeface="여기어때 잘난체 고딕 TTF" pitchFamily="2" charset="-127"/>
              <a:cs typeface="Calibri" pitchFamily="34" charset="-12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sz="1150" dirty="0">
                <a:solidFill>
                  <a:srgbClr val="1A2B3C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훈련 선택지 추가</a:t>
            </a:r>
            <a:endParaRPr lang="en-US" altLang="ko-KR" sz="1150" dirty="0">
              <a:solidFill>
                <a:srgbClr val="1A2B3C"/>
              </a:solidFill>
              <a:latin typeface="여기어때 잘난체 고딕 TTF" pitchFamily="2" charset="-127"/>
              <a:ea typeface="여기어때 잘난체 고딕 TTF" pitchFamily="2" charset="-127"/>
              <a:cs typeface="Calibri" pitchFamily="34" charset="-12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50" dirty="0" err="1">
                <a:solidFill>
                  <a:srgbClr val="1A2B3C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아이템</a:t>
            </a:r>
            <a:r>
              <a:rPr lang="en-US" sz="1150" dirty="0">
                <a:solidFill>
                  <a:srgbClr val="1A2B3C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 </a:t>
            </a:r>
            <a:r>
              <a:rPr lang="en-US" sz="1150" dirty="0" err="1">
                <a:solidFill>
                  <a:srgbClr val="1A2B3C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활용</a:t>
            </a:r>
            <a:r>
              <a:rPr lang="en-US" sz="1150" dirty="0">
                <a:latin typeface="여기어때 잘난체 고딕 TTF" pitchFamily="2" charset="-127"/>
                <a:ea typeface="여기어때 잘난체 고딕 TTF" pitchFamily="2" charset="-127"/>
              </a:rPr>
              <a:t> </a:t>
            </a:r>
            <a:r>
              <a:rPr lang="en-US" sz="1150" dirty="0" err="1">
                <a:solidFill>
                  <a:srgbClr val="1A2B3C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가능</a:t>
            </a:r>
            <a:endParaRPr lang="en-US" sz="1150" dirty="0">
              <a:latin typeface="여기어때 잘난체 고딕 TTF" pitchFamily="2" charset="-127"/>
              <a:ea typeface="여기어때 잘난체 고딕 TTF" pitchFamily="2" charset="-127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7100316" y="1097280"/>
            <a:ext cx="1600200" cy="347472"/>
          </a:xfrm>
          <a:prstGeom prst="rect">
            <a:avLst/>
          </a:prstGeom>
          <a:noFill/>
          <a:ln w="12700">
            <a:solidFill>
              <a:srgbClr val="C0392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100316" y="1097280"/>
            <a:ext cx="1600200" cy="347472"/>
          </a:xfrm>
          <a:prstGeom prst="rect">
            <a:avLst/>
          </a:prstGeom>
          <a:solidFill>
            <a:srgbClr val="18483F"/>
          </a:solidFill>
          <a:ln>
            <a:solidFill>
              <a:srgbClr val="18483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8 주</a:t>
            </a:r>
            <a:endParaRPr lang="en-US" sz="1100" dirty="0">
              <a:latin typeface="여기어때 잘난체 고딕 TTF" pitchFamily="2" charset="-127"/>
              <a:ea typeface="여기어때 잘난체 고딕 TTF" pitchFamily="2" charset="-127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7100316" y="1444752"/>
            <a:ext cx="160020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18483F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7100316" y="1463040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0392B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🦅</a:t>
            </a:r>
            <a:r>
              <a:rPr lang="en-US" sz="1300" b="1" dirty="0" err="1">
                <a:solidFill>
                  <a:srgbClr val="C0392B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성체</a:t>
            </a:r>
            <a:endParaRPr lang="en-US" sz="1300" dirty="0">
              <a:latin typeface="여기어때 잘난체 고딕 TTF" pitchFamily="2" charset="-127"/>
              <a:ea typeface="여기어때 잘난체 고딕 TTF" pitchFamily="2" charset="-127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7173468" y="1975104"/>
            <a:ext cx="1453896" cy="177393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50" dirty="0" err="1">
                <a:solidFill>
                  <a:srgbClr val="1A2B3C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모든</a:t>
            </a:r>
            <a:r>
              <a:rPr lang="en-US" sz="1150" dirty="0">
                <a:solidFill>
                  <a:srgbClr val="1A2B3C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 </a:t>
            </a:r>
            <a:r>
              <a:rPr lang="en-US" sz="1150" dirty="0" err="1">
                <a:solidFill>
                  <a:srgbClr val="1A2B3C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행동</a:t>
            </a:r>
            <a:r>
              <a:rPr lang="en-US" sz="1150" dirty="0">
                <a:solidFill>
                  <a:srgbClr val="1A2B3C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 </a:t>
            </a:r>
            <a:r>
              <a:rPr lang="ko-KR" altLang="en-US" sz="1150" dirty="0">
                <a:solidFill>
                  <a:srgbClr val="1A2B3C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가능</a:t>
            </a:r>
            <a:endParaRPr lang="en-US" altLang="ko-KR" sz="1150" dirty="0">
              <a:solidFill>
                <a:srgbClr val="1A2B3C"/>
              </a:solidFill>
              <a:latin typeface="여기어때 잘난체 고딕 TTF" pitchFamily="2" charset="-127"/>
              <a:ea typeface="여기어때 잘난체 고딕 TTF" pitchFamily="2" charset="-127"/>
              <a:cs typeface="Calibri" pitchFamily="34" charset="-12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sz="1150" dirty="0">
                <a:latin typeface="여기어때 잘난체 고딕 TTF" pitchFamily="2" charset="-127"/>
                <a:ea typeface="여기어때 잘난체 고딕 TTF" pitchFamily="2" charset="-127"/>
              </a:rPr>
              <a:t>엔딩 결정</a:t>
            </a:r>
            <a:endParaRPr lang="en-US" sz="1150" dirty="0">
              <a:latin typeface="여기어때 잘난체 고딕 TTF" pitchFamily="2" charset="-127"/>
              <a:ea typeface="여기어때 잘난체 고딕 TTF" pitchFamily="2" charset="-127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443484" y="3977640"/>
            <a:ext cx="3899916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607D8B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562356" y="4061895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B3C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⏱  주차별 </a:t>
            </a:r>
            <a:r>
              <a:rPr lang="en-US" sz="1200" b="1" dirty="0" err="1">
                <a:solidFill>
                  <a:srgbClr val="1A2B3C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패시브</a:t>
            </a:r>
            <a:r>
              <a:rPr lang="en-US" sz="1200" b="1" dirty="0">
                <a:solidFill>
                  <a:srgbClr val="1A2B3C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 ( </a:t>
            </a:r>
            <a:r>
              <a:rPr lang="en-US" sz="1200" b="1" dirty="0" err="1">
                <a:solidFill>
                  <a:srgbClr val="1A2B3C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매주</a:t>
            </a:r>
            <a:r>
              <a:rPr lang="en-US" sz="1200" b="1" dirty="0">
                <a:solidFill>
                  <a:srgbClr val="1A2B3C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 </a:t>
            </a:r>
            <a:r>
              <a:rPr lang="en-US" sz="1200" b="1" dirty="0" err="1">
                <a:solidFill>
                  <a:srgbClr val="1A2B3C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자동</a:t>
            </a:r>
            <a:r>
              <a:rPr lang="en-US" sz="1200" b="1" dirty="0">
                <a:solidFill>
                  <a:srgbClr val="1A2B3C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 </a:t>
            </a:r>
            <a:r>
              <a:rPr lang="en-US" sz="1200" b="1" dirty="0" err="1">
                <a:solidFill>
                  <a:srgbClr val="1A2B3C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적용</a:t>
            </a:r>
            <a:r>
              <a:rPr lang="en-US" sz="1200" b="1" dirty="0">
                <a:solidFill>
                  <a:srgbClr val="1A2B3C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 )</a:t>
            </a:r>
            <a:endParaRPr lang="en-US" sz="1200" dirty="0">
              <a:latin typeface="여기어때 잘난체 고딕 TTF" pitchFamily="2" charset="-127"/>
              <a:ea typeface="여기어때 잘난체 고딕 TTF" pitchFamily="2" charset="-127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562356" y="4418511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07D8B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포만감 −10  /  청결도 −5  /  스트레스 +5</a:t>
            </a:r>
            <a:endParaRPr lang="en-US" sz="1200" dirty="0">
              <a:latin typeface="여기어때 잘난체 고딕 TTF" pitchFamily="2" charset="-127"/>
              <a:ea typeface="여기어때 잘난체 고딕 TTF" pitchFamily="2" charset="-127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4800600" y="3977640"/>
            <a:ext cx="3899916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3FBFA6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4919472" y="4061895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B3C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🎯  행동 시스템</a:t>
            </a:r>
            <a:endParaRPr lang="en-US" sz="1200" dirty="0">
              <a:latin typeface="여기어때 잘난체 고딕 TTF" pitchFamily="2" charset="-127"/>
              <a:ea typeface="여기어때 잘난체 고딕 TTF" pitchFamily="2" charset="-127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4919472" y="4418511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07D8B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주당 5회  →  메인 행동  →  서브 행동 (2단계 선택)</a:t>
            </a:r>
            <a:endParaRPr lang="en-US" sz="1200" dirty="0">
              <a:latin typeface="여기어때 잘난체 고딕 TTF" pitchFamily="2" charset="-127"/>
              <a:ea typeface="여기어때 잘난체 고딕 TTF" pitchFamily="2" charset="-127"/>
            </a:endParaRPr>
          </a:p>
        </p:txBody>
      </p:sp>
      <p:sp>
        <p:nvSpPr>
          <p:cNvPr id="37" name="Shape 0">
            <a:extLst>
              <a:ext uri="{FF2B5EF4-FFF2-40B4-BE49-F238E27FC236}">
                <a16:creationId xmlns:a16="http://schemas.microsoft.com/office/drawing/2014/main" id="{93D56C59-4617-C20F-D375-930E7D332789}"/>
              </a:ext>
            </a:extLst>
          </p:cNvPr>
          <p:cNvSpPr/>
          <p:nvPr/>
        </p:nvSpPr>
        <p:spPr>
          <a:xfrm>
            <a:off x="0" y="0"/>
            <a:ext cx="292608" cy="5143500"/>
          </a:xfrm>
          <a:prstGeom prst="rect">
            <a:avLst/>
          </a:prstGeom>
          <a:solidFill>
            <a:srgbClr val="3FBFA6">
              <a:alpha val="50000"/>
            </a:srgbClr>
          </a:solidFill>
          <a:ln w="12700">
            <a:noFill/>
            <a:prstDash val="solid"/>
          </a:ln>
        </p:spPr>
      </p:sp>
      <p:sp>
        <p:nvSpPr>
          <p:cNvPr id="38" name="Shape 0">
            <a:extLst>
              <a:ext uri="{FF2B5EF4-FFF2-40B4-BE49-F238E27FC236}">
                <a16:creationId xmlns:a16="http://schemas.microsoft.com/office/drawing/2014/main" id="{32936892-FD4B-0B7D-2647-869FCCE06D0D}"/>
              </a:ext>
            </a:extLst>
          </p:cNvPr>
          <p:cNvSpPr/>
          <p:nvPr/>
        </p:nvSpPr>
        <p:spPr>
          <a:xfrm>
            <a:off x="8851392" y="-3048"/>
            <a:ext cx="292608" cy="5143500"/>
          </a:xfrm>
          <a:prstGeom prst="rect">
            <a:avLst/>
          </a:prstGeom>
          <a:solidFill>
            <a:srgbClr val="3FBFA6">
              <a:alpha val="50000"/>
            </a:srgbClr>
          </a:solidFill>
          <a:ln w="12700">
            <a:noFill/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8321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300" dirty="0">
                <a:solidFill>
                  <a:srgbClr val="1A2B3C"/>
                </a:solidFill>
                <a:latin typeface="SB 어그로 Bold" panose="02020603020101020101" pitchFamily="18" charset="-127"/>
                <a:ea typeface="SB 어그로 Bold" panose="02020603020101020101" pitchFamily="18" charset="-127"/>
                <a:cs typeface="Arial Black" pitchFamily="34" charset="-120"/>
              </a:rPr>
              <a:t>핵심 기능 구현</a:t>
            </a:r>
            <a:endParaRPr lang="en-US" sz="3300" dirty="0">
              <a:latin typeface="SB 어그로 Bold" panose="02020603020101020101" pitchFamily="18" charset="-127"/>
              <a:ea typeface="SB 어그로 Bold" panose="02020603020101020101" pitchFamily="18" charset="-127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11480" y="914400"/>
            <a:ext cx="8321040" cy="36576"/>
          </a:xfrm>
          <a:prstGeom prst="rect">
            <a:avLst/>
          </a:prstGeom>
          <a:solidFill>
            <a:srgbClr val="3FBFA6"/>
          </a:solidFill>
          <a:ln w="12700">
            <a:solidFill>
              <a:srgbClr val="3FBFA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11480" y="1473708"/>
            <a:ext cx="3959352" cy="1295400"/>
          </a:xfrm>
          <a:prstGeom prst="rect">
            <a:avLst/>
          </a:prstGeom>
          <a:solidFill>
            <a:srgbClr val="FFFFFF"/>
          </a:solidFill>
          <a:ln w="12700">
            <a:solidFill>
              <a:srgbClr val="3FBFA6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11480" y="1473708"/>
            <a:ext cx="3959352" cy="429768"/>
          </a:xfrm>
          <a:prstGeom prst="rect">
            <a:avLst/>
          </a:prstGeom>
          <a:solidFill>
            <a:srgbClr val="3FBFA6"/>
          </a:solidFill>
          <a:ln w="12700">
            <a:solidFill>
              <a:srgbClr val="3FBFA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1473708"/>
            <a:ext cx="3886200" cy="42976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🎒  아이템 &amp; 인벤토리</a:t>
            </a:r>
            <a:endParaRPr lang="en-US" sz="1400" dirty="0">
              <a:latin typeface="여기어때 잘난체 고딕 TTF" pitchFamily="2" charset="-127"/>
              <a:ea typeface="여기어때 잘난체 고딕 TTF" pitchFamily="2" charset="-127"/>
            </a:endParaRPr>
          </a:p>
        </p:txBody>
      </p:sp>
      <p:sp>
        <p:nvSpPr>
          <p:cNvPr id="7" name="Text 5"/>
          <p:cNvSpPr/>
          <p:nvPr/>
        </p:nvSpPr>
        <p:spPr>
          <a:xfrm>
            <a:off x="429768" y="1949196"/>
            <a:ext cx="3941064" cy="11430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285750" indent="-285750" algn="l">
              <a:buSzPct val="100000"/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1A2B3C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Calibri" pitchFamily="34" charset="-120"/>
              </a:rPr>
              <a:t>훈련 행동 시 40% 확률 아이템 획득</a:t>
            </a:r>
            <a:endParaRPr lang="en-US" sz="1400" dirty="0">
              <a:latin typeface="배달의민족 주아" panose="02020603020101020101" pitchFamily="18" charset="-127"/>
              <a:ea typeface="배달의민족 주아" panose="02020603020101020101" pitchFamily="18" charset="-127"/>
            </a:endParaRPr>
          </a:p>
          <a:p>
            <a:pPr marL="285750" indent="-285750" algn="l">
              <a:buSzPct val="100000"/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1A2B3C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Calibri" pitchFamily="34" charset="-120"/>
              </a:rPr>
              <a:t>견과류 / 해바라기씨 / 고급 모이</a:t>
            </a:r>
            <a:endParaRPr lang="en-US" sz="1400" dirty="0">
              <a:latin typeface="배달의민족 주아" panose="02020603020101020101" pitchFamily="18" charset="-127"/>
              <a:ea typeface="배달의민족 주아" panose="02020603020101020101" pitchFamily="18" charset="-127"/>
            </a:endParaRPr>
          </a:p>
          <a:p>
            <a:pPr marL="285750" indent="-285750" algn="l">
              <a:buSzPct val="100000"/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1A2B3C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Calibri" pitchFamily="34" charset="-120"/>
              </a:rPr>
              <a:t>보유 아이템만 먹이 선택지에 표시</a:t>
            </a:r>
            <a:endParaRPr lang="en-US" sz="1400" dirty="0">
              <a:latin typeface="배달의민족 주아" panose="02020603020101020101" pitchFamily="18" charset="-127"/>
              <a:ea typeface="배달의민족 주아" panose="02020603020101020101" pitchFamily="18" charset="-127"/>
            </a:endParaRPr>
          </a:p>
        </p:txBody>
      </p:sp>
      <p:sp>
        <p:nvSpPr>
          <p:cNvPr id="8" name="Shape 6"/>
          <p:cNvSpPr/>
          <p:nvPr/>
        </p:nvSpPr>
        <p:spPr>
          <a:xfrm>
            <a:off x="4754880" y="1473708"/>
            <a:ext cx="3959352" cy="1295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4A26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54880" y="1473708"/>
            <a:ext cx="3959352" cy="429768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54880" y="1473708"/>
            <a:ext cx="3886200" cy="42976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😤  반항 이벤트</a:t>
            </a:r>
            <a:endParaRPr lang="en-US" sz="1400" dirty="0">
              <a:latin typeface="여기어때 잘난체 고딕 TTF" pitchFamily="2" charset="-127"/>
              <a:ea typeface="여기어때 잘난체 고딕 TTF" pitchFamily="2" charset="-127"/>
            </a:endParaRPr>
          </a:p>
        </p:txBody>
      </p:sp>
      <p:sp>
        <p:nvSpPr>
          <p:cNvPr id="11" name="Text 9"/>
          <p:cNvSpPr/>
          <p:nvPr/>
        </p:nvSpPr>
        <p:spPr>
          <a:xfrm>
            <a:off x="4773168" y="1949196"/>
            <a:ext cx="3941064" cy="11430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285750" indent="-285750" algn="l">
              <a:buSzPct val="100000"/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1A2B3C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Calibri" pitchFamily="34" charset="-120"/>
              </a:rPr>
              <a:t>스트레스 50 이상 시 20% 확률 발동</a:t>
            </a:r>
            <a:endParaRPr lang="en-US" sz="1400" dirty="0">
              <a:latin typeface="배달의민족 주아" panose="02020603020101020101" pitchFamily="18" charset="-127"/>
              <a:ea typeface="배달의민족 주아" panose="02020603020101020101" pitchFamily="18" charset="-127"/>
            </a:endParaRPr>
          </a:p>
          <a:p>
            <a:pPr marL="285750" indent="-285750" algn="l">
              <a:buSzPct val="100000"/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1A2B3C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Calibri" pitchFamily="34" charset="-120"/>
              </a:rPr>
              <a:t>반항 시 스트레스 +10 페널티</a:t>
            </a:r>
            <a:endParaRPr lang="en-US" sz="1400" dirty="0">
              <a:latin typeface="배달의민족 주아" panose="02020603020101020101" pitchFamily="18" charset="-127"/>
              <a:ea typeface="배달의민족 주아" panose="02020603020101020101" pitchFamily="18" charset="-127"/>
            </a:endParaRPr>
          </a:p>
          <a:p>
            <a:pPr marL="285750" indent="-285750" algn="l">
              <a:buSzPct val="100000"/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1A2B3C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Calibri" pitchFamily="34" charset="-120"/>
              </a:rPr>
              <a:t>유아기(2주차) 이상부터 적용</a:t>
            </a:r>
            <a:endParaRPr lang="en-US" sz="1400" dirty="0">
              <a:latin typeface="배달의민족 주아" panose="02020603020101020101" pitchFamily="18" charset="-127"/>
              <a:ea typeface="배달의민족 주아" panose="02020603020101020101" pitchFamily="18" charset="-127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411480" y="3393948"/>
            <a:ext cx="3959352" cy="1295400"/>
          </a:xfrm>
          <a:prstGeom prst="rect">
            <a:avLst/>
          </a:prstGeom>
          <a:solidFill>
            <a:srgbClr val="FFFFFF"/>
          </a:solidFill>
          <a:ln w="12700">
            <a:solidFill>
              <a:srgbClr val="2471A3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11480" y="3393948"/>
            <a:ext cx="3959352" cy="429768"/>
          </a:xfrm>
          <a:prstGeom prst="rect">
            <a:avLst/>
          </a:prstGeom>
          <a:solidFill>
            <a:srgbClr val="2471A3"/>
          </a:solidFill>
          <a:ln w="12700">
            <a:solidFill>
              <a:srgbClr val="2471A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1480" y="3393948"/>
            <a:ext cx="3886200" cy="42976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🩺  상태 체크 시스템</a:t>
            </a:r>
            <a:endParaRPr lang="en-US" sz="1400" dirty="0">
              <a:latin typeface="여기어때 잘난체 고딕 TTF" pitchFamily="2" charset="-127"/>
              <a:ea typeface="여기어때 잘난체 고딕 TTF" pitchFamily="2" charset="-127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429768" y="3869436"/>
            <a:ext cx="3941064" cy="11430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285750" indent="-285750" algn="l">
              <a:buSzPct val="100000"/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1A2B3C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Calibri" pitchFamily="34" charset="-120"/>
              </a:rPr>
              <a:t>포만감 0 -&gt; 아사 (즉시 사망)</a:t>
            </a:r>
            <a:endParaRPr lang="en-US" sz="1400" dirty="0">
              <a:latin typeface="배달의민족 주아" panose="02020603020101020101" pitchFamily="18" charset="-127"/>
              <a:ea typeface="배달의민족 주아" panose="02020603020101020101" pitchFamily="18" charset="-127"/>
            </a:endParaRPr>
          </a:p>
          <a:p>
            <a:pPr marL="285750" indent="-285750" algn="l">
              <a:buSzPct val="100000"/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1A2B3C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Calibri" pitchFamily="34" charset="-120"/>
              </a:rPr>
              <a:t>청결도 0 -&gt; </a:t>
            </a:r>
            <a:r>
              <a:rPr lang="en-US" sz="1400" dirty="0" err="1">
                <a:solidFill>
                  <a:srgbClr val="1A2B3C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Calibri" pitchFamily="34" charset="-120"/>
              </a:rPr>
              <a:t>병사</a:t>
            </a:r>
            <a:r>
              <a:rPr lang="en-US" sz="1400" dirty="0">
                <a:solidFill>
                  <a:srgbClr val="1A2B3C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Calibri" pitchFamily="34" charset="-120"/>
              </a:rPr>
              <a:t> (즉시 사망)</a:t>
            </a:r>
            <a:endParaRPr lang="en-US" sz="1400" dirty="0">
              <a:latin typeface="배달의민족 주아" panose="02020603020101020101" pitchFamily="18" charset="-127"/>
              <a:ea typeface="배달의민족 주아" panose="02020603020101020101" pitchFamily="18" charset="-127"/>
            </a:endParaRPr>
          </a:p>
          <a:p>
            <a:pPr marL="285750" indent="-285750" algn="l">
              <a:buSzPct val="100000"/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1A2B3C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Calibri" pitchFamily="34" charset="-120"/>
              </a:rPr>
              <a:t>스트레스 90+도주 엔딩 발동</a:t>
            </a:r>
            <a:endParaRPr lang="en-US" sz="1400" dirty="0">
              <a:latin typeface="배달의민족 주아" panose="02020603020101020101" pitchFamily="18" charset="-127"/>
              <a:ea typeface="배달의민족 주아" panose="02020603020101020101" pitchFamily="18" charset="-127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4754880" y="3393948"/>
            <a:ext cx="3959352" cy="1295400"/>
          </a:xfrm>
          <a:prstGeom prst="rect">
            <a:avLst/>
          </a:prstGeom>
          <a:solidFill>
            <a:srgbClr val="FFFFFF"/>
          </a:solidFill>
          <a:ln w="12700">
            <a:solidFill>
              <a:srgbClr val="7D3C98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754880" y="3393948"/>
            <a:ext cx="3959352" cy="429768"/>
          </a:xfrm>
          <a:prstGeom prst="rect">
            <a:avLst/>
          </a:prstGeom>
          <a:solidFill>
            <a:srgbClr val="7D3C98"/>
          </a:solidFill>
          <a:ln w="12700">
            <a:solidFill>
              <a:srgbClr val="7D3C9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54880" y="3393948"/>
            <a:ext cx="3886200" cy="42976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🎨  ASCII 아트 UI</a:t>
            </a:r>
            <a:endParaRPr lang="en-US" sz="1400" dirty="0">
              <a:latin typeface="여기어때 잘난체 고딕 TTF" pitchFamily="2" charset="-127"/>
              <a:ea typeface="여기어때 잘난체 고딕 TTF" pitchFamily="2" charset="-127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4773168" y="3869436"/>
            <a:ext cx="3941064" cy="11430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285750" indent="-285750" algn="l">
              <a:buSzPct val="100000"/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1A2B3C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Calibri" pitchFamily="34" charset="-120"/>
              </a:rPr>
              <a:t>성장 단계별 아트 자동 전환</a:t>
            </a:r>
            <a:endParaRPr lang="en-US" sz="1400" dirty="0">
              <a:latin typeface="배달의민족 주아" panose="02020603020101020101" pitchFamily="18" charset="-127"/>
              <a:ea typeface="배달의민족 주아" panose="02020603020101020101" pitchFamily="18" charset="-127"/>
            </a:endParaRPr>
          </a:p>
          <a:p>
            <a:pPr marL="285750" indent="-285750" algn="l">
              <a:buSzPct val="100000"/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1A2B3C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Calibri" pitchFamily="34" charset="-120"/>
              </a:rPr>
              <a:t>행동별 전용 아트 출력</a:t>
            </a:r>
            <a:endParaRPr lang="en-US" sz="1400" dirty="0">
              <a:latin typeface="배달의민족 주아" panose="02020603020101020101" pitchFamily="18" charset="-127"/>
              <a:ea typeface="배달의민족 주아" panose="02020603020101020101" pitchFamily="18" charset="-127"/>
            </a:endParaRPr>
          </a:p>
          <a:p>
            <a:pPr marL="285750" indent="-285750" algn="l">
              <a:buSzPct val="100000"/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1A2B3C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Calibri" pitchFamily="34" charset="-120"/>
              </a:rPr>
              <a:t>SlowPrint로 스토리 연출 효과</a:t>
            </a:r>
            <a:endParaRPr lang="en-US" sz="1400" dirty="0">
              <a:latin typeface="배달의민족 주아" panose="02020603020101020101" pitchFamily="18" charset="-127"/>
              <a:ea typeface="배달의민족 주아" panose="02020603020101020101" pitchFamily="18" charset="-127"/>
            </a:endParaRPr>
          </a:p>
        </p:txBody>
      </p:sp>
      <p:sp>
        <p:nvSpPr>
          <p:cNvPr id="22" name="Shape 0">
            <a:extLst>
              <a:ext uri="{FF2B5EF4-FFF2-40B4-BE49-F238E27FC236}">
                <a16:creationId xmlns:a16="http://schemas.microsoft.com/office/drawing/2014/main" id="{148E60AA-C2FD-C65F-86DC-C3D61DE6A652}"/>
              </a:ext>
            </a:extLst>
          </p:cNvPr>
          <p:cNvSpPr/>
          <p:nvPr/>
        </p:nvSpPr>
        <p:spPr>
          <a:xfrm>
            <a:off x="0" y="0"/>
            <a:ext cx="292608" cy="5143500"/>
          </a:xfrm>
          <a:prstGeom prst="rect">
            <a:avLst/>
          </a:prstGeom>
          <a:solidFill>
            <a:srgbClr val="3FBFA6">
              <a:alpha val="50000"/>
            </a:srgbClr>
          </a:solidFill>
          <a:ln w="12700">
            <a:noFill/>
            <a:prstDash val="solid"/>
          </a:ln>
        </p:spPr>
      </p:sp>
      <p:sp>
        <p:nvSpPr>
          <p:cNvPr id="23" name="Shape 0">
            <a:extLst>
              <a:ext uri="{FF2B5EF4-FFF2-40B4-BE49-F238E27FC236}">
                <a16:creationId xmlns:a16="http://schemas.microsoft.com/office/drawing/2014/main" id="{0BE77FB6-20C0-1F5D-11DB-33E76D22B5E9}"/>
              </a:ext>
            </a:extLst>
          </p:cNvPr>
          <p:cNvSpPr/>
          <p:nvPr/>
        </p:nvSpPr>
        <p:spPr>
          <a:xfrm>
            <a:off x="8851392" y="-3048"/>
            <a:ext cx="292608" cy="5143500"/>
          </a:xfrm>
          <a:prstGeom prst="rect">
            <a:avLst/>
          </a:prstGeom>
          <a:solidFill>
            <a:srgbClr val="3FBFA6">
              <a:alpha val="50000"/>
            </a:srgbClr>
          </a:solidFill>
          <a:ln w="12700">
            <a:noFill/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8321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300" dirty="0">
                <a:solidFill>
                  <a:srgbClr val="1A2B3C"/>
                </a:solidFill>
                <a:latin typeface="SB 어그로 Bold" panose="02020603020101020101" pitchFamily="18" charset="-127"/>
                <a:ea typeface="SB 어그로 Bold" panose="02020603020101020101" pitchFamily="18" charset="-127"/>
                <a:cs typeface="Arial Black" pitchFamily="34" charset="-120"/>
              </a:rPr>
              <a:t>엔딩 </a:t>
            </a:r>
            <a:r>
              <a:rPr lang="en-US" sz="3300" dirty="0" err="1">
                <a:solidFill>
                  <a:srgbClr val="1A2B3C"/>
                </a:solidFill>
                <a:latin typeface="SB 어그로 Bold" panose="02020603020101020101" pitchFamily="18" charset="-127"/>
                <a:ea typeface="SB 어그로 Bold" panose="02020603020101020101" pitchFamily="18" charset="-127"/>
                <a:cs typeface="Arial Black" pitchFamily="34" charset="-120"/>
              </a:rPr>
              <a:t>시스템</a:t>
            </a:r>
            <a:r>
              <a:rPr lang="en-US" sz="3300" dirty="0">
                <a:solidFill>
                  <a:srgbClr val="1A2B3C"/>
                </a:solidFill>
                <a:latin typeface="SB 어그로 Bold" panose="02020603020101020101" pitchFamily="18" charset="-127"/>
                <a:ea typeface="SB 어그로 Bold" panose="02020603020101020101" pitchFamily="18" charset="-127"/>
                <a:cs typeface="Arial Black" pitchFamily="34" charset="-120"/>
              </a:rPr>
              <a:t>  -  11가지 분기</a:t>
            </a:r>
            <a:endParaRPr lang="en-US" sz="3300" dirty="0">
              <a:latin typeface="SB 어그로 Bold" panose="02020603020101020101" pitchFamily="18" charset="-127"/>
              <a:ea typeface="SB 어그로 Bold" panose="02020603020101020101" pitchFamily="18" charset="-127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11480" y="914400"/>
            <a:ext cx="8321040" cy="36576"/>
          </a:xfrm>
          <a:prstGeom prst="rect">
            <a:avLst/>
          </a:prstGeom>
          <a:solidFill>
            <a:srgbClr val="3FBFA6"/>
          </a:solidFill>
          <a:ln w="12700">
            <a:solidFill>
              <a:srgbClr val="3FBFA6"/>
            </a:solidFill>
            <a:prstDash val="solid"/>
          </a:ln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62578005"/>
              </p:ext>
            </p:extLst>
          </p:nvPr>
        </p:nvGraphicFramePr>
        <p:xfrm>
          <a:off x="320040" y="1078992"/>
          <a:ext cx="8503920" cy="3895344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74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46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0" dirty="0">
                          <a:solidFill>
                            <a:srgbClr val="FFFFFF"/>
                          </a:solidFill>
                          <a:latin typeface="배달의민족 주아" panose="02020603020101020101" pitchFamily="18" charset="-127"/>
                          <a:ea typeface="배달의민족 주아" panose="02020603020101020101" pitchFamily="18" charset="-127"/>
                          <a:cs typeface="Calibri" pitchFamily="34" charset="-120"/>
                        </a:rPr>
                        <a:t>구분</a:t>
                      </a:r>
                      <a:endParaRPr lang="en-US" sz="1400" b="0" dirty="0">
                        <a:latin typeface="배달의민족 주아" panose="02020603020101020101" pitchFamily="18" charset="-127"/>
                        <a:ea typeface="배달의민족 주아" panose="02020603020101020101" pitchFamily="18" charset="-127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B3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0" dirty="0">
                          <a:solidFill>
                            <a:srgbClr val="FFFFFF"/>
                          </a:solidFill>
                          <a:latin typeface="배달의민족 주아" panose="02020603020101020101" pitchFamily="18" charset="-127"/>
                          <a:ea typeface="배달의민족 주아" panose="02020603020101020101" pitchFamily="18" charset="-127"/>
                          <a:cs typeface="Calibri" pitchFamily="34" charset="-120"/>
                        </a:rPr>
                        <a:t>엔딩 이름</a:t>
                      </a:r>
                      <a:endParaRPr lang="en-US" sz="1400" b="0" dirty="0">
                        <a:latin typeface="배달의민족 주아" panose="02020603020101020101" pitchFamily="18" charset="-127"/>
                        <a:ea typeface="배달의민족 주아" panose="02020603020101020101" pitchFamily="18" charset="-127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B3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0" dirty="0">
                          <a:solidFill>
                            <a:srgbClr val="FFFFFF"/>
                          </a:solidFill>
                          <a:latin typeface="배달의민족 주아" panose="02020603020101020101" pitchFamily="18" charset="-127"/>
                          <a:ea typeface="배달의민족 주아" panose="02020603020101020101" pitchFamily="18" charset="-127"/>
                          <a:cs typeface="Calibri" pitchFamily="34" charset="-120"/>
                        </a:rPr>
                        <a:t>발동 조건</a:t>
                      </a:r>
                      <a:endParaRPr lang="en-US" sz="1400" b="0" dirty="0">
                        <a:latin typeface="배달의민족 주아" panose="02020603020101020101" pitchFamily="18" charset="-127"/>
                        <a:ea typeface="배달의민족 주아" panose="02020603020101020101" pitchFamily="18" charset="-127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B3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4612">
                <a:tc rowSpan="4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0" dirty="0" err="1">
                          <a:solidFill>
                            <a:srgbClr val="C0392B"/>
                          </a:solidFill>
                          <a:latin typeface="배달의민족 주아" panose="02020603020101020101" pitchFamily="18" charset="-127"/>
                          <a:ea typeface="배달의민족 주아" panose="02020603020101020101" pitchFamily="18" charset="-127"/>
                          <a:cs typeface="Calibri" pitchFamily="34" charset="-120"/>
                        </a:rPr>
                        <a:t>배드</a:t>
                      </a:r>
                      <a:endParaRPr lang="en-US" sz="1400" b="0" dirty="0">
                        <a:solidFill>
                          <a:srgbClr val="C0392B"/>
                        </a:solidFill>
                        <a:latin typeface="배달의민족 주아" panose="02020603020101020101" pitchFamily="18" charset="-127"/>
                        <a:ea typeface="배달의민족 주아" panose="02020603020101020101" pitchFamily="18" charset="-127"/>
                        <a:cs typeface="Calibri" pitchFamily="34" charset="-12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0" dirty="0">
                          <a:solidFill>
                            <a:srgbClr val="1A2B3C"/>
                          </a:solidFill>
                          <a:latin typeface="배달의민족 주아" panose="02020603020101020101" pitchFamily="18" charset="-127"/>
                          <a:ea typeface="배달의민족 주아" panose="02020603020101020101" pitchFamily="18" charset="-127"/>
                          <a:cs typeface="Calibri" pitchFamily="34" charset="-120"/>
                        </a:rPr>
                        <a:t>아사 엔딩</a:t>
                      </a:r>
                      <a:endParaRPr lang="en-US" sz="1400" b="0" dirty="0">
                        <a:latin typeface="배달의민족 주아" panose="02020603020101020101" pitchFamily="18" charset="-127"/>
                        <a:ea typeface="배달의민족 주아" panose="02020603020101020101" pitchFamily="18" charset="-127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0" dirty="0" err="1">
                          <a:solidFill>
                            <a:srgbClr val="1A2B3C"/>
                          </a:solidFill>
                          <a:latin typeface="배달의민족 주아" panose="02020603020101020101" pitchFamily="18" charset="-127"/>
                          <a:ea typeface="배달의민족 주아" panose="02020603020101020101" pitchFamily="18" charset="-127"/>
                          <a:cs typeface="Calibri" pitchFamily="34" charset="-120"/>
                        </a:rPr>
                        <a:t>포만감</a:t>
                      </a:r>
                      <a:r>
                        <a:rPr lang="en-US" sz="1400" b="0" dirty="0">
                          <a:solidFill>
                            <a:srgbClr val="1A2B3C"/>
                          </a:solidFill>
                          <a:latin typeface="배달의민족 주아" panose="02020603020101020101" pitchFamily="18" charset="-127"/>
                          <a:ea typeface="배달의민족 주아" panose="02020603020101020101" pitchFamily="18" charset="-127"/>
                          <a:cs typeface="Calibri" pitchFamily="34" charset="-120"/>
                        </a:rPr>
                        <a:t> 0</a:t>
                      </a:r>
                      <a:endParaRPr lang="en-US" sz="1400" b="0" dirty="0">
                        <a:latin typeface="배달의민족 주아" panose="02020603020101020101" pitchFamily="18" charset="-127"/>
                        <a:ea typeface="배달의민족 주아" panose="02020603020101020101" pitchFamily="18" charset="-127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4612">
                <a:tc vMerge="1"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0" dirty="0">
                          <a:solidFill>
                            <a:srgbClr val="1A2B3C"/>
                          </a:solidFill>
                          <a:latin typeface="배달의민족 주아" panose="02020603020101020101" pitchFamily="18" charset="-127"/>
                          <a:ea typeface="배달의민족 주아" panose="02020603020101020101" pitchFamily="18" charset="-127"/>
                          <a:cs typeface="Calibri" pitchFamily="34" charset="-120"/>
                        </a:rPr>
                        <a:t>병사 엔딩</a:t>
                      </a:r>
                      <a:endParaRPr lang="en-US" sz="1400" b="0" dirty="0">
                        <a:latin typeface="배달의민족 주아" panose="02020603020101020101" pitchFamily="18" charset="-127"/>
                        <a:ea typeface="배달의민족 주아" panose="02020603020101020101" pitchFamily="18" charset="-127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0" dirty="0" err="1">
                          <a:solidFill>
                            <a:srgbClr val="1A2B3C"/>
                          </a:solidFill>
                          <a:latin typeface="배달의민족 주아" panose="02020603020101020101" pitchFamily="18" charset="-127"/>
                          <a:ea typeface="배달의민족 주아" panose="02020603020101020101" pitchFamily="18" charset="-127"/>
                          <a:cs typeface="Calibri" pitchFamily="34" charset="-120"/>
                        </a:rPr>
                        <a:t>청결도</a:t>
                      </a:r>
                      <a:r>
                        <a:rPr lang="en-US" sz="1400" b="0" dirty="0">
                          <a:solidFill>
                            <a:srgbClr val="1A2B3C"/>
                          </a:solidFill>
                          <a:latin typeface="배달의민족 주아" panose="02020603020101020101" pitchFamily="18" charset="-127"/>
                          <a:ea typeface="배달의민족 주아" panose="02020603020101020101" pitchFamily="18" charset="-127"/>
                          <a:cs typeface="Calibri" pitchFamily="34" charset="-120"/>
                        </a:rPr>
                        <a:t> 0</a:t>
                      </a:r>
                      <a:endParaRPr lang="en-US" sz="1400" b="0" dirty="0">
                        <a:latin typeface="배달의민족 주아" panose="02020603020101020101" pitchFamily="18" charset="-127"/>
                        <a:ea typeface="배달의민족 주아" panose="02020603020101020101" pitchFamily="18" charset="-127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4612">
                <a:tc vMerge="1"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0" dirty="0">
                          <a:solidFill>
                            <a:srgbClr val="1A2B3C"/>
                          </a:solidFill>
                          <a:latin typeface="배달의민족 주아" panose="02020603020101020101" pitchFamily="18" charset="-127"/>
                          <a:ea typeface="배달의민족 주아" panose="02020603020101020101" pitchFamily="18" charset="-127"/>
                          <a:cs typeface="Calibri" pitchFamily="34" charset="-120"/>
                        </a:rPr>
                        <a:t>도주 엔딩</a:t>
                      </a:r>
                      <a:endParaRPr lang="en-US" sz="1400" b="0" dirty="0">
                        <a:latin typeface="배달의민족 주아" panose="02020603020101020101" pitchFamily="18" charset="-127"/>
                        <a:ea typeface="배달의민족 주아" panose="02020603020101020101" pitchFamily="18" charset="-127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0" dirty="0" err="1">
                          <a:solidFill>
                            <a:srgbClr val="1A2B3C"/>
                          </a:solidFill>
                          <a:latin typeface="배달의민족 주아" panose="02020603020101020101" pitchFamily="18" charset="-127"/>
                          <a:ea typeface="배달의민족 주아" panose="02020603020101020101" pitchFamily="18" charset="-127"/>
                          <a:cs typeface="Calibri" pitchFamily="34" charset="-120"/>
                        </a:rPr>
                        <a:t>스트레스</a:t>
                      </a:r>
                      <a:r>
                        <a:rPr lang="en-US" sz="1400" b="0" dirty="0">
                          <a:solidFill>
                            <a:srgbClr val="1A2B3C"/>
                          </a:solidFill>
                          <a:latin typeface="배달의민족 주아" panose="02020603020101020101" pitchFamily="18" charset="-127"/>
                          <a:ea typeface="배달의민족 주아" panose="02020603020101020101" pitchFamily="18" charset="-127"/>
                          <a:cs typeface="Calibri" pitchFamily="34" charset="-120"/>
                        </a:rPr>
                        <a:t> 90</a:t>
                      </a:r>
                      <a:endParaRPr lang="en-US" sz="1400" b="0" dirty="0">
                        <a:latin typeface="배달의민족 주아" panose="02020603020101020101" pitchFamily="18" charset="-127"/>
                        <a:ea typeface="배달의민족 주아" panose="02020603020101020101" pitchFamily="18" charset="-127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4612"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0" dirty="0">
                          <a:solidFill>
                            <a:srgbClr val="1A2B3C"/>
                          </a:solidFill>
                          <a:latin typeface="배달의민족 주아" panose="02020603020101020101" pitchFamily="18" charset="-127"/>
                          <a:ea typeface="배달의민족 주아" panose="02020603020101020101" pitchFamily="18" charset="-127"/>
                          <a:cs typeface="Calibri" pitchFamily="34" charset="-120"/>
                        </a:rPr>
                        <a:t>아쉬운 이별</a:t>
                      </a:r>
                      <a:endParaRPr lang="en-US" sz="1400" b="0" dirty="0">
                        <a:latin typeface="배달의민족 주아" panose="02020603020101020101" pitchFamily="18" charset="-127"/>
                        <a:ea typeface="배달의민족 주아" panose="02020603020101020101" pitchFamily="18" charset="-127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0" dirty="0">
                          <a:solidFill>
                            <a:srgbClr val="1A2B3C"/>
                          </a:solidFill>
                          <a:latin typeface="배달의민족 주아" panose="02020603020101020101" pitchFamily="18" charset="-127"/>
                          <a:ea typeface="배달의민족 주아" panose="02020603020101020101" pitchFamily="18" charset="-127"/>
                          <a:cs typeface="Calibri" pitchFamily="34" charset="-120"/>
                        </a:rPr>
                        <a:t>8주 클리어, </a:t>
                      </a:r>
                      <a:r>
                        <a:rPr lang="en-US" sz="1400" b="0" dirty="0" err="1">
                          <a:solidFill>
                            <a:srgbClr val="1A2B3C"/>
                          </a:solidFill>
                          <a:latin typeface="배달의민족 주아" panose="02020603020101020101" pitchFamily="18" charset="-127"/>
                          <a:ea typeface="배달의민족 주아" panose="02020603020101020101" pitchFamily="18" charset="-127"/>
                          <a:cs typeface="Calibri" pitchFamily="34" charset="-120"/>
                        </a:rPr>
                        <a:t>만족도</a:t>
                      </a:r>
                      <a:r>
                        <a:rPr lang="en-US" sz="1400" b="0" dirty="0">
                          <a:solidFill>
                            <a:srgbClr val="1A2B3C"/>
                          </a:solidFill>
                          <a:latin typeface="배달의민족 주아" panose="02020603020101020101" pitchFamily="18" charset="-127"/>
                          <a:ea typeface="배달의민족 주아" panose="02020603020101020101" pitchFamily="18" charset="-127"/>
                          <a:cs typeface="Calibri" pitchFamily="34" charset="-120"/>
                        </a:rPr>
                        <a:t> 35</a:t>
                      </a:r>
                      <a:endParaRPr lang="en-US" sz="1400" b="0" dirty="0">
                        <a:latin typeface="배달의민족 주아" panose="02020603020101020101" pitchFamily="18" charset="-127"/>
                        <a:ea typeface="배달의민족 주아" panose="02020603020101020101" pitchFamily="18" charset="-127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46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0" dirty="0">
                          <a:solidFill>
                            <a:srgbClr val="607D8B"/>
                          </a:solidFill>
                          <a:latin typeface="배달의민족 주아" panose="02020603020101020101" pitchFamily="18" charset="-127"/>
                          <a:ea typeface="배달의민족 주아" panose="02020603020101020101" pitchFamily="18" charset="-127"/>
                          <a:cs typeface="Calibri" pitchFamily="34" charset="-120"/>
                        </a:rPr>
                        <a:t>노말</a:t>
                      </a:r>
                      <a:endParaRPr lang="en-US" sz="1400" b="0" dirty="0">
                        <a:latin typeface="배달의민족 주아" panose="02020603020101020101" pitchFamily="18" charset="-127"/>
                        <a:ea typeface="배달의민족 주아" panose="02020603020101020101" pitchFamily="18" charset="-127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0" dirty="0">
                          <a:solidFill>
                            <a:srgbClr val="1A2B3C"/>
                          </a:solidFill>
                          <a:latin typeface="배달의민족 주아" panose="02020603020101020101" pitchFamily="18" charset="-127"/>
                          <a:ea typeface="배달의민족 주아" panose="02020603020101020101" pitchFamily="18" charset="-127"/>
                          <a:cs typeface="Calibri" pitchFamily="34" charset="-120"/>
                        </a:rPr>
                        <a:t>아쉬운 이별 (방생)</a:t>
                      </a:r>
                      <a:endParaRPr lang="en-US" sz="1400" b="0" dirty="0">
                        <a:latin typeface="배달의민족 주아" panose="02020603020101020101" pitchFamily="18" charset="-127"/>
                        <a:ea typeface="배달의민족 주아" panose="02020603020101020101" pitchFamily="18" charset="-127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0" dirty="0">
                          <a:solidFill>
                            <a:srgbClr val="1A2B3C"/>
                          </a:solidFill>
                          <a:latin typeface="배달의민족 주아" panose="02020603020101020101" pitchFamily="18" charset="-127"/>
                          <a:ea typeface="배달의민족 주아" panose="02020603020101020101" pitchFamily="18" charset="-127"/>
                          <a:cs typeface="Calibri" pitchFamily="34" charset="-120"/>
                        </a:rPr>
                        <a:t>만족도 36~50</a:t>
                      </a:r>
                      <a:endParaRPr lang="en-US" sz="1400" b="0" dirty="0">
                        <a:latin typeface="배달의민족 주아" panose="02020603020101020101" pitchFamily="18" charset="-127"/>
                        <a:ea typeface="배달의민족 주아" panose="02020603020101020101" pitchFamily="18" charset="-127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4612">
                <a:tc rowSpan="2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0" dirty="0">
                          <a:solidFill>
                            <a:srgbClr val="27AE60"/>
                          </a:solidFill>
                          <a:latin typeface="배달의민족 주아" panose="02020603020101020101" pitchFamily="18" charset="-127"/>
                          <a:ea typeface="배달의민족 주아" panose="02020603020101020101" pitchFamily="18" charset="-127"/>
                          <a:cs typeface="Calibri" pitchFamily="34" charset="-120"/>
                        </a:rPr>
                        <a:t>굿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0" dirty="0">
                          <a:solidFill>
                            <a:srgbClr val="1A2B3C"/>
                          </a:solidFill>
                          <a:latin typeface="배달의민족 주아" panose="02020603020101020101" pitchFamily="18" charset="-127"/>
                          <a:ea typeface="배달의민족 주아" panose="02020603020101020101" pitchFamily="18" charset="-127"/>
                          <a:cs typeface="Calibri" pitchFamily="34" charset="-120"/>
                        </a:rPr>
                        <a:t>예상치 못한 동거 / 방생 성공</a:t>
                      </a:r>
                      <a:endParaRPr lang="en-US" sz="1400" b="0" dirty="0">
                        <a:latin typeface="배달의민족 주아" panose="02020603020101020101" pitchFamily="18" charset="-127"/>
                        <a:ea typeface="배달의민족 주아" panose="02020603020101020101" pitchFamily="18" charset="-127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0" dirty="0">
                          <a:solidFill>
                            <a:srgbClr val="1A2B3C"/>
                          </a:solidFill>
                          <a:latin typeface="배달의민족 주아" panose="02020603020101020101" pitchFamily="18" charset="-127"/>
                          <a:ea typeface="배달의민족 주아" panose="02020603020101020101" pitchFamily="18" charset="-127"/>
                          <a:cs typeface="Calibri" pitchFamily="34" charset="-120"/>
                        </a:rPr>
                        <a:t>만족도 51~75, 50% 랜덤 분기</a:t>
                      </a:r>
                      <a:endParaRPr lang="en-US" sz="1400" b="0" dirty="0">
                        <a:latin typeface="배달의민족 주아" panose="02020603020101020101" pitchFamily="18" charset="-127"/>
                        <a:ea typeface="배달의민족 주아" panose="02020603020101020101" pitchFamily="18" charset="-127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4612"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0" dirty="0">
                          <a:solidFill>
                            <a:srgbClr val="1A2B3C"/>
                          </a:solidFill>
                          <a:latin typeface="배달의민족 주아" panose="02020603020101020101" pitchFamily="18" charset="-127"/>
                          <a:ea typeface="배달의민족 주아" panose="02020603020101020101" pitchFamily="18" charset="-127"/>
                          <a:cs typeface="Calibri" pitchFamily="34" charset="-120"/>
                        </a:rPr>
                        <a:t>앞으로도 잘 부탁해</a:t>
                      </a:r>
                      <a:endParaRPr lang="en-US" sz="1400" b="0" dirty="0">
                        <a:latin typeface="배달의민족 주아" panose="02020603020101020101" pitchFamily="18" charset="-127"/>
                        <a:ea typeface="배달의민족 주아" panose="02020603020101020101" pitchFamily="18" charset="-127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0" dirty="0" err="1">
                          <a:solidFill>
                            <a:srgbClr val="1A2B3C"/>
                          </a:solidFill>
                          <a:latin typeface="배달의민족 주아" panose="02020603020101020101" pitchFamily="18" charset="-127"/>
                          <a:ea typeface="배달의민족 주아" panose="02020603020101020101" pitchFamily="18" charset="-127"/>
                          <a:cs typeface="Calibri" pitchFamily="34" charset="-120"/>
                        </a:rPr>
                        <a:t>만족도</a:t>
                      </a:r>
                      <a:r>
                        <a:rPr lang="en-US" sz="1400" b="0" dirty="0">
                          <a:solidFill>
                            <a:srgbClr val="1A2B3C"/>
                          </a:solidFill>
                          <a:latin typeface="배달의민족 주아" panose="02020603020101020101" pitchFamily="18" charset="-127"/>
                          <a:ea typeface="배달의민족 주아" panose="02020603020101020101" pitchFamily="18" charset="-127"/>
                          <a:cs typeface="Calibri" pitchFamily="34" charset="-120"/>
                        </a:rPr>
                        <a:t> 76</a:t>
                      </a:r>
                      <a:endParaRPr lang="en-US" sz="1400" b="0" dirty="0">
                        <a:latin typeface="배달의민족 주아" panose="02020603020101020101" pitchFamily="18" charset="-127"/>
                        <a:ea typeface="배달의민족 주아" panose="02020603020101020101" pitchFamily="18" charset="-127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4612">
                <a:tc rowSpan="4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0" dirty="0" err="1">
                          <a:solidFill>
                            <a:srgbClr val="7D3C98"/>
                          </a:solidFill>
                          <a:latin typeface="배달의민족 주아" panose="02020603020101020101" pitchFamily="18" charset="-127"/>
                          <a:ea typeface="배달의민족 주아" panose="02020603020101020101" pitchFamily="18" charset="-127"/>
                          <a:cs typeface="Calibri" pitchFamily="34" charset="-120"/>
                        </a:rPr>
                        <a:t>히든</a:t>
                      </a:r>
                      <a:endParaRPr lang="en-US" sz="1400" b="0" dirty="0">
                        <a:solidFill>
                          <a:srgbClr val="7D3C98"/>
                        </a:solidFill>
                        <a:latin typeface="배달의민족 주아" panose="02020603020101020101" pitchFamily="18" charset="-127"/>
                        <a:ea typeface="배달의민족 주아" panose="02020603020101020101" pitchFamily="18" charset="-127"/>
                        <a:cs typeface="Calibri" pitchFamily="34" charset="-12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0" dirty="0">
                          <a:solidFill>
                            <a:srgbClr val="1A2B3C"/>
                          </a:solidFill>
                          <a:latin typeface="배달의민족 주아" panose="02020603020101020101" pitchFamily="18" charset="-127"/>
                          <a:ea typeface="배달의민족 주아" panose="02020603020101020101" pitchFamily="18" charset="-127"/>
                          <a:cs typeface="Calibri" pitchFamily="34" charset="-120"/>
                        </a:rPr>
                        <a:t>화석이 되어버린 알</a:t>
                      </a:r>
                      <a:endParaRPr lang="en-US" sz="1400" b="0" dirty="0">
                        <a:latin typeface="배달의민족 주아" panose="02020603020101020101" pitchFamily="18" charset="-127"/>
                        <a:ea typeface="배달의민족 주아" panose="02020603020101020101" pitchFamily="18" charset="-127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0" dirty="0">
                          <a:solidFill>
                            <a:srgbClr val="1A2B3C"/>
                          </a:solidFill>
                          <a:latin typeface="배달의민족 주아" panose="02020603020101020101" pitchFamily="18" charset="-127"/>
                          <a:ea typeface="배달의민족 주아" panose="02020603020101020101" pitchFamily="18" charset="-127"/>
                          <a:cs typeface="Calibri" pitchFamily="34" charset="-120"/>
                        </a:rPr>
                        <a:t>1주차 행동 5번 모두 방치하기</a:t>
                      </a:r>
                      <a:endParaRPr lang="en-US" sz="1400" b="0" dirty="0">
                        <a:latin typeface="배달의민족 주아" panose="02020603020101020101" pitchFamily="18" charset="-127"/>
                        <a:ea typeface="배달의민족 주아" panose="02020603020101020101" pitchFamily="18" charset="-127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24612">
                <a:tc vMerge="1"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0" dirty="0">
                          <a:solidFill>
                            <a:srgbClr val="1A2B3C"/>
                          </a:solidFill>
                          <a:latin typeface="배달의민족 주아" panose="02020603020101020101" pitchFamily="18" charset="-127"/>
                          <a:ea typeface="배달의민족 주아" panose="02020603020101020101" pitchFamily="18" charset="-127"/>
                          <a:cs typeface="Calibri" pitchFamily="34" charset="-120"/>
                        </a:rPr>
                        <a:t>새이기를 포기한거야?</a:t>
                      </a:r>
                      <a:endParaRPr lang="en-US" sz="1400" b="0" dirty="0">
                        <a:latin typeface="배달의민족 주아" panose="02020603020101020101" pitchFamily="18" charset="-127"/>
                        <a:ea typeface="배달의민족 주아" panose="02020603020101020101" pitchFamily="18" charset="-127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0" dirty="0">
                          <a:solidFill>
                            <a:srgbClr val="1A2B3C"/>
                          </a:solidFill>
                          <a:latin typeface="배달의민족 주아" panose="02020603020101020101" pitchFamily="18" charset="-127"/>
                          <a:ea typeface="배달의민족 주아" panose="02020603020101020101" pitchFamily="18" charset="-127"/>
                          <a:cs typeface="Calibri" pitchFamily="34" charset="-120"/>
                        </a:rPr>
                        <a:t>포만감 100 + </a:t>
                      </a:r>
                      <a:r>
                        <a:rPr lang="en-US" sz="1400" b="0" dirty="0" err="1">
                          <a:solidFill>
                            <a:srgbClr val="1A2B3C"/>
                          </a:solidFill>
                          <a:latin typeface="배달의민족 주아" panose="02020603020101020101" pitchFamily="18" charset="-127"/>
                          <a:ea typeface="배달의민족 주아" panose="02020603020101020101" pitchFamily="18" charset="-127"/>
                          <a:cs typeface="Calibri" pitchFamily="34" charset="-120"/>
                        </a:rPr>
                        <a:t>만족도</a:t>
                      </a:r>
                      <a:r>
                        <a:rPr lang="en-US" sz="1400" b="0" dirty="0">
                          <a:solidFill>
                            <a:srgbClr val="1A2B3C"/>
                          </a:solidFill>
                          <a:latin typeface="배달의민족 주아" panose="02020603020101020101" pitchFamily="18" charset="-127"/>
                          <a:ea typeface="배달의민족 주아" panose="02020603020101020101" pitchFamily="18" charset="-127"/>
                          <a:cs typeface="Calibri" pitchFamily="34" charset="-120"/>
                        </a:rPr>
                        <a:t> 85</a:t>
                      </a:r>
                      <a:endParaRPr lang="en-US" sz="1400" b="0" dirty="0">
                        <a:latin typeface="배달의민족 주아" panose="02020603020101020101" pitchFamily="18" charset="-127"/>
                        <a:ea typeface="배달의민족 주아" panose="02020603020101020101" pitchFamily="18" charset="-127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24612">
                <a:tc vMerge="1"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0" dirty="0">
                          <a:solidFill>
                            <a:srgbClr val="1A2B3C"/>
                          </a:solidFill>
                          <a:latin typeface="배달의민족 주아" panose="02020603020101020101" pitchFamily="18" charset="-127"/>
                          <a:ea typeface="배달의민족 주아" panose="02020603020101020101" pitchFamily="18" charset="-127"/>
                          <a:cs typeface="Calibri" pitchFamily="34" charset="-120"/>
                        </a:rPr>
                        <a:t>너 덕분에 내가 인생 폈다!</a:t>
                      </a:r>
                      <a:endParaRPr lang="en-US" sz="1400" b="0" dirty="0">
                        <a:latin typeface="배달의민족 주아" panose="02020603020101020101" pitchFamily="18" charset="-127"/>
                        <a:ea typeface="배달의민족 주아" panose="02020603020101020101" pitchFamily="18" charset="-127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0" dirty="0">
                          <a:solidFill>
                            <a:srgbClr val="1A2B3C"/>
                          </a:solidFill>
                          <a:latin typeface="배달의민족 주아" panose="02020603020101020101" pitchFamily="18" charset="-127"/>
                          <a:ea typeface="배달의민족 주아" panose="02020603020101020101" pitchFamily="18" charset="-127"/>
                          <a:cs typeface="Calibri" pitchFamily="34" charset="-120"/>
                        </a:rPr>
                        <a:t>훈련도 100 + </a:t>
                      </a:r>
                      <a:r>
                        <a:rPr lang="en-US" sz="1400" b="0" dirty="0" err="1">
                          <a:solidFill>
                            <a:srgbClr val="1A2B3C"/>
                          </a:solidFill>
                          <a:latin typeface="배달의민족 주아" panose="02020603020101020101" pitchFamily="18" charset="-127"/>
                          <a:ea typeface="배달의민족 주아" panose="02020603020101020101" pitchFamily="18" charset="-127"/>
                          <a:cs typeface="Calibri" pitchFamily="34" charset="-120"/>
                        </a:rPr>
                        <a:t>만족도</a:t>
                      </a:r>
                      <a:r>
                        <a:rPr lang="en-US" sz="1400" b="0" dirty="0">
                          <a:solidFill>
                            <a:srgbClr val="1A2B3C"/>
                          </a:solidFill>
                          <a:latin typeface="배달의민족 주아" panose="02020603020101020101" pitchFamily="18" charset="-127"/>
                          <a:ea typeface="배달의민족 주아" panose="02020603020101020101" pitchFamily="18" charset="-127"/>
                          <a:cs typeface="Calibri" pitchFamily="34" charset="-120"/>
                        </a:rPr>
                        <a:t> 85</a:t>
                      </a:r>
                      <a:endParaRPr lang="en-US" sz="1400" b="0" dirty="0">
                        <a:latin typeface="배달의민족 주아" panose="02020603020101020101" pitchFamily="18" charset="-127"/>
                        <a:ea typeface="배달의민족 주아" panose="02020603020101020101" pitchFamily="18" charset="-127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24612"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0" dirty="0">
                          <a:solidFill>
                            <a:srgbClr val="1A2B3C"/>
                          </a:solidFill>
                          <a:latin typeface="배달의민족 주아" panose="02020603020101020101" pitchFamily="18" charset="-127"/>
                          <a:ea typeface="배달의민족 주아" panose="02020603020101020101" pitchFamily="18" charset="-127"/>
                          <a:cs typeface="Calibri" pitchFamily="34" charset="-120"/>
                        </a:rPr>
                        <a:t>조류 잡지 모델이 되었다</a:t>
                      </a:r>
                      <a:endParaRPr lang="en-US" sz="1400" b="0" dirty="0">
                        <a:latin typeface="배달의민족 주아" panose="02020603020101020101" pitchFamily="18" charset="-127"/>
                        <a:ea typeface="배달의민족 주아" panose="02020603020101020101" pitchFamily="18" charset="-127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0" dirty="0">
                          <a:solidFill>
                            <a:srgbClr val="1A2B3C"/>
                          </a:solidFill>
                          <a:latin typeface="배달의민족 주아" panose="02020603020101020101" pitchFamily="18" charset="-127"/>
                          <a:ea typeface="배달의민족 주아" panose="02020603020101020101" pitchFamily="18" charset="-127"/>
                          <a:cs typeface="Calibri" pitchFamily="34" charset="-120"/>
                        </a:rPr>
                        <a:t>청결도 100 + </a:t>
                      </a:r>
                      <a:r>
                        <a:rPr lang="en-US" sz="1400" b="0" dirty="0" err="1">
                          <a:solidFill>
                            <a:srgbClr val="1A2B3C"/>
                          </a:solidFill>
                          <a:latin typeface="배달의민족 주아" panose="02020603020101020101" pitchFamily="18" charset="-127"/>
                          <a:ea typeface="배달의민족 주아" panose="02020603020101020101" pitchFamily="18" charset="-127"/>
                          <a:cs typeface="Calibri" pitchFamily="34" charset="-120"/>
                        </a:rPr>
                        <a:t>만족도</a:t>
                      </a:r>
                      <a:r>
                        <a:rPr lang="en-US" sz="1400" b="0" dirty="0">
                          <a:solidFill>
                            <a:srgbClr val="1A2B3C"/>
                          </a:solidFill>
                          <a:latin typeface="배달의민족 주아" panose="02020603020101020101" pitchFamily="18" charset="-127"/>
                          <a:ea typeface="배달의민족 주아" panose="02020603020101020101" pitchFamily="18" charset="-127"/>
                          <a:cs typeface="Calibri" pitchFamily="34" charset="-120"/>
                        </a:rPr>
                        <a:t> 85</a:t>
                      </a:r>
                      <a:endParaRPr lang="en-US" sz="1400" b="0" dirty="0">
                        <a:latin typeface="배달의민족 주아" panose="02020603020101020101" pitchFamily="18" charset="-127"/>
                        <a:ea typeface="배달의민족 주아" panose="02020603020101020101" pitchFamily="18" charset="-127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6" name="Shape 0">
            <a:extLst>
              <a:ext uri="{FF2B5EF4-FFF2-40B4-BE49-F238E27FC236}">
                <a16:creationId xmlns:a16="http://schemas.microsoft.com/office/drawing/2014/main" id="{C5A60ABA-243C-3D55-C629-9094A783ACB8}"/>
              </a:ext>
            </a:extLst>
          </p:cNvPr>
          <p:cNvSpPr/>
          <p:nvPr/>
        </p:nvSpPr>
        <p:spPr>
          <a:xfrm>
            <a:off x="0" y="0"/>
            <a:ext cx="292608" cy="5143500"/>
          </a:xfrm>
          <a:prstGeom prst="rect">
            <a:avLst/>
          </a:prstGeom>
          <a:solidFill>
            <a:srgbClr val="3FBFA6">
              <a:alpha val="50000"/>
            </a:srgbClr>
          </a:solidFill>
          <a:ln w="12700">
            <a:noFill/>
            <a:prstDash val="solid"/>
          </a:ln>
        </p:spPr>
      </p:sp>
      <p:sp>
        <p:nvSpPr>
          <p:cNvPr id="7" name="Shape 0">
            <a:extLst>
              <a:ext uri="{FF2B5EF4-FFF2-40B4-BE49-F238E27FC236}">
                <a16:creationId xmlns:a16="http://schemas.microsoft.com/office/drawing/2014/main" id="{5BCB7099-A70D-E7BB-F832-CEB3D72499CC}"/>
              </a:ext>
            </a:extLst>
          </p:cNvPr>
          <p:cNvSpPr/>
          <p:nvPr/>
        </p:nvSpPr>
        <p:spPr>
          <a:xfrm>
            <a:off x="8851392" y="-3048"/>
            <a:ext cx="292608" cy="5143500"/>
          </a:xfrm>
          <a:prstGeom prst="rect">
            <a:avLst/>
          </a:prstGeom>
          <a:solidFill>
            <a:srgbClr val="3FBFA6">
              <a:alpha val="50000"/>
            </a:srgbClr>
          </a:solidFill>
          <a:ln w="12700">
            <a:noFill/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8321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300" dirty="0">
                <a:solidFill>
                  <a:srgbClr val="1A2B3C"/>
                </a:solidFill>
                <a:latin typeface="SB 어그로 Bold" panose="02020603020101020101" pitchFamily="18" charset="-127"/>
                <a:ea typeface="SB 어그로 Bold" panose="02020603020101020101" pitchFamily="18" charset="-127"/>
                <a:cs typeface="Arial Black" pitchFamily="34" charset="-120"/>
              </a:rPr>
              <a:t>문제 해결 &amp; </a:t>
            </a:r>
            <a:r>
              <a:rPr lang="en-US" sz="3300" dirty="0" err="1">
                <a:solidFill>
                  <a:srgbClr val="1A2B3C"/>
                </a:solidFill>
                <a:latin typeface="SB 어그로 Bold" panose="02020603020101020101" pitchFamily="18" charset="-127"/>
                <a:ea typeface="SB 어그로 Bold" panose="02020603020101020101" pitchFamily="18" charset="-127"/>
                <a:cs typeface="Arial Black" pitchFamily="34" charset="-120"/>
              </a:rPr>
              <a:t>중간</a:t>
            </a:r>
            <a:r>
              <a:rPr lang="en-US" sz="3300" dirty="0">
                <a:solidFill>
                  <a:srgbClr val="1A2B3C"/>
                </a:solidFill>
                <a:latin typeface="SB 어그로 Bold" panose="02020603020101020101" pitchFamily="18" charset="-127"/>
                <a:ea typeface="SB 어그로 Bold" panose="02020603020101020101" pitchFamily="18" charset="-127"/>
                <a:cs typeface="Arial Black" pitchFamily="34" charset="-120"/>
              </a:rPr>
              <a:t> → </a:t>
            </a:r>
            <a:r>
              <a:rPr lang="en-US" sz="3300" dirty="0" err="1">
                <a:solidFill>
                  <a:srgbClr val="1A2B3C"/>
                </a:solidFill>
                <a:latin typeface="SB 어그로 Bold" panose="02020603020101020101" pitchFamily="18" charset="-127"/>
                <a:ea typeface="SB 어그로 Bold" panose="02020603020101020101" pitchFamily="18" charset="-127"/>
                <a:cs typeface="Arial Black" pitchFamily="34" charset="-120"/>
              </a:rPr>
              <a:t>최종</a:t>
            </a:r>
            <a:r>
              <a:rPr lang="en-US" sz="3300" dirty="0">
                <a:solidFill>
                  <a:srgbClr val="1A2B3C"/>
                </a:solidFill>
                <a:latin typeface="SB 어그로 Bold" panose="02020603020101020101" pitchFamily="18" charset="-127"/>
                <a:ea typeface="SB 어그로 Bold" panose="02020603020101020101" pitchFamily="18" charset="-127"/>
                <a:cs typeface="Arial Black" pitchFamily="34" charset="-120"/>
              </a:rPr>
              <a:t> 변경사항</a:t>
            </a:r>
            <a:endParaRPr lang="en-US" sz="3300" dirty="0">
              <a:latin typeface="SB 어그로 Bold" panose="02020603020101020101" pitchFamily="18" charset="-127"/>
              <a:ea typeface="SB 어그로 Bold" panose="02020603020101020101" pitchFamily="18" charset="-127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11480" y="914400"/>
            <a:ext cx="8321040" cy="36576"/>
          </a:xfrm>
          <a:prstGeom prst="rect">
            <a:avLst/>
          </a:prstGeom>
          <a:solidFill>
            <a:srgbClr val="3FBFA6"/>
          </a:solidFill>
          <a:ln w="12700">
            <a:solidFill>
              <a:srgbClr val="3FBFA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451710" y="1091184"/>
            <a:ext cx="2017776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F4A26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451710" y="1091184"/>
            <a:ext cx="2017776" cy="329184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451710" y="1091184"/>
            <a:ext cx="2468880" cy="329184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Calibri" pitchFamily="34" charset="-120"/>
              </a:rPr>
              <a:t>01</a:t>
            </a:r>
            <a:endParaRPr lang="en-US" sz="1200" dirty="0">
              <a:latin typeface="배달의민족 주아" panose="02020603020101020101" pitchFamily="18" charset="-127"/>
              <a:ea typeface="배달의민족 주아" panose="02020603020101020101" pitchFamily="18" charset="-127"/>
            </a:endParaRPr>
          </a:p>
        </p:txBody>
      </p:sp>
      <p:sp>
        <p:nvSpPr>
          <p:cNvPr id="10" name="Text 8"/>
          <p:cNvSpPr/>
          <p:nvPr/>
        </p:nvSpPr>
        <p:spPr>
          <a:xfrm>
            <a:off x="1543150" y="1438656"/>
            <a:ext cx="2304288" cy="5212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1A2B3C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Calibri" pitchFamily="34" charset="-120"/>
              </a:rPr>
              <a:t>한글 컴파일 오류</a:t>
            </a:r>
            <a:endParaRPr lang="en-US" sz="1050" dirty="0">
              <a:latin typeface="배달의민족 주아" panose="02020603020101020101" pitchFamily="18" charset="-127"/>
              <a:ea typeface="배달의민족 주아" panose="02020603020101020101" pitchFamily="18" charset="-127"/>
            </a:endParaRPr>
          </a:p>
          <a:p>
            <a:pPr marL="0" indent="0" algn="l">
              <a:buNone/>
            </a:pPr>
            <a:r>
              <a:rPr lang="en-US" sz="1050" dirty="0">
                <a:solidFill>
                  <a:srgbClr val="1A2B3C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Calibri" pitchFamily="34" charset="-120"/>
              </a:rPr>
              <a:t>팀원별 Windows 코드페이지 차이로</a:t>
            </a:r>
            <a:endParaRPr lang="en-US" sz="1050" dirty="0">
              <a:latin typeface="배달의민족 주아" panose="02020603020101020101" pitchFamily="18" charset="-127"/>
              <a:ea typeface="배달의민족 주아" panose="02020603020101020101" pitchFamily="18" charset="-127"/>
            </a:endParaRPr>
          </a:p>
          <a:p>
            <a:pPr marL="0" indent="0" algn="l">
              <a:buNone/>
            </a:pPr>
            <a:r>
              <a:rPr lang="en-US" sz="1050" dirty="0">
                <a:solidFill>
                  <a:srgbClr val="1A2B3C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Calibri" pitchFamily="34" charset="-120"/>
              </a:rPr>
              <a:t>한글 문자열 컴파일 불가</a:t>
            </a:r>
            <a:endParaRPr lang="en-US" sz="1050" dirty="0">
              <a:latin typeface="배달의민족 주아" panose="02020603020101020101" pitchFamily="18" charset="-127"/>
              <a:ea typeface="배달의민족 주아" panose="02020603020101020101" pitchFamily="18" charset="-127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5674514" y="1088931"/>
            <a:ext cx="2317143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27AE6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674514" y="1088931"/>
            <a:ext cx="2317143" cy="329184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74514" y="1088931"/>
            <a:ext cx="2317143" cy="329184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Calibri" pitchFamily="34" charset="-120"/>
              </a:rPr>
              <a:t>해결 방법</a:t>
            </a:r>
            <a:endParaRPr lang="en-US" sz="1200" dirty="0">
              <a:latin typeface="배달의민족 주아" panose="02020603020101020101" pitchFamily="18" charset="-127"/>
              <a:ea typeface="배달의민족 주아" panose="02020603020101020101" pitchFamily="18" charset="-127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5686707" y="1436403"/>
            <a:ext cx="2304288" cy="5212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050" dirty="0">
                <a:solidFill>
                  <a:srgbClr val="1A2B3C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Consolas" pitchFamily="34" charset="-120"/>
              </a:rPr>
              <a:t>/utf-8 옵션 적용</a:t>
            </a:r>
            <a:endParaRPr lang="en-US" sz="1050" dirty="0">
              <a:latin typeface="배달의민족 주아" panose="02020603020101020101" pitchFamily="18" charset="-127"/>
              <a:ea typeface="배달의민족 주아" panose="02020603020101020101" pitchFamily="18" charset="-127"/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050" dirty="0">
                <a:solidFill>
                  <a:srgbClr val="1A2B3C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Consolas" pitchFamily="34" charset="-120"/>
              </a:rPr>
              <a:t>#include &lt;windows.h&gt; 추가</a:t>
            </a:r>
            <a:endParaRPr lang="en-US" sz="1050" dirty="0">
              <a:latin typeface="배달의민족 주아" panose="02020603020101020101" pitchFamily="18" charset="-127"/>
              <a:ea typeface="배달의민족 주아" panose="02020603020101020101" pitchFamily="18" charset="-127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1451710" y="2078736"/>
            <a:ext cx="2017776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2471A3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1451710" y="2078736"/>
            <a:ext cx="2017776" cy="329184"/>
          </a:xfrm>
          <a:prstGeom prst="rect">
            <a:avLst/>
          </a:prstGeom>
          <a:solidFill>
            <a:srgbClr val="2471A3"/>
          </a:solidFill>
          <a:ln w="12700">
            <a:solidFill>
              <a:srgbClr val="2471A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451710" y="2078736"/>
            <a:ext cx="2468880" cy="329184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Calibri" pitchFamily="34" charset="-120"/>
              </a:rPr>
              <a:t>02</a:t>
            </a:r>
            <a:endParaRPr lang="en-US" sz="1200" dirty="0">
              <a:latin typeface="배달의민족 주아" panose="02020603020101020101" pitchFamily="18" charset="-127"/>
              <a:ea typeface="배달의민족 주아" panose="02020603020101020101" pitchFamily="18" charset="-127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1543150" y="2426208"/>
            <a:ext cx="2304288" cy="5212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1A2B3C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Calibri" pitchFamily="34" charset="-120"/>
              </a:rPr>
              <a:t>런타임 한글 깨짐</a:t>
            </a:r>
            <a:endParaRPr lang="en-US" sz="1050" dirty="0">
              <a:latin typeface="배달의민족 주아" panose="02020603020101020101" pitchFamily="18" charset="-127"/>
              <a:ea typeface="배달의민족 주아" panose="02020603020101020101" pitchFamily="18" charset="-127"/>
            </a:endParaRPr>
          </a:p>
          <a:p>
            <a:pPr marL="0" indent="0" algn="l">
              <a:buNone/>
            </a:pPr>
            <a:r>
              <a:rPr lang="en-US" sz="1050" dirty="0">
                <a:solidFill>
                  <a:srgbClr val="1A2B3C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Calibri" pitchFamily="34" charset="-120"/>
              </a:rPr>
              <a:t>터미널 </a:t>
            </a:r>
            <a:r>
              <a:rPr lang="en-US" sz="1050" dirty="0" err="1">
                <a:solidFill>
                  <a:srgbClr val="1A2B3C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Calibri" pitchFamily="34" charset="-120"/>
              </a:rPr>
              <a:t>출력</a:t>
            </a:r>
            <a:r>
              <a:rPr lang="en-US" sz="1050" dirty="0">
                <a:solidFill>
                  <a:srgbClr val="1A2B3C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1A2B3C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Calibri" pitchFamily="34" charset="-120"/>
              </a:rPr>
              <a:t>인코딩과</a:t>
            </a:r>
            <a:r>
              <a:rPr lang="en-US" sz="1050" dirty="0">
                <a:latin typeface="배달의민족 주아" panose="02020603020101020101" pitchFamily="18" charset="-127"/>
                <a:ea typeface="배달의민족 주아" panose="02020603020101020101" pitchFamily="18" charset="-127"/>
              </a:rPr>
              <a:t> </a:t>
            </a:r>
            <a:r>
              <a:rPr lang="en-US" sz="1050" dirty="0" err="1">
                <a:solidFill>
                  <a:srgbClr val="1A2B3C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Calibri" pitchFamily="34" charset="-120"/>
              </a:rPr>
              <a:t>소스</a:t>
            </a:r>
            <a:r>
              <a:rPr lang="en-US" sz="1050" dirty="0">
                <a:solidFill>
                  <a:srgbClr val="1A2B3C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1A2B3C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Calibri" pitchFamily="34" charset="-120"/>
              </a:rPr>
              <a:t>인코딩</a:t>
            </a:r>
            <a:endParaRPr lang="en-US" sz="1050" dirty="0">
              <a:solidFill>
                <a:srgbClr val="1A2B3C"/>
              </a:solidFill>
              <a:latin typeface="배달의민족 주아" panose="02020603020101020101" pitchFamily="18" charset="-127"/>
              <a:ea typeface="배달의민족 주아" panose="02020603020101020101" pitchFamily="18" charset="-127"/>
              <a:cs typeface="Calibri" pitchFamily="34" charset="-120"/>
            </a:endParaRPr>
          </a:p>
          <a:p>
            <a:pPr marL="0" indent="0" algn="l">
              <a:buNone/>
            </a:pPr>
            <a:r>
              <a:rPr lang="en-US" sz="1050" dirty="0" err="1">
                <a:solidFill>
                  <a:srgbClr val="1A2B3C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Calibri" pitchFamily="34" charset="-120"/>
              </a:rPr>
              <a:t>불일치</a:t>
            </a:r>
            <a:endParaRPr lang="en-US" sz="1050" dirty="0">
              <a:latin typeface="배달의민족 주아" panose="02020603020101020101" pitchFamily="18" charset="-127"/>
              <a:ea typeface="배달의민족 주아" panose="02020603020101020101" pitchFamily="18" charset="-127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5674514" y="2076483"/>
            <a:ext cx="2317143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27AE6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5674514" y="2076483"/>
            <a:ext cx="2317143" cy="329184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674514" y="2076483"/>
            <a:ext cx="2317143" cy="329184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Calibri" pitchFamily="34" charset="-120"/>
              </a:rPr>
              <a:t>해결 방법</a:t>
            </a:r>
            <a:endParaRPr lang="en-US" sz="1200" dirty="0">
              <a:latin typeface="배달의민족 주아" panose="02020603020101020101" pitchFamily="18" charset="-127"/>
              <a:ea typeface="배달의민족 주아" panose="02020603020101020101" pitchFamily="18" charset="-127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5686707" y="2423955"/>
            <a:ext cx="2304288" cy="5212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050" dirty="0">
                <a:solidFill>
                  <a:srgbClr val="1A2B3C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Consolas" pitchFamily="34" charset="-120"/>
              </a:rPr>
              <a:t>system("chcp 65001") 호출</a:t>
            </a:r>
            <a:endParaRPr lang="en-US" sz="1050" dirty="0">
              <a:latin typeface="배달의민족 주아" panose="02020603020101020101" pitchFamily="18" charset="-127"/>
              <a:ea typeface="배달의민족 주아" panose="02020603020101020101" pitchFamily="18" charset="-127"/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050" dirty="0">
                <a:solidFill>
                  <a:srgbClr val="1A2B3C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Consolas" pitchFamily="34" charset="-120"/>
              </a:rPr>
              <a:t>SetConsoleOutputCP(65001) 설정</a:t>
            </a:r>
            <a:endParaRPr lang="en-US" sz="1050" dirty="0">
              <a:latin typeface="배달의민족 주아" panose="02020603020101020101" pitchFamily="18" charset="-127"/>
              <a:ea typeface="배달의민족 주아" panose="02020603020101020101" pitchFamily="18" charset="-127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1451710" y="3066288"/>
            <a:ext cx="2017776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3FBFA6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1451710" y="3066288"/>
            <a:ext cx="2017776" cy="329184"/>
          </a:xfrm>
          <a:prstGeom prst="rect">
            <a:avLst/>
          </a:prstGeom>
          <a:solidFill>
            <a:srgbClr val="3FBFA6"/>
          </a:solidFill>
          <a:ln w="12700">
            <a:solidFill>
              <a:srgbClr val="3FBFA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451710" y="3066288"/>
            <a:ext cx="2468880" cy="329184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Calibri" pitchFamily="34" charset="-120"/>
              </a:rPr>
              <a:t>03</a:t>
            </a:r>
            <a:endParaRPr lang="en-US" sz="1200" dirty="0">
              <a:latin typeface="배달의민족 주아" panose="02020603020101020101" pitchFamily="18" charset="-127"/>
              <a:ea typeface="배달의민족 주아" panose="02020603020101020101" pitchFamily="18" charset="-127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1543150" y="3413760"/>
            <a:ext cx="2304288" cy="5212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1A2B3C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Calibri" pitchFamily="34" charset="-120"/>
              </a:rPr>
              <a:t>행동 횟수 7회 버그</a:t>
            </a:r>
            <a:endParaRPr lang="en-US" sz="1050" dirty="0">
              <a:latin typeface="배달의민족 주아" panose="02020603020101020101" pitchFamily="18" charset="-127"/>
              <a:ea typeface="배달의민족 주아" panose="02020603020101020101" pitchFamily="18" charset="-127"/>
            </a:endParaRPr>
          </a:p>
          <a:p>
            <a:pPr marL="0" indent="0" algn="l">
              <a:buNone/>
            </a:pPr>
            <a:r>
              <a:rPr lang="en-US" sz="1050" dirty="0">
                <a:solidFill>
                  <a:srgbClr val="1A2B3C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Calibri" pitchFamily="34" charset="-120"/>
              </a:rPr>
              <a:t>daily_count / week_count</a:t>
            </a:r>
            <a:endParaRPr lang="en-US" sz="1050" dirty="0">
              <a:latin typeface="배달의민족 주아" panose="02020603020101020101" pitchFamily="18" charset="-127"/>
              <a:ea typeface="배달의민족 주아" panose="02020603020101020101" pitchFamily="18" charset="-127"/>
            </a:endParaRPr>
          </a:p>
          <a:p>
            <a:pPr marL="0" indent="0" algn="l">
              <a:buNone/>
            </a:pPr>
            <a:r>
              <a:rPr lang="en-US" sz="1050" dirty="0">
                <a:solidFill>
                  <a:srgbClr val="1A2B3C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Calibri" pitchFamily="34" charset="-120"/>
              </a:rPr>
              <a:t>두 변수 혼용으로 오류 발생</a:t>
            </a:r>
            <a:endParaRPr lang="en-US" sz="1050" dirty="0">
              <a:latin typeface="배달의민족 주아" panose="02020603020101020101" pitchFamily="18" charset="-127"/>
              <a:ea typeface="배달의민족 주아" panose="02020603020101020101" pitchFamily="18" charset="-127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5674514" y="3064035"/>
            <a:ext cx="2317143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27AE6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5674514" y="3064035"/>
            <a:ext cx="2317143" cy="329184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674514" y="3064035"/>
            <a:ext cx="2317143" cy="329184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Calibri" pitchFamily="34" charset="-120"/>
              </a:rPr>
              <a:t>해결 방법</a:t>
            </a:r>
            <a:endParaRPr lang="en-US" sz="1200" dirty="0">
              <a:latin typeface="배달의민족 주아" panose="02020603020101020101" pitchFamily="18" charset="-127"/>
              <a:ea typeface="배달의민족 주아" panose="02020603020101020101" pitchFamily="18" charset="-127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5686707" y="3411507"/>
            <a:ext cx="2304288" cy="5212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050" dirty="0">
                <a:solidFill>
                  <a:srgbClr val="1A2B3C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Consolas" pitchFamily="34" charset="-120"/>
              </a:rPr>
              <a:t>week_count 단일 변수로 통합</a:t>
            </a:r>
            <a:endParaRPr lang="en-US" sz="1050" dirty="0">
              <a:latin typeface="배달의민족 주아" panose="02020603020101020101" pitchFamily="18" charset="-127"/>
              <a:ea typeface="배달의민족 주아" panose="02020603020101020101" pitchFamily="18" charset="-127"/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050" dirty="0">
                <a:solidFill>
                  <a:srgbClr val="1A2B3C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Consolas" pitchFamily="34" charset="-120"/>
              </a:rPr>
              <a:t>행동 횟수 5회 정상화</a:t>
            </a:r>
            <a:endParaRPr lang="en-US" sz="1050" dirty="0">
              <a:latin typeface="배달의민족 주아" panose="02020603020101020101" pitchFamily="18" charset="-127"/>
              <a:ea typeface="배달의민족 주아" panose="02020603020101020101" pitchFamily="18" charset="-127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1451710" y="4053840"/>
            <a:ext cx="2017776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C0392B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1451710" y="4053840"/>
            <a:ext cx="2017776" cy="32918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451710" y="4053840"/>
            <a:ext cx="2468880" cy="329184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Calibri" pitchFamily="34" charset="-120"/>
              </a:rPr>
              <a:t>04</a:t>
            </a:r>
            <a:endParaRPr lang="en-US" sz="1200" dirty="0">
              <a:latin typeface="배달의민족 주아" panose="02020603020101020101" pitchFamily="18" charset="-127"/>
              <a:ea typeface="배달의민족 주아" panose="02020603020101020101" pitchFamily="18" charset="-127"/>
            </a:endParaRPr>
          </a:p>
        </p:txBody>
      </p:sp>
      <p:sp>
        <p:nvSpPr>
          <p:cNvPr id="43" name="Text 41"/>
          <p:cNvSpPr/>
          <p:nvPr/>
        </p:nvSpPr>
        <p:spPr>
          <a:xfrm>
            <a:off x="1543150" y="4401312"/>
            <a:ext cx="2304288" cy="5212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1A2B3C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Calibri" pitchFamily="34" charset="-120"/>
              </a:rPr>
              <a:t>엔딩 </a:t>
            </a:r>
            <a:r>
              <a:rPr lang="en-US" sz="1050" dirty="0" err="1">
                <a:solidFill>
                  <a:srgbClr val="1A2B3C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Calibri" pitchFamily="34" charset="-120"/>
              </a:rPr>
              <a:t>밸런스</a:t>
            </a:r>
            <a:r>
              <a:rPr lang="en-US" sz="1050" dirty="0">
                <a:solidFill>
                  <a:srgbClr val="1A2B3C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1A2B3C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Calibri" pitchFamily="34" charset="-120"/>
              </a:rPr>
              <a:t>조정</a:t>
            </a:r>
            <a:endParaRPr lang="en-US" sz="1050" dirty="0">
              <a:solidFill>
                <a:srgbClr val="1A2B3C"/>
              </a:solidFill>
              <a:latin typeface="배달의민족 주아" panose="02020603020101020101" pitchFamily="18" charset="-127"/>
              <a:ea typeface="배달의민족 주아" panose="02020603020101020101" pitchFamily="18" charset="-127"/>
              <a:cs typeface="Calibri" pitchFamily="34" charset="-120"/>
            </a:endParaRPr>
          </a:p>
          <a:p>
            <a:pPr marL="0" indent="0" algn="l">
              <a:buNone/>
            </a:pPr>
            <a:r>
              <a:rPr lang="en-US" sz="1050" dirty="0" err="1">
                <a:solidFill>
                  <a:srgbClr val="1A2B3C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Calibri" pitchFamily="34" charset="-120"/>
              </a:rPr>
              <a:t>히든엔딩</a:t>
            </a:r>
            <a:r>
              <a:rPr lang="en-US" sz="1050" dirty="0">
                <a:solidFill>
                  <a:srgbClr val="1A2B3C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Calibri" pitchFamily="34" charset="-120"/>
              </a:rPr>
              <a:t> 조건 만족도 100+수치 100</a:t>
            </a:r>
            <a:endParaRPr lang="en-US" sz="1050" dirty="0">
              <a:latin typeface="배달의민족 주아" panose="02020603020101020101" pitchFamily="18" charset="-127"/>
              <a:ea typeface="배달의민족 주아" panose="02020603020101020101" pitchFamily="18" charset="-127"/>
            </a:endParaRPr>
          </a:p>
          <a:p>
            <a:pPr marL="0" indent="0" algn="l">
              <a:buNone/>
            </a:pPr>
            <a:r>
              <a:rPr lang="en-US" sz="1050" dirty="0">
                <a:solidFill>
                  <a:srgbClr val="1A2B3C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Calibri" pitchFamily="34" charset="-120"/>
              </a:rPr>
              <a:t>실제 플레이에서 달성 불가능</a:t>
            </a:r>
            <a:endParaRPr lang="en-US" sz="1050" dirty="0">
              <a:latin typeface="배달의민족 주아" panose="02020603020101020101" pitchFamily="18" charset="-127"/>
              <a:ea typeface="배달의민족 주아" panose="02020603020101020101" pitchFamily="18" charset="-127"/>
            </a:endParaRPr>
          </a:p>
        </p:txBody>
      </p:sp>
      <p:sp>
        <p:nvSpPr>
          <p:cNvPr id="45" name="Shape 43"/>
          <p:cNvSpPr/>
          <p:nvPr/>
        </p:nvSpPr>
        <p:spPr>
          <a:xfrm>
            <a:off x="5674514" y="4051587"/>
            <a:ext cx="2317143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27AE6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5674514" y="4051587"/>
            <a:ext cx="2317143" cy="329184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674514" y="4051587"/>
            <a:ext cx="2317143" cy="329184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Calibri" pitchFamily="34" charset="-120"/>
              </a:rPr>
              <a:t>해결 방법</a:t>
            </a:r>
            <a:endParaRPr lang="en-US" sz="1200" dirty="0">
              <a:latin typeface="배달의민족 주아" panose="02020603020101020101" pitchFamily="18" charset="-127"/>
              <a:ea typeface="배달의민족 주아" panose="02020603020101020101" pitchFamily="18" charset="-127"/>
            </a:endParaRPr>
          </a:p>
        </p:txBody>
      </p:sp>
      <p:sp>
        <p:nvSpPr>
          <p:cNvPr id="48" name="Text 46"/>
          <p:cNvSpPr/>
          <p:nvPr/>
        </p:nvSpPr>
        <p:spPr>
          <a:xfrm>
            <a:off x="5686707" y="4399059"/>
            <a:ext cx="2304288" cy="5212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050" dirty="0">
                <a:solidFill>
                  <a:srgbClr val="1A2B3C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Consolas" pitchFamily="34" charset="-120"/>
              </a:rPr>
              <a:t>만족도 100 </a:t>
            </a:r>
            <a:r>
              <a:rPr lang="en-US" sz="1050" dirty="0" err="1">
                <a:solidFill>
                  <a:srgbClr val="1A2B3C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Consolas" pitchFamily="34" charset="-120"/>
              </a:rPr>
              <a:t>만족도</a:t>
            </a:r>
            <a:r>
              <a:rPr lang="en-US" sz="1050" dirty="0">
                <a:solidFill>
                  <a:srgbClr val="1A2B3C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Consolas" pitchFamily="34" charset="-120"/>
              </a:rPr>
              <a:t> 85로 완화</a:t>
            </a:r>
            <a:endParaRPr lang="en-US" sz="1050" dirty="0">
              <a:latin typeface="배달의민족 주아" panose="02020603020101020101" pitchFamily="18" charset="-127"/>
              <a:ea typeface="배달의민족 주아" panose="02020603020101020101" pitchFamily="18" charset="-127"/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050" dirty="0">
                <a:solidFill>
                  <a:srgbClr val="1A2B3C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Consolas" pitchFamily="34" charset="-120"/>
              </a:rPr>
              <a:t>배드엔딩 </a:t>
            </a:r>
            <a:r>
              <a:rPr lang="en-US" sz="1050" dirty="0" err="1">
                <a:solidFill>
                  <a:srgbClr val="1A2B3C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Consolas" pitchFamily="34" charset="-120"/>
              </a:rPr>
              <a:t>만족도</a:t>
            </a:r>
            <a:r>
              <a:rPr lang="en-US" sz="1050" dirty="0">
                <a:solidFill>
                  <a:srgbClr val="1A2B3C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Consolas" pitchFamily="34" charset="-120"/>
              </a:rPr>
              <a:t> 25 -&gt; 35로 상향</a:t>
            </a:r>
            <a:endParaRPr lang="en-US" sz="1050" dirty="0">
              <a:latin typeface="배달의민족 주아" panose="02020603020101020101" pitchFamily="18" charset="-127"/>
              <a:ea typeface="배달의민족 주아" panose="02020603020101020101" pitchFamily="18" charset="-127"/>
            </a:endParaRPr>
          </a:p>
        </p:txBody>
      </p:sp>
      <p:sp>
        <p:nvSpPr>
          <p:cNvPr id="51" name="Shape 0">
            <a:extLst>
              <a:ext uri="{FF2B5EF4-FFF2-40B4-BE49-F238E27FC236}">
                <a16:creationId xmlns:a16="http://schemas.microsoft.com/office/drawing/2014/main" id="{3D949922-7383-FBDA-4A93-59B56BB1A456}"/>
              </a:ext>
            </a:extLst>
          </p:cNvPr>
          <p:cNvSpPr/>
          <p:nvPr/>
        </p:nvSpPr>
        <p:spPr>
          <a:xfrm>
            <a:off x="0" y="0"/>
            <a:ext cx="292608" cy="5143500"/>
          </a:xfrm>
          <a:prstGeom prst="rect">
            <a:avLst/>
          </a:prstGeom>
          <a:solidFill>
            <a:srgbClr val="3FBFA6">
              <a:alpha val="50000"/>
            </a:srgbClr>
          </a:solidFill>
          <a:ln w="12700">
            <a:noFill/>
            <a:prstDash val="solid"/>
          </a:ln>
        </p:spPr>
      </p:sp>
      <p:sp>
        <p:nvSpPr>
          <p:cNvPr id="52" name="Shape 0">
            <a:extLst>
              <a:ext uri="{FF2B5EF4-FFF2-40B4-BE49-F238E27FC236}">
                <a16:creationId xmlns:a16="http://schemas.microsoft.com/office/drawing/2014/main" id="{6752020D-2946-6AC9-A33B-BC6CDE6B5F08}"/>
              </a:ext>
            </a:extLst>
          </p:cNvPr>
          <p:cNvSpPr/>
          <p:nvPr/>
        </p:nvSpPr>
        <p:spPr>
          <a:xfrm>
            <a:off x="8851392" y="-3048"/>
            <a:ext cx="292608" cy="5143500"/>
          </a:xfrm>
          <a:prstGeom prst="rect">
            <a:avLst/>
          </a:prstGeom>
          <a:solidFill>
            <a:srgbClr val="3FBFA6">
              <a:alpha val="50000"/>
            </a:srgbClr>
          </a:solidFill>
          <a:ln w="12700">
            <a:noFill/>
            <a:prstDash val="solid"/>
          </a:ln>
        </p:spPr>
      </p:sp>
      <p:sp>
        <p:nvSpPr>
          <p:cNvPr id="53" name="화살표: 갈매기형 수장 52">
            <a:extLst>
              <a:ext uri="{FF2B5EF4-FFF2-40B4-BE49-F238E27FC236}">
                <a16:creationId xmlns:a16="http://schemas.microsoft.com/office/drawing/2014/main" id="{DABA209F-0B7E-984F-8CD7-5CD6D4BDB95A}"/>
              </a:ext>
            </a:extLst>
          </p:cNvPr>
          <p:cNvSpPr/>
          <p:nvPr/>
        </p:nvSpPr>
        <p:spPr>
          <a:xfrm>
            <a:off x="4354665" y="1328199"/>
            <a:ext cx="425659" cy="425659"/>
          </a:xfrm>
          <a:prstGeom prst="chevron">
            <a:avLst/>
          </a:prstGeom>
          <a:solidFill>
            <a:srgbClr val="3FBFA6"/>
          </a:solidFill>
          <a:ln>
            <a:solidFill>
              <a:srgbClr val="1A2B3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54" name="화살표: 갈매기형 수장 53">
            <a:extLst>
              <a:ext uri="{FF2B5EF4-FFF2-40B4-BE49-F238E27FC236}">
                <a16:creationId xmlns:a16="http://schemas.microsoft.com/office/drawing/2014/main" id="{1002D747-3521-A0E8-B6B0-CCCC42CAD838}"/>
              </a:ext>
            </a:extLst>
          </p:cNvPr>
          <p:cNvSpPr/>
          <p:nvPr/>
        </p:nvSpPr>
        <p:spPr>
          <a:xfrm>
            <a:off x="4354666" y="2313962"/>
            <a:ext cx="425659" cy="425659"/>
          </a:xfrm>
          <a:prstGeom prst="chevron">
            <a:avLst/>
          </a:prstGeom>
          <a:solidFill>
            <a:srgbClr val="3FBFA6"/>
          </a:solidFill>
          <a:ln>
            <a:solidFill>
              <a:srgbClr val="1A2B3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55" name="화살표: 갈매기형 수장 54">
            <a:extLst>
              <a:ext uri="{FF2B5EF4-FFF2-40B4-BE49-F238E27FC236}">
                <a16:creationId xmlns:a16="http://schemas.microsoft.com/office/drawing/2014/main" id="{1864ED9E-E823-1DAC-F84D-4B040288A7CC}"/>
              </a:ext>
            </a:extLst>
          </p:cNvPr>
          <p:cNvSpPr/>
          <p:nvPr/>
        </p:nvSpPr>
        <p:spPr>
          <a:xfrm>
            <a:off x="4354666" y="3226308"/>
            <a:ext cx="425659" cy="425659"/>
          </a:xfrm>
          <a:prstGeom prst="chevron">
            <a:avLst/>
          </a:prstGeom>
          <a:solidFill>
            <a:srgbClr val="3FBFA6"/>
          </a:solidFill>
          <a:ln>
            <a:solidFill>
              <a:srgbClr val="1A2B3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56" name="화살표: 갈매기형 수장 55">
            <a:extLst>
              <a:ext uri="{FF2B5EF4-FFF2-40B4-BE49-F238E27FC236}">
                <a16:creationId xmlns:a16="http://schemas.microsoft.com/office/drawing/2014/main" id="{41534EFE-A35B-5DFE-BB4F-44DBB288FF95}"/>
              </a:ext>
            </a:extLst>
          </p:cNvPr>
          <p:cNvSpPr/>
          <p:nvPr/>
        </p:nvSpPr>
        <p:spPr>
          <a:xfrm>
            <a:off x="4354665" y="4188482"/>
            <a:ext cx="425659" cy="425659"/>
          </a:xfrm>
          <a:prstGeom prst="chevron">
            <a:avLst/>
          </a:prstGeom>
          <a:solidFill>
            <a:srgbClr val="3FBFA6"/>
          </a:solidFill>
          <a:ln>
            <a:solidFill>
              <a:srgbClr val="1A2B3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2B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92608" cy="5143500"/>
          </a:xfrm>
          <a:prstGeom prst="rect">
            <a:avLst/>
          </a:prstGeom>
          <a:solidFill>
            <a:srgbClr val="3FBFA6"/>
          </a:solidFill>
          <a:ln w="12700">
            <a:solidFill>
              <a:srgbClr val="3FBFA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137916" y="2151127"/>
            <a:ext cx="28681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dirty="0">
                <a:solidFill>
                  <a:srgbClr val="FFFFFF"/>
                </a:solidFill>
                <a:latin typeface="SB 어그로 Bold" panose="02020603020101020101" pitchFamily="18" charset="-127"/>
                <a:ea typeface="SB 어그로 Bold" panose="02020603020101020101" pitchFamily="18" charset="-127"/>
                <a:cs typeface="Arial Black" pitchFamily="34" charset="-120"/>
              </a:rPr>
              <a:t>게임</a:t>
            </a:r>
            <a:r>
              <a:rPr lang="en-US" sz="5400" b="1" dirty="0">
                <a:solidFill>
                  <a:srgbClr val="FFFFFF"/>
                </a:solidFill>
                <a:latin typeface="SB 어그로 Bold" panose="02020603020101020101" pitchFamily="18" charset="-127"/>
                <a:ea typeface="SB 어그로 Bold" panose="02020603020101020101" pitchFamily="18" charset="-127"/>
                <a:cs typeface="Arial Black" pitchFamily="34" charset="-120"/>
              </a:rPr>
              <a:t> 시연</a:t>
            </a:r>
            <a:endParaRPr lang="en-US" sz="5400" dirty="0">
              <a:latin typeface="SB 어그로 Bold" panose="02020603020101020101" pitchFamily="18" charset="-127"/>
              <a:ea typeface="SB 어그로 Bold" panose="02020603020101020101" pitchFamily="18" charset="-127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1748409" y="3175254"/>
            <a:ext cx="60468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b="1" dirty="0">
                <a:solidFill>
                  <a:srgbClr val="607D8B"/>
                </a:solidFill>
                <a:latin typeface="CookieRunOTF Regular" panose="020B0600000101010101" pitchFamily="34" charset="-127"/>
                <a:ea typeface="CookieRunOTF Regular" panose="020B0600000101010101" pitchFamily="34" charset="-127"/>
                <a:cs typeface="Calibri" pitchFamily="34" charset="-120"/>
              </a:rPr>
              <a:t>YouTube:  </a:t>
            </a:r>
            <a:r>
              <a:rPr lang="en-US" sz="1600" dirty="0">
                <a:solidFill>
                  <a:srgbClr val="607D8B"/>
                </a:solidFill>
                <a:latin typeface="CookieRunOTF Regular" panose="020B0600000101010101" pitchFamily="34" charset="-127"/>
                <a:ea typeface="CookieRunOTF Regular" panose="020B0600000101010101" pitchFamily="34" charset="-127"/>
                <a:cs typeface="Calibri" pitchFamily="34" charset="-120"/>
              </a:rPr>
              <a:t>https://www.youtube.com/watch?v=R_kRyPf1t8g</a:t>
            </a:r>
            <a:endParaRPr lang="en-US" sz="1600" dirty="0">
              <a:latin typeface="CookieRunOTF Regular" panose="020B0600000101010101" pitchFamily="34" charset="-127"/>
              <a:ea typeface="CookieRunOTF Regular" panose="020B0600000101010101" pitchFamily="34" charset="-127"/>
            </a:endParaRPr>
          </a:p>
        </p:txBody>
      </p:sp>
      <p:sp>
        <p:nvSpPr>
          <p:cNvPr id="22" name="Shape 1">
            <a:extLst>
              <a:ext uri="{FF2B5EF4-FFF2-40B4-BE49-F238E27FC236}">
                <a16:creationId xmlns:a16="http://schemas.microsoft.com/office/drawing/2014/main" id="{08E68725-62BB-F63F-92C2-67CFC6617E41}"/>
              </a:ext>
            </a:extLst>
          </p:cNvPr>
          <p:cNvSpPr/>
          <p:nvPr/>
        </p:nvSpPr>
        <p:spPr>
          <a:xfrm>
            <a:off x="292608" y="2992373"/>
            <a:ext cx="8851392" cy="45719"/>
          </a:xfrm>
          <a:prstGeom prst="rect">
            <a:avLst/>
          </a:prstGeom>
          <a:solidFill>
            <a:srgbClr val="3FBFA6"/>
          </a:solidFill>
          <a:ln w="12700">
            <a:solidFill>
              <a:srgbClr val="3FBFA6"/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2B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92608" cy="5143500"/>
          </a:xfrm>
          <a:prstGeom prst="rect">
            <a:avLst/>
          </a:prstGeom>
          <a:solidFill>
            <a:srgbClr val="3FBFA6"/>
          </a:solidFill>
          <a:ln w="12700">
            <a:solidFill>
              <a:srgbClr val="3FBFA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28600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FFFFFF"/>
                </a:solidFill>
                <a:latin typeface="SB 어그로 Bold" panose="02020603020101020101" pitchFamily="18" charset="-127"/>
                <a:ea typeface="SB 어그로 Bold" panose="02020603020101020101" pitchFamily="18" charset="-127"/>
                <a:cs typeface="Arial Black" pitchFamily="34" charset="-120"/>
              </a:rPr>
              <a:t>프로젝트 성과  &amp;  향후 계획</a:t>
            </a:r>
            <a:endParaRPr lang="en-US" sz="3000" dirty="0">
              <a:latin typeface="SB 어그로 Bold" panose="02020603020101020101" pitchFamily="18" charset="-127"/>
              <a:ea typeface="SB 어그로 Bold" panose="02020603020101020101" pitchFamily="18" charset="-127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1965960" cy="1828800"/>
          </a:xfrm>
          <a:prstGeom prst="rect">
            <a:avLst/>
          </a:prstGeom>
          <a:solidFill>
            <a:srgbClr val="0D1F2D"/>
          </a:solidFill>
          <a:ln w="12700">
            <a:solidFill>
              <a:srgbClr val="3FBFA6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57200" y="1078992"/>
            <a:ext cx="1965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🏗️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3FBFA6"/>
                </a:solidFill>
                <a:latin typeface="SB 어그로 Bold" panose="02020603020101020101" pitchFamily="18" charset="-127"/>
                <a:ea typeface="SB 어그로 Bold" panose="02020603020101020101" pitchFamily="18" charset="-127"/>
                <a:cs typeface="Calibri" pitchFamily="34" charset="-120"/>
              </a:rPr>
              <a:t>객체지향 설계</a:t>
            </a:r>
            <a:endParaRPr lang="en-US" sz="1500" dirty="0">
              <a:latin typeface="SB 어그로 Bold" panose="02020603020101020101" pitchFamily="18" charset="-127"/>
              <a:ea typeface="SB 어그로 Bold" panose="02020603020101020101" pitchFamily="18" charset="-127"/>
            </a:endParaRPr>
          </a:p>
        </p:txBody>
      </p:sp>
      <p:sp>
        <p:nvSpPr>
          <p:cNvPr id="7" name="Text 5"/>
          <p:cNvSpPr/>
          <p:nvPr/>
        </p:nvSpPr>
        <p:spPr>
          <a:xfrm>
            <a:off x="475488" y="2167128"/>
            <a:ext cx="1947672" cy="4960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ookieRunOTF Regular" panose="020B0600000101010101" pitchFamily="34" charset="-127"/>
                <a:ea typeface="CookieRunOTF Regular" panose="020B0600000101010101" pitchFamily="34" charset="-127"/>
                <a:cs typeface="Calibri" pitchFamily="34" charset="-120"/>
              </a:rPr>
              <a:t>5개 클래스 역할 명확 분리</a:t>
            </a:r>
            <a:endParaRPr lang="en-US" sz="1300" dirty="0">
              <a:latin typeface="CookieRunOTF Regular" panose="020B0600000101010101" pitchFamily="34" charset="-127"/>
              <a:ea typeface="CookieRunOTF Regular" panose="020B0600000101010101" pitchFamily="34" charset="-127"/>
            </a:endParaRPr>
          </a:p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ookieRunOTF Regular" panose="020B0600000101010101" pitchFamily="34" charset="-127"/>
                <a:ea typeface="CookieRunOTF Regular" panose="020B0600000101010101" pitchFamily="34" charset="-127"/>
                <a:cs typeface="Calibri" pitchFamily="34" charset="-120"/>
              </a:rPr>
              <a:t>캡슐화·포인터 관리 실습</a:t>
            </a:r>
            <a:endParaRPr lang="en-US" sz="1300" dirty="0">
              <a:latin typeface="CookieRunOTF Regular" panose="020B0600000101010101" pitchFamily="34" charset="-127"/>
              <a:ea typeface="CookieRunOTF Regular" panose="020B0600000101010101" pitchFamily="34" charset="-127"/>
            </a:endParaRPr>
          </a:p>
        </p:txBody>
      </p:sp>
      <p:sp>
        <p:nvSpPr>
          <p:cNvPr id="8" name="Shape 6"/>
          <p:cNvSpPr/>
          <p:nvPr/>
        </p:nvSpPr>
        <p:spPr>
          <a:xfrm>
            <a:off x="2606040" y="1051560"/>
            <a:ext cx="1965960" cy="1828800"/>
          </a:xfrm>
          <a:prstGeom prst="rect">
            <a:avLst/>
          </a:prstGeom>
          <a:solidFill>
            <a:srgbClr val="0D1F2D"/>
          </a:solidFill>
          <a:ln w="12700">
            <a:solidFill>
              <a:srgbClr val="3FBFA6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606040" y="1078992"/>
            <a:ext cx="1965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🎮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2606040" y="169164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3FBFA6"/>
                </a:solidFill>
                <a:latin typeface="SB 어그로 Bold" panose="02020603020101020101" pitchFamily="18" charset="-127"/>
                <a:ea typeface="SB 어그로 Bold" panose="02020603020101020101" pitchFamily="18" charset="-127"/>
                <a:cs typeface="Calibri" pitchFamily="34" charset="-120"/>
              </a:rPr>
              <a:t>게임 로직 완성</a:t>
            </a:r>
            <a:endParaRPr lang="en-US" sz="1500" dirty="0">
              <a:latin typeface="SB 어그로 Bold" panose="02020603020101020101" pitchFamily="18" charset="-127"/>
              <a:ea typeface="SB 어그로 Bold" panose="02020603020101020101" pitchFamily="18" charset="-127"/>
            </a:endParaRPr>
          </a:p>
        </p:txBody>
      </p:sp>
      <p:sp>
        <p:nvSpPr>
          <p:cNvPr id="11" name="Text 9"/>
          <p:cNvSpPr/>
          <p:nvPr/>
        </p:nvSpPr>
        <p:spPr>
          <a:xfrm>
            <a:off x="2624328" y="2167128"/>
            <a:ext cx="1947672" cy="4960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ookieRunOTF Regular" panose="020B0600000101010101" pitchFamily="34" charset="-127"/>
                <a:ea typeface="CookieRunOTF Regular" panose="020B0600000101010101" pitchFamily="34" charset="-127"/>
                <a:cs typeface="Calibri" pitchFamily="34" charset="-120"/>
              </a:rPr>
              <a:t>8주 흐름·성장·엔딩 분기</a:t>
            </a:r>
            <a:endParaRPr lang="en-US" sz="1300" dirty="0">
              <a:latin typeface="CookieRunOTF Regular" panose="020B0600000101010101" pitchFamily="34" charset="-127"/>
              <a:ea typeface="CookieRunOTF Regular" panose="020B0600000101010101" pitchFamily="34" charset="-127"/>
            </a:endParaRPr>
          </a:p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ookieRunOTF Regular" panose="020B0600000101010101" pitchFamily="34" charset="-127"/>
                <a:ea typeface="CookieRunOTF Regular" panose="020B0600000101010101" pitchFamily="34" charset="-127"/>
                <a:cs typeface="Calibri" pitchFamily="34" charset="-120"/>
              </a:rPr>
              <a:t>핵심 기획 100% 구현</a:t>
            </a:r>
            <a:endParaRPr lang="en-US" sz="1300" dirty="0">
              <a:latin typeface="CookieRunOTF Regular" panose="020B0600000101010101" pitchFamily="34" charset="-127"/>
              <a:ea typeface="CookieRunOTF Regular" panose="020B0600000101010101" pitchFamily="34" charset="-127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4754880" y="1051560"/>
            <a:ext cx="1965960" cy="1828800"/>
          </a:xfrm>
          <a:prstGeom prst="rect">
            <a:avLst/>
          </a:prstGeom>
          <a:solidFill>
            <a:srgbClr val="0D1F2D"/>
          </a:solidFill>
          <a:ln w="12700">
            <a:solidFill>
              <a:srgbClr val="3FBFA6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754880" y="1078992"/>
            <a:ext cx="1965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🌐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4754880" y="169164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3FBFA6"/>
                </a:solidFill>
                <a:latin typeface="SB 어그로 Bold" panose="02020603020101020101" pitchFamily="18" charset="-127"/>
                <a:ea typeface="SB 어그로 Bold" panose="02020603020101020101" pitchFamily="18" charset="-127"/>
                <a:cs typeface="Calibri" pitchFamily="34" charset="-120"/>
              </a:rPr>
              <a:t>한글 I/O 해결</a:t>
            </a:r>
            <a:endParaRPr lang="en-US" sz="1500" dirty="0">
              <a:latin typeface="SB 어그로 Bold" panose="02020603020101020101" pitchFamily="18" charset="-127"/>
              <a:ea typeface="SB 어그로 Bold" panose="02020603020101020101" pitchFamily="18" charset="-127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4773168" y="2167128"/>
            <a:ext cx="1947672" cy="4960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ookieRunOTF Regular" panose="020B0600000101010101" pitchFamily="34" charset="-127"/>
                <a:ea typeface="CookieRunOTF Regular" panose="020B0600000101010101" pitchFamily="34" charset="-127"/>
                <a:cs typeface="Calibri" pitchFamily="34" charset="-120"/>
              </a:rPr>
              <a:t>UTF-8 인코딩 설정</a:t>
            </a:r>
            <a:endParaRPr lang="en-US" sz="1300" dirty="0">
              <a:latin typeface="CookieRunOTF Regular" panose="020B0600000101010101" pitchFamily="34" charset="-127"/>
              <a:ea typeface="CookieRunOTF Regular" panose="020B0600000101010101" pitchFamily="34" charset="-127"/>
            </a:endParaRPr>
          </a:p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ookieRunOTF Regular" panose="020B0600000101010101" pitchFamily="34" charset="-127"/>
                <a:ea typeface="CookieRunOTF Regular" panose="020B0600000101010101" pitchFamily="34" charset="-127"/>
                <a:cs typeface="Calibri" pitchFamily="34" charset="-120"/>
              </a:rPr>
              <a:t>Windows 콘솔 안정 동작</a:t>
            </a:r>
            <a:endParaRPr lang="en-US" sz="1300" dirty="0">
              <a:latin typeface="CookieRunOTF Regular" panose="020B0600000101010101" pitchFamily="34" charset="-127"/>
              <a:ea typeface="CookieRunOTF Regular" panose="020B0600000101010101" pitchFamily="34" charset="-127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6903720" y="1051560"/>
            <a:ext cx="1965960" cy="1828800"/>
          </a:xfrm>
          <a:prstGeom prst="rect">
            <a:avLst/>
          </a:prstGeom>
          <a:solidFill>
            <a:srgbClr val="0D1F2D"/>
          </a:solidFill>
          <a:ln w="12700">
            <a:solidFill>
              <a:srgbClr val="3FBFA6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903720" y="1078992"/>
            <a:ext cx="1965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🏆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6903720" y="169164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3FBFA6"/>
                </a:solidFill>
                <a:latin typeface="SB 어그로 Bold" panose="02020603020101020101" pitchFamily="18" charset="-127"/>
                <a:ea typeface="SB 어그로 Bold" panose="02020603020101020101" pitchFamily="18" charset="-127"/>
                <a:cs typeface="Calibri" pitchFamily="34" charset="-120"/>
              </a:rPr>
              <a:t>11가지 엔딩</a:t>
            </a:r>
            <a:endParaRPr lang="en-US" sz="1500" dirty="0">
              <a:latin typeface="SB 어그로 Bold" panose="02020603020101020101" pitchFamily="18" charset="-127"/>
              <a:ea typeface="SB 어그로 Bold" panose="02020603020101020101" pitchFamily="18" charset="-127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6922008" y="2167128"/>
            <a:ext cx="1947672" cy="4960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ookieRunOTF Regular" panose="020B0600000101010101" pitchFamily="34" charset="-127"/>
                <a:ea typeface="CookieRunOTF Regular" panose="020B0600000101010101" pitchFamily="34" charset="-127"/>
                <a:cs typeface="Calibri" pitchFamily="34" charset="-120"/>
              </a:rPr>
              <a:t>아이템·반항 시스템</a:t>
            </a:r>
            <a:endParaRPr lang="en-US" sz="1300" dirty="0">
              <a:latin typeface="CookieRunOTF Regular" panose="020B0600000101010101" pitchFamily="34" charset="-127"/>
              <a:ea typeface="CookieRunOTF Regular" panose="020B0600000101010101" pitchFamily="34" charset="-127"/>
            </a:endParaRPr>
          </a:p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ookieRunOTF Regular" panose="020B0600000101010101" pitchFamily="34" charset="-127"/>
                <a:ea typeface="CookieRunOTF Regular" panose="020B0600000101010101" pitchFamily="34" charset="-127"/>
                <a:cs typeface="Calibri" pitchFamily="34" charset="-120"/>
              </a:rPr>
              <a:t>전용 아스키 아트 완성</a:t>
            </a:r>
            <a:endParaRPr lang="en-US" sz="1300" dirty="0">
              <a:latin typeface="CookieRunOTF Regular" panose="020B0600000101010101" pitchFamily="34" charset="-127"/>
              <a:ea typeface="CookieRunOTF Regular" panose="020B0600000101010101" pitchFamily="34" charset="-127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457200" y="3035808"/>
            <a:ext cx="8385048" cy="347472"/>
          </a:xfrm>
          <a:prstGeom prst="rect">
            <a:avLst/>
          </a:prstGeom>
          <a:solidFill>
            <a:srgbClr val="3FBFA6"/>
          </a:solidFill>
          <a:ln w="12700">
            <a:solidFill>
              <a:srgbClr val="3FBFA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8640" y="3035808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향후</a:t>
            </a:r>
            <a:r>
              <a:rPr lang="en-US" sz="1400" b="1" dirty="0">
                <a:solidFill>
                  <a:srgbClr val="FFFFFF"/>
                </a:solidFill>
                <a:latin typeface="여기어때 잘난체 고딕 TTF" pitchFamily="2" charset="-127"/>
                <a:ea typeface="여기어때 잘난체 고딕 TTF" pitchFamily="2" charset="-127"/>
                <a:cs typeface="Calibri" pitchFamily="34" charset="-120"/>
              </a:rPr>
              <a:t> 개선 방향</a:t>
            </a:r>
            <a:endParaRPr lang="en-US" sz="1400" dirty="0">
              <a:latin typeface="여기어때 잘난체 고딕 TTF" pitchFamily="2" charset="-127"/>
              <a:ea typeface="여기어때 잘난체 고딕 TTF" pitchFamily="2" charset="-127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2202180" y="3685032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dirty="0">
                <a:solidFill>
                  <a:srgbClr val="FFFFFF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Calibri" pitchFamily="34" charset="-120"/>
              </a:rPr>
              <a:t>💾  저장 / 불러오기 (파일 I/O)</a:t>
            </a:r>
            <a:endParaRPr lang="en-US" sz="1450" dirty="0">
              <a:latin typeface="배달의민족 주아" panose="02020603020101020101" pitchFamily="18" charset="-127"/>
              <a:ea typeface="배달의민족 주아" panose="02020603020101020101" pitchFamily="18" charset="-127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2202180" y="4069080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dirty="0">
                <a:solidFill>
                  <a:srgbClr val="FFFFFF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Calibri" pitchFamily="34" charset="-120"/>
              </a:rPr>
              <a:t>🖥️  GUI 라이브러리 도입</a:t>
            </a:r>
            <a:endParaRPr lang="en-US" sz="1450" dirty="0">
              <a:latin typeface="배달의민족 주아" panose="02020603020101020101" pitchFamily="18" charset="-127"/>
              <a:ea typeface="배달의민족 주아" panose="02020603020101020101" pitchFamily="18" charset="-127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2202180" y="4453128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dirty="0">
                <a:solidFill>
                  <a:srgbClr val="FFFFFF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Calibri" pitchFamily="34" charset="-120"/>
              </a:rPr>
              <a:t>🎯  난이도 선택 기능</a:t>
            </a:r>
            <a:endParaRPr lang="en-US" sz="1450" dirty="0">
              <a:latin typeface="배달의민족 주아" panose="02020603020101020101" pitchFamily="18" charset="-127"/>
              <a:ea typeface="배달의민족 주아" panose="02020603020101020101" pitchFamily="18" charset="-127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4800600" y="3875532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dirty="0">
                <a:solidFill>
                  <a:srgbClr val="FFFFFF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Calibri" pitchFamily="34" charset="-120"/>
              </a:rPr>
              <a:t>🔓  엔딩 조건 및 종류 확장</a:t>
            </a:r>
            <a:endParaRPr lang="en-US" sz="1450" dirty="0">
              <a:latin typeface="배달의민족 주아" panose="02020603020101020101" pitchFamily="18" charset="-127"/>
              <a:ea typeface="배달의민족 주아" panose="02020603020101020101" pitchFamily="18" charset="-127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4800600" y="4259580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dirty="0">
                <a:solidFill>
                  <a:srgbClr val="FFFFFF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Calibri" pitchFamily="34" charset="-120"/>
              </a:rPr>
              <a:t>🎨  행동별 아스키 아트 다양화</a:t>
            </a:r>
            <a:endParaRPr lang="en-US" sz="1450" dirty="0">
              <a:latin typeface="배달의민족 주아" panose="02020603020101020101" pitchFamily="18" charset="-127"/>
              <a:ea typeface="배달의민족 주아" panose="02020603020101020101" pitchFamily="18" charset="-127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879377-28FB-AE28-F63F-A65EAD045C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직사각형 22">
            <a:extLst>
              <a:ext uri="{FF2B5EF4-FFF2-40B4-BE49-F238E27FC236}">
                <a16:creationId xmlns:a16="http://schemas.microsoft.com/office/drawing/2014/main" id="{5BFB2AD8-26A2-C502-5717-7FB825EB828A}"/>
              </a:ext>
            </a:extLst>
          </p:cNvPr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A2B3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Shape 0">
            <a:extLst>
              <a:ext uri="{FF2B5EF4-FFF2-40B4-BE49-F238E27FC236}">
                <a16:creationId xmlns:a16="http://schemas.microsoft.com/office/drawing/2014/main" id="{11650FB3-1868-9479-79C7-E9BBCC742C5E}"/>
              </a:ext>
            </a:extLst>
          </p:cNvPr>
          <p:cNvSpPr/>
          <p:nvPr/>
        </p:nvSpPr>
        <p:spPr>
          <a:xfrm>
            <a:off x="0" y="0"/>
            <a:ext cx="292608" cy="5143500"/>
          </a:xfrm>
          <a:prstGeom prst="rect">
            <a:avLst/>
          </a:prstGeom>
          <a:solidFill>
            <a:srgbClr val="3FBFA6"/>
          </a:solidFill>
          <a:ln w="12700">
            <a:solidFill>
              <a:srgbClr val="3FBFA6"/>
            </a:solidFill>
            <a:prstDash val="solid"/>
          </a:ln>
        </p:spPr>
      </p:sp>
      <p:sp>
        <p:nvSpPr>
          <p:cNvPr id="22" name="Shape 1">
            <a:extLst>
              <a:ext uri="{FF2B5EF4-FFF2-40B4-BE49-F238E27FC236}">
                <a16:creationId xmlns:a16="http://schemas.microsoft.com/office/drawing/2014/main" id="{6650916A-32B4-D175-BB61-74965C81ACFC}"/>
              </a:ext>
            </a:extLst>
          </p:cNvPr>
          <p:cNvSpPr/>
          <p:nvPr/>
        </p:nvSpPr>
        <p:spPr>
          <a:xfrm>
            <a:off x="292608" y="2992373"/>
            <a:ext cx="8851392" cy="45719"/>
          </a:xfrm>
          <a:prstGeom prst="rect">
            <a:avLst/>
          </a:prstGeom>
          <a:solidFill>
            <a:srgbClr val="3FBFA6"/>
          </a:solidFill>
          <a:ln w="12700">
            <a:solidFill>
              <a:srgbClr val="3FBFA6"/>
            </a:solidFill>
            <a:prstDash val="solid"/>
          </a:ln>
        </p:spPr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3CD266DA-64BF-43FA-36E2-DDDE8D84FB7D}"/>
              </a:ext>
            </a:extLst>
          </p:cNvPr>
          <p:cNvSpPr/>
          <p:nvPr/>
        </p:nvSpPr>
        <p:spPr>
          <a:xfrm>
            <a:off x="2185606" y="2114550"/>
            <a:ext cx="50653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altLang="ko-KR" sz="5400" b="1" kern="0" spc="300" dirty="0" err="1">
                <a:solidFill>
                  <a:schemeClr val="bg1"/>
                </a:solidFill>
                <a:latin typeface="여기어때 잘난체 고딕 TTF" pitchFamily="2" charset="-127"/>
                <a:ea typeface="여기어때 잘난체 고딕 TTF" pitchFamily="2" charset="-127"/>
                <a:cs typeface="Arial Black" pitchFamily="34" charset="-120"/>
              </a:rPr>
              <a:t>감사합니다</a:t>
            </a:r>
            <a:r>
              <a:rPr lang="en-US" altLang="ko-KR" sz="5400" b="1" kern="0" spc="300" dirty="0">
                <a:solidFill>
                  <a:schemeClr val="bg1"/>
                </a:solidFill>
                <a:latin typeface="배달의민족 주아" panose="02020603020101020101" pitchFamily="18" charset="-127"/>
                <a:ea typeface="배달의민족 주아" panose="02020603020101020101" pitchFamily="18" charset="-127"/>
                <a:cs typeface="Arial Black" pitchFamily="34" charset="-120"/>
              </a:rPr>
              <a:t> 🐦</a:t>
            </a:r>
            <a:endParaRPr lang="en-US" altLang="ko-KR" sz="5400" dirty="0">
              <a:solidFill>
                <a:schemeClr val="bg1"/>
              </a:solidFill>
              <a:latin typeface="배달의민족 주아" panose="02020603020101020101" pitchFamily="18" charset="-127"/>
              <a:ea typeface="배달의민족 주아" panose="02020603020101020101" pitchFamily="18" charset="-127"/>
            </a:endParaRPr>
          </a:p>
        </p:txBody>
      </p:sp>
      <p:sp>
        <p:nvSpPr>
          <p:cNvPr id="5" name="Text 19">
            <a:extLst>
              <a:ext uri="{FF2B5EF4-FFF2-40B4-BE49-F238E27FC236}">
                <a16:creationId xmlns:a16="http://schemas.microsoft.com/office/drawing/2014/main" id="{FAE79F37-D892-0C58-173E-DF50441E6B34}"/>
              </a:ext>
            </a:extLst>
          </p:cNvPr>
          <p:cNvSpPr/>
          <p:nvPr/>
        </p:nvSpPr>
        <p:spPr>
          <a:xfrm>
            <a:off x="4056554" y="3321558"/>
            <a:ext cx="13234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solidFill>
                  <a:srgbClr val="607D8B"/>
                </a:solidFill>
                <a:latin typeface="SB 어그로 Bold" panose="02020603020101020101" pitchFamily="18" charset="-127"/>
                <a:ea typeface="SB 어그로 Bold" panose="02020603020101020101" pitchFamily="18" charset="-127"/>
                <a:cs typeface="Calibri" pitchFamily="34" charset="-120"/>
              </a:rPr>
              <a:t>Q &amp; A</a:t>
            </a:r>
            <a:endParaRPr lang="en-US" sz="3200" dirty="0">
              <a:latin typeface="SB 어그로 Bold" panose="02020603020101020101" pitchFamily="18" charset="-127"/>
              <a:ea typeface="SB 어그로 Bold" panose="0202060302010102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626594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79</TotalTime>
  <Words>777</Words>
  <Application>Microsoft Office PowerPoint</Application>
  <PresentationFormat>화면 슬라이드 쇼(16:9)</PresentationFormat>
  <Paragraphs>205</Paragraphs>
  <Slides>11</Slides>
  <Notes>11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11</vt:i4>
      </vt:variant>
    </vt:vector>
  </HeadingPairs>
  <TitlesOfParts>
    <vt:vector size="20" baseType="lpstr">
      <vt:lpstr>CookieRunOTF Bold</vt:lpstr>
      <vt:lpstr>Arial</vt:lpstr>
      <vt:lpstr>Cafe24 Ssurround Bold</vt:lpstr>
      <vt:lpstr>배달의민족 주아</vt:lpstr>
      <vt:lpstr>Arial Black</vt:lpstr>
      <vt:lpstr>여기어때 잘난체 고딕 TTF</vt:lpstr>
      <vt:lpstr>SB 어그로 Bold</vt:lpstr>
      <vt:lpstr>CookieRunOTF Regular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새 키우기 최종 발표</dc:title>
  <dc:subject>PptxGenJS Presentation</dc:subject>
  <dc:creator>PptxGenJS</dc:creator>
  <cp:lastModifiedBy>리닛 프</cp:lastModifiedBy>
  <cp:revision>6</cp:revision>
  <dcterms:created xsi:type="dcterms:W3CDTF">2026-06-07T15:54:55Z</dcterms:created>
  <dcterms:modified xsi:type="dcterms:W3CDTF">2026-06-10T05:48:20Z</dcterms:modified>
</cp:coreProperties>
</file>